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3"/>
    <p:sldId id="259" r:id="rId4"/>
    <p:sldId id="260" r:id="rId5"/>
    <p:sldId id="261" r:id="rId6"/>
    <p:sldId id="263" r:id="rId7"/>
    <p:sldId id="264" r:id="rId8"/>
    <p:sldId id="262" r:id="rId9"/>
    <p:sldId id="265" r:id="rId10"/>
    <p:sldId id="266" r:id="rId11"/>
    <p:sldId id="267" r:id="rId12"/>
    <p:sldId id="268" r:id="rId13"/>
    <p:sldId id="269" r:id="rId14"/>
    <p:sldId id="270" r:id="rId15"/>
    <p:sldId id="271" r:id="rId16"/>
    <p:sldId id="272" r:id="rId17"/>
    <p:sldId id="273" r:id="rId18"/>
    <p:sldId id="274"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EAC65702-A264-4B42-9865-8460699CC092}" type="datetimeFigureOut">
              <a:rPr lang="en-US" smtClean="0"/>
              <a:t>6/15/2026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577DBE3-C146-3147-B336-698902FA39A8}" type="slidenum">
              <a:rPr lang="en-US" smtClean="0"/>
              <a:t>‹#›</a:t>
            </a:fld>
            <a:endParaRPr lang="en-US"/>
          </a:p>
        </p:txBody>
      </p:sp>
    </p:spTree>
    <p:extLst>
      <p:ext uri="{BB962C8B-B14F-4D97-AF65-F5344CB8AC3E}">
        <p14:creationId xmlns:p14="http://schemas.microsoft.com/office/powerpoint/2010/main" val="3225491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(Varun): Good morning everyone! My name is Varun Kumar M, and on behalf of Team TechNova, it's my honor to present our project — the AI-Powered Docker Natural Language Dashboard. Our team of four has built a system that transforms how developers interact with Docker containers. Instead of memorizing complex commands, you simply ask questions in plain English and the AI handles everything. Today we will walk you through the problem we solved, the technology we built, and why this is relevant in today's AI-driven DevOps world.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(Akash): Let's talk about the problem we identified. Docker is incredibly powerful — it runs 70% of all enterprise applications today. But using Docker is painful for most developers. You need to memorize complex commands. You need to manually check which containers are healthy. When something crashes, finding the cause takes significant expertise. For beginners, the learning curve is enormous. Existing tools are either too complex or too expensive for small teams. We asked: what if you could just say 'show me which containers are unhealthy' and get an instant answer? That's the problem we solved.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(Varun): Here is our solution. The AI-Powered Docker Natural Language Dashboard allows any user — technical or not — to manage Docker containers through plain English. You type a question like 'show me unhealthy containers' or 'restart the auth-api' and our AI processes it, maps it to the correct Docker operation, executes it, and shows you a real-time response on a beautiful dashboard. No more memorizing commands. No more terminal confusion. The AI understands what you want and does it for you. We've built this not just as a demo, but as a fully deployed, production-ready web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(Yogesh): For our non-technical audience, let me explain Docker in simple terms. Imagine you built an application on your laptop, and it works perfectly. But when you try to run it on the server, it breaks because the server has different software versions. Docker solves this by creating a container — a self-contained box that includes your application AND everything it needs to run. Containers are like shipping containers: standardized, portable, and you can put them anywhere. Unlike Virtual Machines that run a full separate operating system, containers share the host OS kernel, making them much faster and lighter. A container starts in seconds, not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(Yogesh): Why Docker specifically? We chose Docker because it is the industry standard. Over 70% of enterprises today use Docker in production. Companies like Netflix run millions of containers daily. Docker gives us portability — our application runs identically on a developer's laptop and a production server. Isolation means if one container crashes, others continue running. Scalability means our dashboard can monitor 1 container or 1000 containers with the same architecture. The Docker ecosystem is massive — 500,000+ ready-made images on Docker Hub. This is why Docker was the only logical choice for our infrastructure.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(Salman): Initially, we considered using Streamlit for the frontend because it's fast to prototype. But Streamlit has fundamental limitations for our use case — it's Python-only which conflicts with our Node.js backend, it has no real WebSocket support for live updates, and it cannot build the complex interactive layouts we needed. React was the clear winner. React's component architecture makes it maintainable. TypeScript eliminates entire categories of bugs. Tailwind CSS let us build a beautiful dark neon UI without writing a single CSS file. And Framer Motion gives us those smooth animations you'd see in premium products. This is a production-grade frontend.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(Varun): Our backend is built with Node.js and Express.js. Why Node.js? Because Docker operations are I/O-bound — waiting for containers to respond. Node.js's event-driven, non-blocking architecture handles this perfectly. Why Express.js over heavier frameworks like NestJS? We don't need the overhead. Express is minimal and fast. Our Docker integration uses the official Dockerode SDK, which is type-safe and maintained by Docker themselves. A key design decision: we have NO database. Many interviewers will ask — why no database? The answer is that Docker Engine itself is the data source. Container states change in real-time, and we query them live through WebSocket connections every 3 seconds. There's nothing to store.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(Varun): Let's look at how our system is architected. It follows a clean 6-layer design. At the top is the User — anyone with a browser. The Frontend built with React, TypeScript, and Tailwind CSS provides the dashboard interface. Below that is our Express.js Backend which handles all API routing and business logic. The AI Engine — powered by Google Gemini or local Ollama — translates natural language queries into Docker commands. The Docker SDK, specifically Dockerode, safely communicates with the Docker Engine. And at the bottom is the actual Docker Engine running your containers. Each layer was deliberately chosen over alternatives, which I'll explain in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(Salman): Let me walk you through exactly what happens when you use our dashboard. Step 1: You type a question in plain English — 'Show me unhealthy containers.' Step 2: Our AI engine detects the intent — it's a health check. Step 3: The backend API receives the request. Step 4: We use the Docker SDK to execute the appropriate Docker commands. Step 5: Live container data is fetched. Step 6: Health statuses are computed. Step 7: WebSocket pushes the update every 3 seconds. Step 8: The React dashboard renders the results in beautiful markdown format. This entire cycle happens in under 2 seconds. It's fast, accurate, and intuitive.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(Yogesh): Our biggest differentiator is the globally deployed demo. Our dashboard is live on the internet right now. Any interviewer can visit the URL, click 'Connect Your Docker', copy a single docker run command, paste it in their terminal, and their own containers appear on the dashboard. This means our project is not just a student prototype — it's a real, usable product. Beyond that, we have 8 core features: AI-powered queries, real-time WebSocket monitoring, container control buttons, health tracking with CPU and memory, a live log viewer, automated error detection, beautiful markdown AI reports, and enterprise-grade token authentication.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(Salman): Markdown integration is one of our most elegant design decisions. When the AI generates a response, it uses Markdown — a simple formatting language with symbols like # for headers, | for tables, and * for bullets. We built a custom formatMarkdown() function in our React frontend that parses this and converts it to beautiful colored HTML. Words like 'Critical' become red badges, 'Healthy' becomes green badges, 'Warning' becomes amber badges. This gives users a rich, visual diagnostic report without any extra work from the AI. The AI just writes text; our parser makes it beautiful. This is much better than raw JSON which would be unreadable for non-technical users.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(Akash): Our target users span a very wide range. Students learning Docker benefit from the visual interface — instead of confusing terminal output, they get a clear dashboard. Developers use it daily to check their app containers without switching to a terminal. DevOps engineers get rapid health overviews for large container fleets. Cloud engineers can connect remote Docker hosts via TCP socket. Startups get enterprise-level monitoring without the enterprise price tag — our tool is completely free and open source. And AI/ML teams can deploy their model-serving containers and monitor them without needing Docker expertise. This wide appeal is a significant business advantage.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(Akash): What makes our solution truly unique? Looking at this comparison table — no other Docker management tool has AI-powered natural language interaction. Portainer is a good tool but requires technical knowledge and has no AI. Rancher is enterprise-grade but extremely complex. Raw CLI requires expert-level Docker knowledge. We are the ONLY solution that lets you type plain English and get instant Docker actions. Our global deployment feature means you can connect ANY device — your laptop, your company server, any cloud VM — with a single copy-paste command. This combination of AI + simplicity + global accessibility is our unique value proposition.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(Varun): Every real project has real problems. Let me share 5 major technical challenges we overcame. First, Docker logs use a binary multiplexed format — we had to write a custom byte stream parser. Second, AI models don't always return clean JSON — we built response cleaning and a fallback rule engine. Third, real-time state sync — we implemented WebSocket push instead of polling. Fourth, Docker connection differs across OS — our smart detection handles Linux socket, Windows named pipe, and TCP remote connections. Fifth, if the AI is down — our system automatically falls back to rule-based processing. These are not textbook solutions — these are production engineering decisions.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(Yogesh): We're not stopping at what we've built. Phase 2 targets Kubernetes integration — scaling from containers to orchestration. We'll build mobile apps for iOS and Android so engineers can monitor from anywhere. Phase 3 adds multi-cloud support and voice commands — imagine just saying 'restart the API container' and it happens. AI auto-healing will automatically restart crashed containers without human intervention. Phase 4 transforms this into an enterprise platform with multi-server datacenter monitoring, smart alert systems, and AI-powered cost optimization. We've completed Phase 1 — and it's already deployed and functional. The roadmap shows this is a long-term, scalable vision.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(Varun): Let's talk about real business impact. Our tool reduces manual DevOps effort by 70% — instead of spending hours checking container statuses, engineers get instant answers. Incident response is 10x faster because the AI immediately identifies problems and suggests fixes. The cost is zero — our solution is completely free and open source. And we guarantee 100% service uptime through our AI fallback engine — even if Gemini is down, our rule engine keeps working. For HR interviewers: this means we built something with real ROI. For technical interviewers: this means we built production-grade reliability into a student project.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 rotate sentences): To conclude — Team TechNova built an AI-powered Docker management system that makes container monitoring accessible to everyone. Varun: We demonstrated that AI and DevOps can be combined to eliminate complexity. Akash: We learned to integrate production-grade LLM APIs with graceful fallback mechanisms. Salman: We built a real-time React dashboard with WebSocket live updates and custom markdown rendering. Yogesh: We deployed to production using Docker, GitHub Actions CI/CD, and Render cloud — the full DevOps pipeline. Together, we proved that a diverse team — agricultural engineering, AI, computer science — can build something greater than any individual specialty. We are ready to bring this mindset to your company. TechNova — Simplifying Docker Management using AI.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together — final): Thank you for your time and attention. We are Team TechNova — four students who built a real, deployed, production-ready AI-Docker management system. We are eager to discuss any technical aspects of our project. We welcome questions on our architecture choices, AI integration decisions, Docker SDK usage, deployment pipeline, or any other aspect. To HR interviewers — we've demonstrated collaboration, technical depth, problem-solving, and the ability to ship working software. To technical interviewers — our codebase is on GitHub, our system is live on the internet, and we can walk through any component in detail. We are ready.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5B6E7C">
              <a:alpha val="20000"/>
            </a:srgbClr>
          </a:solidFill>
          <a:ln w="12700">
            <a:solidFill>
              <a:srgbClr val="5B6E7C">
                <a:alpha val="20000"/>
              </a:srgbClr>
            </a:solidFill>
            <a:prstDash val="solid"/>
          </a:ln>
        </p:spPr>
      </p:sp>
      <p:sp>
        <p:nvSpPr>
          <p:cNvPr id="3" name="Shape 1"/>
          <p:cNvSpPr/>
          <p:nvPr/>
        </p:nvSpPr>
        <p:spPr>
          <a:xfrm>
            <a:off x="-914400" y="2286000"/>
            <a:ext cx="3657600" cy="3657600"/>
          </a:xfrm>
          <a:prstGeom prst="ellipse">
            <a:avLst/>
          </a:prstGeom>
          <a:solidFill>
            <a:srgbClr val="2E6DA4">
              <a:alpha val="15000"/>
            </a:srgbClr>
          </a:solidFill>
          <a:ln w="12700">
            <a:solidFill>
              <a:srgbClr val="2E6DA4">
                <a:alpha val="15000"/>
              </a:srgbClr>
            </a:solidFill>
            <a:prstDash val="solid"/>
          </a:ln>
        </p:spPr>
      </p:sp>
      <p:sp>
        <p:nvSpPr>
          <p:cNvPr id="4" name="Shape 2"/>
          <p:cNvSpPr/>
          <p:nvPr/>
        </p:nvSpPr>
        <p:spPr>
          <a:xfrm>
            <a:off x="457200" y="274320"/>
            <a:ext cx="2194560" cy="347472"/>
          </a:xfrm>
          <a:prstGeom prst="roundRect">
            <a:avLst>
              <a:gd name="adj" fmla="val 26316"/>
            </a:avLst>
          </a:prstGeom>
          <a:solidFill>
            <a:srgbClr val="5B6E7C">
              <a:alpha val="80000"/>
            </a:srgbClr>
          </a:solidFill>
          <a:ln w="12700">
            <a:solidFill>
              <a:srgbClr val="5B6E7C"/>
            </a:solidFill>
            <a:prstDash val="solid"/>
          </a:ln>
        </p:spPr>
      </p:sp>
      <p:sp>
        <p:nvSpPr>
          <p:cNvPr id="5" name="Text 3"/>
          <p:cNvSpPr/>
          <p:nvPr/>
        </p:nvSpPr>
        <p:spPr>
          <a:xfrm>
            <a:off x="457200" y="274320"/>
            <a:ext cx="2194560" cy="347472"/>
          </a:xfrm>
          <a:prstGeom prst="rect">
            <a:avLst/>
          </a:prstGeom>
          <a:noFill/>
          <a:ln/>
        </p:spPr>
        <p:txBody>
          <a:bodyPr wrap="square" lIns="0" tIns="0" rIns="0" bIns="0" rtlCol="0" anchor="ctr"/>
          <a:lstStyle/>
          <a:p>
            <a:pPr marL="0" indent="0" algn="ctr">
              <a:buNone/>
            </a:pPr>
            <a:r>
              <a:rPr lang="en-US" sz="800" b="1" kern="0" spc="200" dirty="0">
                <a:solidFill>
                  <a:srgbClr val="1E3A5F"/>
                </a:solidFill>
              </a:rPr>
              <a:t>TECHNOVA PRESENTS</a:t>
            </a:r>
            <a:endParaRPr lang="en-US" sz="800" dirty="0"/>
          </a:p>
        </p:txBody>
      </p:sp>
      <p:sp>
        <p:nvSpPr>
          <p:cNvPr id="6" name="Text 4"/>
          <p:cNvSpPr/>
          <p:nvPr/>
        </p:nvSpPr>
        <p:spPr>
          <a:xfrm>
            <a:off x="457200" y="777240"/>
            <a:ext cx="8229600" cy="1005840"/>
          </a:xfrm>
          <a:prstGeom prst="rect">
            <a:avLst/>
          </a:prstGeom>
          <a:noFill/>
          <a:ln/>
        </p:spPr>
        <p:txBody>
          <a:bodyPr wrap="square" rtlCol="0" anchor="ctr"/>
          <a:lstStyle/>
          <a:p>
            <a:pPr marL="0" indent="0" algn="l">
              <a:buNone/>
            </a:pPr>
            <a:r>
              <a:rPr lang="en-US" sz="5200" b="1" dirty="0">
                <a:solidFill>
                  <a:srgbClr val="1E3A5F"/>
                </a:solidFill>
                <a:latin typeface="Calibri" pitchFamily="34" charset="0"/>
                <a:ea typeface="Calibri" pitchFamily="34" charset="-122"/>
                <a:cs typeface="Calibri" pitchFamily="34" charset="-120"/>
              </a:rPr>
              <a:t>AI-Powered Docker</a:t>
            </a:r>
            <a:endParaRPr lang="en-US" sz="5200" dirty="0"/>
          </a:p>
        </p:txBody>
      </p:sp>
      <p:sp>
        <p:nvSpPr>
          <p:cNvPr id="7" name="Text 5"/>
          <p:cNvSpPr/>
          <p:nvPr/>
        </p:nvSpPr>
        <p:spPr>
          <a:xfrm>
            <a:off x="457200" y="1691640"/>
            <a:ext cx="8412480" cy="822960"/>
          </a:xfrm>
          <a:prstGeom prst="rect">
            <a:avLst/>
          </a:prstGeom>
          <a:noFill/>
          <a:ln/>
        </p:spPr>
        <p:txBody>
          <a:bodyPr wrap="square" rtlCol="0" anchor="ctr"/>
          <a:lstStyle/>
          <a:p>
            <a:pPr marL="0" indent="0" algn="l">
              <a:buNone/>
            </a:pPr>
            <a:r>
              <a:rPr lang="en-US" sz="3800" b="1" dirty="0">
                <a:solidFill>
                  <a:srgbClr val="2E6DA4"/>
                </a:solidFill>
                <a:latin typeface="Calibri" pitchFamily="34" charset="0"/>
                <a:ea typeface="Calibri" pitchFamily="34" charset="-122"/>
                <a:cs typeface="Calibri" pitchFamily="34" charset="-120"/>
              </a:rPr>
              <a:t>Natural Language Dashboard</a:t>
            </a:r>
            <a:endParaRPr lang="en-US" sz="3800" dirty="0"/>
          </a:p>
        </p:txBody>
      </p:sp>
      <p:sp>
        <p:nvSpPr>
          <p:cNvPr id="8" name="Text 6"/>
          <p:cNvSpPr/>
          <p:nvPr/>
        </p:nvSpPr>
        <p:spPr>
          <a:xfrm>
            <a:off x="457200" y="2651760"/>
            <a:ext cx="6400800" cy="548640"/>
          </a:xfrm>
          <a:prstGeom prst="rect">
            <a:avLst/>
          </a:prstGeom>
          <a:noFill/>
          <a:ln/>
        </p:spPr>
        <p:txBody>
          <a:bodyPr wrap="square" rtlCol="0" anchor="ctr"/>
          <a:lstStyle/>
          <a:p>
            <a:pPr marL="0" indent="0" algn="l">
              <a:buNone/>
            </a:pPr>
            <a:r>
              <a:rPr lang="en-US" sz="1500" dirty="0">
                <a:solidFill>
                  <a:srgbClr val="7B8FA1"/>
                </a:solidFill>
                <a:latin typeface="Calibri" pitchFamily="34" charset="0"/>
                <a:ea typeface="Calibri" pitchFamily="34" charset="-122"/>
                <a:cs typeface="Calibri" pitchFamily="34" charset="-120"/>
              </a:rPr>
              <a:t>Smart Container Monitoring and Management using AI and Docker</a:t>
            </a:r>
            <a:endParaRPr lang="en-US" sz="1500" dirty="0"/>
          </a:p>
        </p:txBody>
      </p:sp>
      <p:sp>
        <p:nvSpPr>
          <p:cNvPr id="9" name="Shape 7"/>
          <p:cNvSpPr/>
          <p:nvPr/>
        </p:nvSpPr>
        <p:spPr>
          <a:xfrm>
            <a:off x="457200" y="3337560"/>
            <a:ext cx="3200400" cy="36576"/>
          </a:xfrm>
          <a:prstGeom prst="rect">
            <a:avLst/>
          </a:prstGeom>
          <a:solidFill>
            <a:srgbClr val="2E6DA4"/>
          </a:solidFill>
          <a:ln w="12700">
            <a:solidFill>
              <a:srgbClr val="2E6DA4"/>
            </a:solidFill>
            <a:prstDash val="solid"/>
          </a:ln>
        </p:spPr>
      </p:sp>
      <p:sp>
        <p:nvSpPr>
          <p:cNvPr id="10" name="Shape 8"/>
          <p:cNvSpPr/>
          <p:nvPr/>
        </p:nvSpPr>
        <p:spPr>
          <a:xfrm>
            <a:off x="457200" y="3566160"/>
            <a:ext cx="1965960" cy="909223"/>
          </a:xfrm>
          <a:prstGeom prst="roundRect">
            <a:avLst>
              <a:gd name="adj" fmla="val 7692"/>
            </a:avLst>
          </a:prstGeom>
          <a:solidFill>
            <a:srgbClr val="EEF2F7"/>
          </a:solidFill>
          <a:ln w="12700">
            <a:solidFill>
              <a:srgbClr val="5B6E7C"/>
            </a:solidFill>
            <a:prstDash val="solid"/>
          </a:ln>
          <a:effectLst>
            <a:outerShdw blurRad="101600" dist="25400" dir="2700000" algn="bl" rotWithShape="0">
              <a:srgbClr val="5B6E7C">
                <a:alpha val="30000"/>
              </a:srgbClr>
            </a:outerShdw>
          </a:effectLst>
        </p:spPr>
      </p:sp>
      <p:sp>
        <p:nvSpPr>
          <p:cNvPr id="11" name="Text 9"/>
          <p:cNvSpPr/>
          <p:nvPr/>
        </p:nvSpPr>
        <p:spPr>
          <a:xfrm>
            <a:off x="457200" y="3639312"/>
            <a:ext cx="1965960" cy="320040"/>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Varun Kumar M</a:t>
            </a:r>
            <a:endParaRPr lang="en-US" sz="1000" dirty="0"/>
          </a:p>
        </p:txBody>
      </p:sp>
      <p:sp>
        <p:nvSpPr>
          <p:cNvPr id="12" name="Text 10"/>
          <p:cNvSpPr/>
          <p:nvPr/>
        </p:nvSpPr>
        <p:spPr>
          <a:xfrm>
            <a:off x="457200" y="3931920"/>
            <a:ext cx="1965960" cy="246888"/>
          </a:xfrm>
          <a:prstGeom prst="rect">
            <a:avLst/>
          </a:prstGeom>
          <a:noFill/>
          <a:ln/>
        </p:spPr>
        <p:txBody>
          <a:bodyPr wrap="square" rtlCol="0" anchor="ctr"/>
          <a:lstStyle/>
          <a:p>
            <a:pPr marL="0" indent="0" algn="ctr">
              <a:buNone/>
            </a:pPr>
            <a:r>
              <a:rPr lang="en-US" sz="800" dirty="0">
                <a:solidFill>
                  <a:srgbClr val="2E6DA4"/>
                </a:solidFill>
                <a:latin typeface="Calibri" pitchFamily="34" charset="0"/>
                <a:ea typeface="Calibri" pitchFamily="34" charset="-122"/>
                <a:cs typeface="Calibri" pitchFamily="34" charset="-120"/>
              </a:rPr>
              <a:t>Agricultural </a:t>
            </a:r>
            <a:r>
              <a:rPr lang="en-IN" sz="800" dirty="0">
                <a:solidFill>
                  <a:srgbClr val="2E6DA4"/>
                </a:solidFill>
                <a:latin typeface="Calibri" pitchFamily="34" charset="0"/>
                <a:ea typeface="Calibri" pitchFamily="34" charset="-122"/>
                <a:cs typeface="Calibri" pitchFamily="34" charset="-120"/>
              </a:rPr>
              <a:t>Engineering </a:t>
            </a:r>
            <a:endParaRPr lang="en-US" sz="800" dirty="0"/>
          </a:p>
        </p:txBody>
      </p:sp>
      <p:sp>
        <p:nvSpPr>
          <p:cNvPr id="13" name="Text 11"/>
          <p:cNvSpPr/>
          <p:nvPr/>
        </p:nvSpPr>
        <p:spPr>
          <a:xfrm>
            <a:off x="457200" y="4160520"/>
            <a:ext cx="1965960" cy="246888"/>
          </a:xfrm>
          <a:prstGeom prst="rect">
            <a:avLst/>
          </a:prstGeom>
          <a:noFill/>
          <a:ln/>
        </p:spPr>
        <p:txBody>
          <a:bodyPr wrap="square" rtlCol="0" anchor="ctr"/>
          <a:lstStyle/>
          <a:p>
            <a:pPr marL="0" indent="0" algn="ctr">
              <a:buNone/>
            </a:pPr>
            <a:endParaRPr lang="en-US" sz="800" dirty="0"/>
          </a:p>
        </p:txBody>
      </p:sp>
      <p:sp>
        <p:nvSpPr>
          <p:cNvPr id="14" name="Shape 12"/>
          <p:cNvSpPr/>
          <p:nvPr/>
        </p:nvSpPr>
        <p:spPr>
          <a:xfrm>
            <a:off x="2606040" y="3566160"/>
            <a:ext cx="1965960" cy="909223"/>
          </a:xfrm>
          <a:prstGeom prst="roundRect">
            <a:avLst>
              <a:gd name="adj" fmla="val 7692"/>
            </a:avLst>
          </a:prstGeom>
          <a:solidFill>
            <a:srgbClr val="EEF2F7"/>
          </a:solidFill>
          <a:ln w="12700">
            <a:solidFill>
              <a:srgbClr val="5B6E7C"/>
            </a:solidFill>
            <a:prstDash val="solid"/>
          </a:ln>
          <a:effectLst>
            <a:outerShdw blurRad="101600" dist="25400" dir="2700000" algn="bl" rotWithShape="0">
              <a:srgbClr val="5B6E7C">
                <a:alpha val="30000"/>
              </a:srgbClr>
            </a:outerShdw>
          </a:effectLst>
        </p:spPr>
      </p:sp>
      <p:sp>
        <p:nvSpPr>
          <p:cNvPr id="15" name="Text 13"/>
          <p:cNvSpPr/>
          <p:nvPr/>
        </p:nvSpPr>
        <p:spPr>
          <a:xfrm>
            <a:off x="2606040" y="3639312"/>
            <a:ext cx="1965960" cy="320040"/>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Akash K</a:t>
            </a:r>
            <a:endParaRPr lang="en-US" sz="1000" dirty="0"/>
          </a:p>
        </p:txBody>
      </p:sp>
      <p:sp>
        <p:nvSpPr>
          <p:cNvPr id="16" name="Text 14"/>
          <p:cNvSpPr/>
          <p:nvPr/>
        </p:nvSpPr>
        <p:spPr>
          <a:xfrm>
            <a:off x="2606040" y="3931920"/>
            <a:ext cx="1965960" cy="246888"/>
          </a:xfrm>
          <a:prstGeom prst="rect">
            <a:avLst/>
          </a:prstGeom>
          <a:noFill/>
          <a:ln/>
        </p:spPr>
        <p:txBody>
          <a:bodyPr wrap="square" rtlCol="0" anchor="ctr"/>
          <a:lstStyle/>
          <a:p>
            <a:pPr marL="0" indent="0" algn="ctr">
              <a:buNone/>
            </a:pPr>
            <a:r>
              <a:rPr lang="en-US" sz="800" dirty="0">
                <a:solidFill>
                  <a:srgbClr val="2E6DA4"/>
                </a:solidFill>
                <a:latin typeface="Calibri" pitchFamily="34" charset="0"/>
                <a:ea typeface="Calibri" pitchFamily="34" charset="-122"/>
                <a:cs typeface="Calibri" pitchFamily="34" charset="-120"/>
              </a:rPr>
              <a:t>AI &amp; Data Science</a:t>
            </a:r>
            <a:endParaRPr lang="en-US" sz="800" dirty="0"/>
          </a:p>
        </p:txBody>
      </p:sp>
      <p:sp>
        <p:nvSpPr>
          <p:cNvPr id="17" name="Text 15"/>
          <p:cNvSpPr/>
          <p:nvPr/>
        </p:nvSpPr>
        <p:spPr>
          <a:xfrm>
            <a:off x="2606040" y="4160520"/>
            <a:ext cx="1965960" cy="246888"/>
          </a:xfrm>
          <a:prstGeom prst="rect">
            <a:avLst/>
          </a:prstGeom>
          <a:noFill/>
          <a:ln/>
        </p:spPr>
        <p:txBody>
          <a:bodyPr wrap="square" rtlCol="0" anchor="ctr"/>
          <a:lstStyle/>
          <a:p>
            <a:pPr marL="0" indent="0" algn="ctr">
              <a:buNone/>
            </a:pPr>
            <a:endParaRPr lang="en-US" sz="800" dirty="0"/>
          </a:p>
        </p:txBody>
      </p:sp>
      <p:sp>
        <p:nvSpPr>
          <p:cNvPr id="18" name="Shape 16"/>
          <p:cNvSpPr/>
          <p:nvPr/>
        </p:nvSpPr>
        <p:spPr>
          <a:xfrm>
            <a:off x="4754880" y="3566160"/>
            <a:ext cx="1965960" cy="909223"/>
          </a:xfrm>
          <a:prstGeom prst="roundRect">
            <a:avLst>
              <a:gd name="adj" fmla="val 7692"/>
            </a:avLst>
          </a:prstGeom>
          <a:solidFill>
            <a:srgbClr val="EEF2F7"/>
          </a:solidFill>
          <a:ln w="12700">
            <a:solidFill>
              <a:srgbClr val="5B6E7C"/>
            </a:solidFill>
            <a:prstDash val="solid"/>
          </a:ln>
          <a:effectLst>
            <a:outerShdw blurRad="101600" dist="25400" dir="2700000" algn="bl" rotWithShape="0">
              <a:srgbClr val="5B6E7C">
                <a:alpha val="30000"/>
              </a:srgbClr>
            </a:outerShdw>
          </a:effectLst>
        </p:spPr>
      </p:sp>
      <p:sp>
        <p:nvSpPr>
          <p:cNvPr id="19" name="Text 17"/>
          <p:cNvSpPr/>
          <p:nvPr/>
        </p:nvSpPr>
        <p:spPr>
          <a:xfrm>
            <a:off x="4754880" y="3639312"/>
            <a:ext cx="1965960" cy="320040"/>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Salman Khan S</a:t>
            </a:r>
            <a:endParaRPr lang="en-US" sz="1000" dirty="0"/>
          </a:p>
        </p:txBody>
      </p:sp>
      <p:sp>
        <p:nvSpPr>
          <p:cNvPr id="20" name="Text 18"/>
          <p:cNvSpPr/>
          <p:nvPr/>
        </p:nvSpPr>
        <p:spPr>
          <a:xfrm>
            <a:off x="4754880" y="3931920"/>
            <a:ext cx="1965960" cy="246888"/>
          </a:xfrm>
          <a:prstGeom prst="rect">
            <a:avLst/>
          </a:prstGeom>
          <a:noFill/>
          <a:ln/>
        </p:spPr>
        <p:txBody>
          <a:bodyPr wrap="square" rtlCol="0" anchor="ctr"/>
          <a:lstStyle/>
          <a:p>
            <a:pPr marL="0" indent="0" algn="ctr">
              <a:buNone/>
            </a:pPr>
            <a:r>
              <a:rPr lang="en-US" sz="800" dirty="0">
                <a:solidFill>
                  <a:srgbClr val="2E6DA4"/>
                </a:solidFill>
                <a:latin typeface="Calibri" pitchFamily="34" charset="0"/>
                <a:ea typeface="Calibri" pitchFamily="34" charset="-122"/>
                <a:cs typeface="Calibri" pitchFamily="34" charset="-120"/>
              </a:rPr>
              <a:t>AI &amp; Data Science</a:t>
            </a:r>
            <a:endParaRPr lang="en-US" sz="800" dirty="0"/>
          </a:p>
        </p:txBody>
      </p:sp>
      <p:sp>
        <p:nvSpPr>
          <p:cNvPr id="21" name="Text 19"/>
          <p:cNvSpPr/>
          <p:nvPr/>
        </p:nvSpPr>
        <p:spPr>
          <a:xfrm>
            <a:off x="4754880" y="4160520"/>
            <a:ext cx="1965960" cy="246888"/>
          </a:xfrm>
          <a:prstGeom prst="rect">
            <a:avLst/>
          </a:prstGeom>
          <a:noFill/>
          <a:ln/>
        </p:spPr>
        <p:txBody>
          <a:bodyPr wrap="square" rtlCol="0" anchor="ctr"/>
          <a:lstStyle/>
          <a:p>
            <a:pPr marL="0" indent="0" algn="ctr">
              <a:buNone/>
            </a:pPr>
            <a:endParaRPr lang="en-US" sz="800" dirty="0"/>
          </a:p>
        </p:txBody>
      </p:sp>
      <p:sp>
        <p:nvSpPr>
          <p:cNvPr id="22" name="Shape 20"/>
          <p:cNvSpPr/>
          <p:nvPr/>
        </p:nvSpPr>
        <p:spPr>
          <a:xfrm>
            <a:off x="6903720" y="3566160"/>
            <a:ext cx="1965960" cy="909223"/>
          </a:xfrm>
          <a:prstGeom prst="roundRect">
            <a:avLst>
              <a:gd name="adj" fmla="val 7692"/>
            </a:avLst>
          </a:prstGeom>
          <a:solidFill>
            <a:srgbClr val="EEF2F7"/>
          </a:solidFill>
          <a:ln w="12700">
            <a:solidFill>
              <a:srgbClr val="5B6E7C"/>
            </a:solidFill>
            <a:prstDash val="solid"/>
          </a:ln>
          <a:effectLst>
            <a:outerShdw blurRad="101600" dist="25400" dir="2700000" algn="bl" rotWithShape="0">
              <a:srgbClr val="5B6E7C">
                <a:alpha val="30000"/>
              </a:srgbClr>
            </a:outerShdw>
          </a:effectLst>
        </p:spPr>
      </p:sp>
      <p:sp>
        <p:nvSpPr>
          <p:cNvPr id="23" name="Text 21"/>
          <p:cNvSpPr/>
          <p:nvPr/>
        </p:nvSpPr>
        <p:spPr>
          <a:xfrm>
            <a:off x="6903720" y="3639312"/>
            <a:ext cx="1965960" cy="320040"/>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Yogesh S</a:t>
            </a:r>
            <a:endParaRPr lang="en-US" sz="1000" dirty="0"/>
          </a:p>
        </p:txBody>
      </p:sp>
      <p:sp>
        <p:nvSpPr>
          <p:cNvPr id="24" name="Text 22"/>
          <p:cNvSpPr/>
          <p:nvPr/>
        </p:nvSpPr>
        <p:spPr>
          <a:xfrm>
            <a:off x="6903720" y="3931920"/>
            <a:ext cx="1965960" cy="246888"/>
          </a:xfrm>
          <a:prstGeom prst="rect">
            <a:avLst/>
          </a:prstGeom>
          <a:noFill/>
          <a:ln/>
        </p:spPr>
        <p:txBody>
          <a:bodyPr wrap="square" rtlCol="0" anchor="ctr"/>
          <a:lstStyle/>
          <a:p>
            <a:pPr marL="0" indent="0" algn="ctr">
              <a:buNone/>
            </a:pPr>
            <a:r>
              <a:rPr lang="en-US" sz="800" dirty="0">
                <a:solidFill>
                  <a:srgbClr val="2E6DA4"/>
                </a:solidFill>
                <a:latin typeface="Calibri" pitchFamily="34" charset="0"/>
                <a:ea typeface="Calibri" pitchFamily="34" charset="-122"/>
                <a:cs typeface="Calibri" pitchFamily="34" charset="-120"/>
              </a:rPr>
              <a:t>Computer Science</a:t>
            </a:r>
            <a:endParaRPr lang="en-US" sz="800" dirty="0"/>
          </a:p>
        </p:txBody>
      </p:sp>
      <p:sp>
        <p:nvSpPr>
          <p:cNvPr id="25" name="Text 23"/>
          <p:cNvSpPr/>
          <p:nvPr/>
        </p:nvSpPr>
        <p:spPr>
          <a:xfrm>
            <a:off x="6903720" y="4160520"/>
            <a:ext cx="1965960" cy="246888"/>
          </a:xfrm>
          <a:prstGeom prst="rect">
            <a:avLst/>
          </a:prstGeom>
          <a:noFill/>
          <a:ln/>
        </p:spPr>
        <p:txBody>
          <a:bodyPr wrap="square" rtlCol="0" anchor="ctr"/>
          <a:lstStyle/>
          <a:p>
            <a:pPr marL="0" indent="0" algn="ctr">
              <a:buNone/>
            </a:pPr>
            <a:endParaRPr lang="en-US" sz="800" dirty="0"/>
          </a:p>
        </p:txBody>
      </p:sp>
      <p:sp>
        <p:nvSpPr>
          <p:cNvPr id="26" name="Shape 24"/>
          <p:cNvSpPr/>
          <p:nvPr/>
        </p:nvSpPr>
        <p:spPr>
          <a:xfrm>
            <a:off x="457200" y="4773168"/>
            <a:ext cx="1554480" cy="256032"/>
          </a:xfrm>
          <a:prstGeom prst="roundRect">
            <a:avLst>
              <a:gd name="adj" fmla="val 25000"/>
            </a:avLst>
          </a:prstGeom>
          <a:solidFill>
            <a:srgbClr val="3A7D8C">
              <a:alpha val="25000"/>
            </a:srgbClr>
          </a:solidFill>
          <a:ln w="12700">
            <a:solidFill>
              <a:srgbClr val="3A7D8C"/>
            </a:solidFill>
            <a:prstDash val="solid"/>
          </a:ln>
        </p:spPr>
      </p:sp>
      <p:sp>
        <p:nvSpPr>
          <p:cNvPr id="27" name="Text 25"/>
          <p:cNvSpPr/>
          <p:nvPr/>
        </p:nvSpPr>
        <p:spPr>
          <a:xfrm>
            <a:off x="457200" y="4773168"/>
            <a:ext cx="1554480" cy="256032"/>
          </a:xfrm>
          <a:prstGeom prst="rect">
            <a:avLst/>
          </a:prstGeom>
          <a:noFill/>
          <a:ln/>
        </p:spPr>
        <p:txBody>
          <a:bodyPr wrap="square" lIns="0" tIns="0" rIns="0" bIns="0" rtlCol="0" anchor="ctr"/>
          <a:lstStyle/>
          <a:p>
            <a:pPr marL="0" indent="0" algn="ctr">
              <a:buNone/>
            </a:pPr>
            <a:r>
              <a:rPr lang="en-US" sz="750" dirty="0">
                <a:solidFill>
                  <a:srgbClr val="1E3A5F"/>
                </a:solidFill>
              </a:rPr>
              <a:t>React + TypeScript</a:t>
            </a:r>
            <a:endParaRPr lang="en-US" sz="750" dirty="0"/>
          </a:p>
        </p:txBody>
      </p:sp>
      <p:sp>
        <p:nvSpPr>
          <p:cNvPr id="28" name="Shape 26"/>
          <p:cNvSpPr/>
          <p:nvPr/>
        </p:nvSpPr>
        <p:spPr>
          <a:xfrm>
            <a:off x="2148840" y="4773168"/>
            <a:ext cx="1554480" cy="256032"/>
          </a:xfrm>
          <a:prstGeom prst="roundRect">
            <a:avLst>
              <a:gd name="adj" fmla="val 25000"/>
            </a:avLst>
          </a:prstGeom>
          <a:solidFill>
            <a:srgbClr val="3A7D8C">
              <a:alpha val="25000"/>
            </a:srgbClr>
          </a:solidFill>
          <a:ln w="12700">
            <a:solidFill>
              <a:srgbClr val="3A7D8C"/>
            </a:solidFill>
            <a:prstDash val="solid"/>
          </a:ln>
        </p:spPr>
      </p:sp>
      <p:sp>
        <p:nvSpPr>
          <p:cNvPr id="29" name="Text 27"/>
          <p:cNvSpPr/>
          <p:nvPr/>
        </p:nvSpPr>
        <p:spPr>
          <a:xfrm>
            <a:off x="2148840" y="4773168"/>
            <a:ext cx="1554480" cy="256032"/>
          </a:xfrm>
          <a:prstGeom prst="rect">
            <a:avLst/>
          </a:prstGeom>
          <a:noFill/>
          <a:ln/>
        </p:spPr>
        <p:txBody>
          <a:bodyPr wrap="square" lIns="0" tIns="0" rIns="0" bIns="0" rtlCol="0" anchor="ctr"/>
          <a:lstStyle/>
          <a:p>
            <a:pPr marL="0" indent="0" algn="ctr">
              <a:buNone/>
            </a:pPr>
            <a:r>
              <a:rPr lang="en-US" sz="750" dirty="0">
                <a:solidFill>
                  <a:srgbClr val="1E3A5F"/>
                </a:solidFill>
              </a:rPr>
              <a:t>Node.js + Express</a:t>
            </a:r>
            <a:endParaRPr lang="en-US" sz="750" dirty="0"/>
          </a:p>
        </p:txBody>
      </p:sp>
      <p:sp>
        <p:nvSpPr>
          <p:cNvPr id="30" name="Shape 28"/>
          <p:cNvSpPr/>
          <p:nvPr/>
        </p:nvSpPr>
        <p:spPr>
          <a:xfrm>
            <a:off x="3840480" y="4773168"/>
            <a:ext cx="1554480" cy="256032"/>
          </a:xfrm>
          <a:prstGeom prst="roundRect">
            <a:avLst>
              <a:gd name="adj" fmla="val 25000"/>
            </a:avLst>
          </a:prstGeom>
          <a:solidFill>
            <a:srgbClr val="3A7D8C">
              <a:alpha val="25000"/>
            </a:srgbClr>
          </a:solidFill>
          <a:ln w="12700">
            <a:solidFill>
              <a:srgbClr val="3A7D8C"/>
            </a:solidFill>
            <a:prstDash val="solid"/>
          </a:ln>
        </p:spPr>
      </p:sp>
      <p:sp>
        <p:nvSpPr>
          <p:cNvPr id="31" name="Text 29"/>
          <p:cNvSpPr/>
          <p:nvPr/>
        </p:nvSpPr>
        <p:spPr>
          <a:xfrm>
            <a:off x="3840480" y="4773168"/>
            <a:ext cx="1554480" cy="256032"/>
          </a:xfrm>
          <a:prstGeom prst="rect">
            <a:avLst/>
          </a:prstGeom>
          <a:noFill/>
          <a:ln/>
        </p:spPr>
        <p:txBody>
          <a:bodyPr wrap="square" lIns="0" tIns="0" rIns="0" bIns="0" rtlCol="0" anchor="ctr"/>
          <a:lstStyle/>
          <a:p>
            <a:pPr marL="0" indent="0" algn="ctr">
              <a:buNone/>
            </a:pPr>
            <a:r>
              <a:rPr lang="en-US" sz="750" dirty="0">
                <a:solidFill>
                  <a:srgbClr val="1E3A5F"/>
                </a:solidFill>
              </a:rPr>
              <a:t>Docker SDK</a:t>
            </a:r>
            <a:endParaRPr lang="en-US" sz="750" dirty="0"/>
          </a:p>
        </p:txBody>
      </p:sp>
      <p:sp>
        <p:nvSpPr>
          <p:cNvPr id="32" name="Shape 30"/>
          <p:cNvSpPr/>
          <p:nvPr/>
        </p:nvSpPr>
        <p:spPr>
          <a:xfrm>
            <a:off x="5532120" y="4773168"/>
            <a:ext cx="1554480" cy="256032"/>
          </a:xfrm>
          <a:prstGeom prst="roundRect">
            <a:avLst>
              <a:gd name="adj" fmla="val 25000"/>
            </a:avLst>
          </a:prstGeom>
          <a:solidFill>
            <a:srgbClr val="3A7D8C">
              <a:alpha val="25000"/>
            </a:srgbClr>
          </a:solidFill>
          <a:ln w="12700">
            <a:solidFill>
              <a:srgbClr val="3A7D8C"/>
            </a:solidFill>
            <a:prstDash val="solid"/>
          </a:ln>
        </p:spPr>
      </p:sp>
      <p:sp>
        <p:nvSpPr>
          <p:cNvPr id="33" name="Text 31"/>
          <p:cNvSpPr/>
          <p:nvPr/>
        </p:nvSpPr>
        <p:spPr>
          <a:xfrm>
            <a:off x="5532120" y="4773168"/>
            <a:ext cx="1554480" cy="256032"/>
          </a:xfrm>
          <a:prstGeom prst="rect">
            <a:avLst/>
          </a:prstGeom>
          <a:noFill/>
          <a:ln/>
        </p:spPr>
        <p:txBody>
          <a:bodyPr wrap="square" lIns="0" tIns="0" rIns="0" bIns="0" rtlCol="0" anchor="ctr"/>
          <a:lstStyle/>
          <a:p>
            <a:pPr marL="0" indent="0" algn="ctr">
              <a:buNone/>
            </a:pPr>
            <a:r>
              <a:rPr lang="en-US" sz="750" dirty="0">
                <a:solidFill>
                  <a:srgbClr val="1E3A5F"/>
                </a:solidFill>
              </a:rPr>
              <a:t>Gemini AI / Ollama</a:t>
            </a:r>
            <a:endParaRPr lang="en-US" sz="750" dirty="0"/>
          </a:p>
        </p:txBody>
      </p:sp>
      <p:sp>
        <p:nvSpPr>
          <p:cNvPr id="34" name="Shape 32"/>
          <p:cNvSpPr/>
          <p:nvPr/>
        </p:nvSpPr>
        <p:spPr>
          <a:xfrm>
            <a:off x="7223760" y="4773168"/>
            <a:ext cx="1554480" cy="256032"/>
          </a:xfrm>
          <a:prstGeom prst="roundRect">
            <a:avLst>
              <a:gd name="adj" fmla="val 25000"/>
            </a:avLst>
          </a:prstGeom>
          <a:solidFill>
            <a:srgbClr val="3A7D8C">
              <a:alpha val="25000"/>
            </a:srgbClr>
          </a:solidFill>
          <a:ln w="12700">
            <a:solidFill>
              <a:srgbClr val="3A7D8C"/>
            </a:solidFill>
            <a:prstDash val="solid"/>
          </a:ln>
        </p:spPr>
      </p:sp>
      <p:sp>
        <p:nvSpPr>
          <p:cNvPr id="35" name="Text 33"/>
          <p:cNvSpPr/>
          <p:nvPr/>
        </p:nvSpPr>
        <p:spPr>
          <a:xfrm>
            <a:off x="7223760" y="4773168"/>
            <a:ext cx="1554480" cy="256032"/>
          </a:xfrm>
          <a:prstGeom prst="rect">
            <a:avLst/>
          </a:prstGeom>
          <a:noFill/>
          <a:ln/>
        </p:spPr>
        <p:txBody>
          <a:bodyPr wrap="square" lIns="0" tIns="0" rIns="0" bIns="0" rtlCol="0" anchor="ctr"/>
          <a:lstStyle/>
          <a:p>
            <a:pPr marL="0" indent="0" algn="ctr">
              <a:buNone/>
            </a:pPr>
            <a:r>
              <a:rPr lang="en-US" sz="750" dirty="0">
                <a:solidFill>
                  <a:srgbClr val="1E3A5F"/>
                </a:solidFill>
              </a:rPr>
              <a:t>WebSocket Realtime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9B3A3A">
              <a:alpha val="10000"/>
            </a:srgbClr>
          </a:solidFill>
          <a:ln w="12700">
            <a:solidFill>
              <a:srgbClr val="9B3A3A">
                <a:alpha val="10000"/>
              </a:srgbClr>
            </a:solidFill>
            <a:prstDash val="solid"/>
          </a:ln>
        </p:spPr>
      </p:sp>
      <p:sp>
        <p:nvSpPr>
          <p:cNvPr id="3" name="Text 1"/>
          <p:cNvSpPr/>
          <p:nvPr/>
        </p:nvSpPr>
        <p:spPr>
          <a:xfrm>
            <a:off x="457200" y="182880"/>
            <a:ext cx="4572000" cy="502920"/>
          </a:xfrm>
          <a:prstGeom prst="rect">
            <a:avLst/>
          </a:prstGeom>
          <a:noFill/>
          <a:ln/>
        </p:spPr>
        <p:txBody>
          <a:bodyPr wrap="square" rtlCol="0" anchor="ctr"/>
          <a:lstStyle/>
          <a:p>
            <a:pPr marL="0" indent="0">
              <a:buNone/>
            </a:pPr>
            <a:r>
              <a:rPr lang="en-US" sz="3000" b="1" dirty="0">
                <a:solidFill>
                  <a:srgbClr val="1E3A5F"/>
                </a:solidFill>
                <a:latin typeface="Calibri" pitchFamily="34" charset="0"/>
                <a:ea typeface="Calibri" pitchFamily="34" charset="-122"/>
                <a:cs typeface="Calibri" pitchFamily="34" charset="-120"/>
              </a:rPr>
              <a:t>The Problem</a:t>
            </a:r>
            <a:endParaRPr lang="en-US" sz="3000" dirty="0"/>
          </a:p>
        </p:txBody>
      </p:sp>
      <p:sp>
        <p:nvSpPr>
          <p:cNvPr id="4" name="Text 2"/>
          <p:cNvSpPr/>
          <p:nvPr/>
        </p:nvSpPr>
        <p:spPr>
          <a:xfrm>
            <a:off x="457200" y="658368"/>
            <a:ext cx="6400800" cy="320040"/>
          </a:xfrm>
          <a:prstGeom prst="rect">
            <a:avLst/>
          </a:prstGeom>
          <a:noFill/>
          <a:ln/>
        </p:spPr>
        <p:txBody>
          <a:bodyPr wrap="square" rtlCol="0" anchor="ctr"/>
          <a:lstStyle/>
          <a:p>
            <a:pPr marL="0" indent="0">
              <a:buNone/>
            </a:pPr>
            <a:r>
              <a:rPr lang="en-US" sz="1300" dirty="0">
                <a:solidFill>
                  <a:srgbClr val="7B8FA1"/>
                </a:solidFill>
                <a:latin typeface="Calibri" pitchFamily="34" charset="0"/>
                <a:ea typeface="Calibri" pitchFamily="34" charset="-122"/>
                <a:cs typeface="Calibri" pitchFamily="34" charset="-120"/>
              </a:rPr>
              <a:t>Why Docker management is broken for most teams</a:t>
            </a:r>
            <a:endParaRPr lang="en-US" sz="1300" dirty="0"/>
          </a:p>
        </p:txBody>
      </p:sp>
      <p:sp>
        <p:nvSpPr>
          <p:cNvPr id="5" name="Shape 3"/>
          <p:cNvSpPr/>
          <p:nvPr/>
        </p:nvSpPr>
        <p:spPr>
          <a:xfrm>
            <a:off x="365760" y="1188720"/>
            <a:ext cx="2697480" cy="1508760"/>
          </a:xfrm>
          <a:prstGeom prst="roundRect">
            <a:avLst>
              <a:gd name="adj" fmla="val 6061"/>
            </a:avLst>
          </a:prstGeom>
          <a:solidFill>
            <a:srgbClr val="EEF2F7"/>
          </a:solidFill>
          <a:ln w="12700">
            <a:solidFill>
              <a:srgbClr val="9B3A3A"/>
            </a:solidFill>
            <a:prstDash val="solid"/>
          </a:ln>
          <a:effectLst>
            <a:outerShdw blurRad="101600" dist="25400" dir="2700000" algn="bl" rotWithShape="0">
              <a:srgbClr val="1A2B3C">
                <a:alpha val="25000"/>
              </a:srgbClr>
            </a:outerShdw>
          </a:effectLst>
        </p:spPr>
      </p:sp>
      <p:sp>
        <p:nvSpPr>
          <p:cNvPr id="6" name="Text 4"/>
          <p:cNvSpPr/>
          <p:nvPr/>
        </p:nvSpPr>
        <p:spPr>
          <a:xfrm>
            <a:off x="365760" y="1298448"/>
            <a:ext cx="2697480" cy="457200"/>
          </a:xfrm>
          <a:prstGeom prst="rect">
            <a:avLst/>
          </a:prstGeom>
          <a:noFill/>
          <a:ln/>
        </p:spPr>
        <p:txBody>
          <a:bodyPr wrap="square" rtlCol="0" anchor="ctr"/>
          <a:lstStyle/>
          <a:p>
            <a:pPr marL="0" indent="0" algn="ctr">
              <a:buNone/>
            </a:pPr>
            <a:r>
              <a:rPr lang="en-US" sz="2000" dirty="0">
                <a:solidFill>
                  <a:srgbClr val="1A2B3C"/>
                </a:solidFill>
              </a:rPr>
              <a:t>😰</a:t>
            </a:r>
            <a:endParaRPr lang="en-US" sz="2000" dirty="0"/>
          </a:p>
        </p:txBody>
      </p:sp>
      <p:sp>
        <p:nvSpPr>
          <p:cNvPr id="7" name="Text 5"/>
          <p:cNvSpPr/>
          <p:nvPr/>
        </p:nvSpPr>
        <p:spPr>
          <a:xfrm>
            <a:off x="502920" y="1719072"/>
            <a:ext cx="2423160" cy="320040"/>
          </a:xfrm>
          <a:prstGeom prst="rect">
            <a:avLst/>
          </a:prstGeom>
          <a:noFill/>
          <a:ln/>
        </p:spPr>
        <p:txBody>
          <a:bodyPr wrap="square" rtlCol="0" anchor="ctr"/>
          <a:lstStyle/>
          <a:p>
            <a:pPr marL="0" indent="0" algn="ctr">
              <a:buNone/>
            </a:pPr>
            <a:r>
              <a:rPr lang="en-US" sz="1100" b="1" dirty="0">
                <a:solidFill>
                  <a:srgbClr val="9B3A3A"/>
                </a:solidFill>
                <a:latin typeface="Calibri" pitchFamily="34" charset="0"/>
                <a:ea typeface="Calibri" pitchFamily="34" charset="-122"/>
                <a:cs typeface="Calibri" pitchFamily="34" charset="-120"/>
              </a:rPr>
              <a:t>Complex CLI Commands</a:t>
            </a:r>
            <a:endParaRPr lang="en-US" sz="1100" dirty="0"/>
          </a:p>
        </p:txBody>
      </p:sp>
      <p:sp>
        <p:nvSpPr>
          <p:cNvPr id="8" name="Text 6"/>
          <p:cNvSpPr/>
          <p:nvPr/>
        </p:nvSpPr>
        <p:spPr>
          <a:xfrm>
            <a:off x="502920" y="2011680"/>
            <a:ext cx="24231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Developers must memorize dozens of Docker commands with cryptic flags and syntax</a:t>
            </a:r>
            <a:endParaRPr lang="en-US" sz="850" dirty="0"/>
          </a:p>
        </p:txBody>
      </p:sp>
      <p:sp>
        <p:nvSpPr>
          <p:cNvPr id="9" name="Shape 7"/>
          <p:cNvSpPr/>
          <p:nvPr/>
        </p:nvSpPr>
        <p:spPr>
          <a:xfrm>
            <a:off x="3291840" y="1188720"/>
            <a:ext cx="2697480" cy="1508760"/>
          </a:xfrm>
          <a:prstGeom prst="roundRect">
            <a:avLst>
              <a:gd name="adj" fmla="val 6061"/>
            </a:avLst>
          </a:prstGeom>
          <a:solidFill>
            <a:srgbClr val="EEF2F7"/>
          </a:solidFill>
          <a:ln w="12700">
            <a:solidFill>
              <a:srgbClr val="A07840"/>
            </a:solidFill>
            <a:prstDash val="solid"/>
          </a:ln>
          <a:effectLst>
            <a:outerShdw blurRad="101600" dist="25400" dir="2700000" algn="bl" rotWithShape="0">
              <a:srgbClr val="1A2B3C">
                <a:alpha val="25000"/>
              </a:srgbClr>
            </a:outerShdw>
          </a:effectLst>
        </p:spPr>
      </p:sp>
      <p:sp>
        <p:nvSpPr>
          <p:cNvPr id="10" name="Text 8"/>
          <p:cNvSpPr/>
          <p:nvPr/>
        </p:nvSpPr>
        <p:spPr>
          <a:xfrm>
            <a:off x="3291840" y="1298448"/>
            <a:ext cx="2697480" cy="457200"/>
          </a:xfrm>
          <a:prstGeom prst="rect">
            <a:avLst/>
          </a:prstGeom>
          <a:noFill/>
          <a:ln/>
        </p:spPr>
        <p:txBody>
          <a:bodyPr wrap="square" rtlCol="0" anchor="ctr"/>
          <a:lstStyle/>
          <a:p>
            <a:pPr marL="0" indent="0" algn="ctr">
              <a:buNone/>
            </a:pPr>
            <a:r>
              <a:rPr lang="en-US" sz="2000" dirty="0">
                <a:solidFill>
                  <a:srgbClr val="1A2B3C"/>
                </a:solidFill>
              </a:rPr>
              <a:t>⏱️</a:t>
            </a:r>
            <a:endParaRPr lang="en-US" sz="2000" dirty="0"/>
          </a:p>
        </p:txBody>
      </p:sp>
      <p:sp>
        <p:nvSpPr>
          <p:cNvPr id="11" name="Text 9"/>
          <p:cNvSpPr/>
          <p:nvPr/>
        </p:nvSpPr>
        <p:spPr>
          <a:xfrm>
            <a:off x="3429000" y="1719072"/>
            <a:ext cx="2423160" cy="320040"/>
          </a:xfrm>
          <a:prstGeom prst="rect">
            <a:avLst/>
          </a:prstGeom>
          <a:noFill/>
          <a:ln/>
        </p:spPr>
        <p:txBody>
          <a:bodyPr wrap="square" rtlCol="0" anchor="ctr"/>
          <a:lstStyle/>
          <a:p>
            <a:pPr marL="0" indent="0" algn="ctr">
              <a:buNone/>
            </a:pPr>
            <a:r>
              <a:rPr lang="en-US" sz="1100" b="1" dirty="0">
                <a:solidFill>
                  <a:srgbClr val="A07840"/>
                </a:solidFill>
                <a:latin typeface="Calibri" pitchFamily="34" charset="0"/>
                <a:ea typeface="Calibri" pitchFamily="34" charset="-122"/>
                <a:cs typeface="Calibri" pitchFamily="34" charset="-120"/>
              </a:rPr>
              <a:t>Time-Consuming Monitoring</a:t>
            </a:r>
            <a:endParaRPr lang="en-US" sz="1100" dirty="0"/>
          </a:p>
        </p:txBody>
      </p:sp>
      <p:sp>
        <p:nvSpPr>
          <p:cNvPr id="12" name="Text 10"/>
          <p:cNvSpPr/>
          <p:nvPr/>
        </p:nvSpPr>
        <p:spPr>
          <a:xfrm>
            <a:off x="3429000" y="2011680"/>
            <a:ext cx="24231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Manual health checks across multiple containers wastes hours of developer time daily</a:t>
            </a:r>
            <a:endParaRPr lang="en-US" sz="850" dirty="0"/>
          </a:p>
        </p:txBody>
      </p:sp>
      <p:sp>
        <p:nvSpPr>
          <p:cNvPr id="13" name="Shape 11"/>
          <p:cNvSpPr/>
          <p:nvPr/>
        </p:nvSpPr>
        <p:spPr>
          <a:xfrm>
            <a:off x="6217920" y="1188720"/>
            <a:ext cx="2697480" cy="1508760"/>
          </a:xfrm>
          <a:prstGeom prst="roundRect">
            <a:avLst>
              <a:gd name="adj" fmla="val 6061"/>
            </a:avLst>
          </a:prstGeom>
          <a:solidFill>
            <a:srgbClr val="EEF2F7"/>
          </a:solidFill>
          <a:ln w="12700">
            <a:solidFill>
              <a:srgbClr val="5B6E7C"/>
            </a:solidFill>
            <a:prstDash val="solid"/>
          </a:ln>
          <a:effectLst>
            <a:outerShdw blurRad="101600" dist="25400" dir="2700000" algn="bl" rotWithShape="0">
              <a:srgbClr val="1A2B3C">
                <a:alpha val="25000"/>
              </a:srgbClr>
            </a:outerShdw>
          </a:effectLst>
        </p:spPr>
      </p:sp>
      <p:sp>
        <p:nvSpPr>
          <p:cNvPr id="14" name="Text 12"/>
          <p:cNvSpPr/>
          <p:nvPr/>
        </p:nvSpPr>
        <p:spPr>
          <a:xfrm>
            <a:off x="6217920" y="1298448"/>
            <a:ext cx="2697480" cy="457200"/>
          </a:xfrm>
          <a:prstGeom prst="rect">
            <a:avLst/>
          </a:prstGeom>
          <a:noFill/>
          <a:ln/>
        </p:spPr>
        <p:txBody>
          <a:bodyPr wrap="square" rtlCol="0" anchor="ctr"/>
          <a:lstStyle/>
          <a:p>
            <a:pPr marL="0" indent="0" algn="ctr">
              <a:buNone/>
            </a:pPr>
            <a:r>
              <a:rPr lang="en-US" sz="2000" dirty="0">
                <a:solidFill>
                  <a:srgbClr val="1A2B3C"/>
                </a:solidFill>
              </a:rPr>
              <a:t>📚</a:t>
            </a:r>
            <a:endParaRPr lang="en-US" sz="2000" dirty="0"/>
          </a:p>
        </p:txBody>
      </p:sp>
      <p:sp>
        <p:nvSpPr>
          <p:cNvPr id="15" name="Text 13"/>
          <p:cNvSpPr/>
          <p:nvPr/>
        </p:nvSpPr>
        <p:spPr>
          <a:xfrm>
            <a:off x="6355080" y="1719072"/>
            <a:ext cx="2423160" cy="320040"/>
          </a:xfrm>
          <a:prstGeom prst="rect">
            <a:avLst/>
          </a:prstGeom>
          <a:noFill/>
          <a:ln/>
        </p:spPr>
        <p:txBody>
          <a:bodyPr wrap="square" rtlCol="0" anchor="ctr"/>
          <a:lstStyle/>
          <a:p>
            <a:pPr marL="0" indent="0" algn="ctr">
              <a:buNone/>
            </a:pPr>
            <a:r>
              <a:rPr lang="en-US" sz="1100" b="1" dirty="0">
                <a:solidFill>
                  <a:srgbClr val="5B6E7C"/>
                </a:solidFill>
                <a:latin typeface="Calibri" pitchFamily="34" charset="0"/>
                <a:ea typeface="Calibri" pitchFamily="34" charset="-122"/>
                <a:cs typeface="Calibri" pitchFamily="34" charset="-120"/>
              </a:rPr>
              <a:t>Steep Learning Curve</a:t>
            </a:r>
            <a:endParaRPr lang="en-US" sz="1100" dirty="0"/>
          </a:p>
        </p:txBody>
      </p:sp>
      <p:sp>
        <p:nvSpPr>
          <p:cNvPr id="16" name="Text 14"/>
          <p:cNvSpPr/>
          <p:nvPr/>
        </p:nvSpPr>
        <p:spPr>
          <a:xfrm>
            <a:off x="6355080" y="2011680"/>
            <a:ext cx="24231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Beginners and non-DevOps teams struggle to onboard with Docker's complex ecosystem</a:t>
            </a:r>
            <a:endParaRPr lang="en-US" sz="850" dirty="0"/>
          </a:p>
        </p:txBody>
      </p:sp>
      <p:sp>
        <p:nvSpPr>
          <p:cNvPr id="17" name="Shape 15"/>
          <p:cNvSpPr/>
          <p:nvPr/>
        </p:nvSpPr>
        <p:spPr>
          <a:xfrm>
            <a:off x="365760" y="2926080"/>
            <a:ext cx="2697480" cy="1508760"/>
          </a:xfrm>
          <a:prstGeom prst="roundRect">
            <a:avLst>
              <a:gd name="adj" fmla="val 6061"/>
            </a:avLst>
          </a:prstGeom>
          <a:solidFill>
            <a:srgbClr val="EEF2F7"/>
          </a:solidFill>
          <a:ln w="12700">
            <a:solidFill>
              <a:srgbClr val="2E6DA4"/>
            </a:solidFill>
            <a:prstDash val="solid"/>
          </a:ln>
          <a:effectLst>
            <a:outerShdw blurRad="101600" dist="25400" dir="2700000" algn="bl" rotWithShape="0">
              <a:srgbClr val="1A2B3C">
                <a:alpha val="25000"/>
              </a:srgbClr>
            </a:outerShdw>
          </a:effectLst>
        </p:spPr>
      </p:sp>
      <p:sp>
        <p:nvSpPr>
          <p:cNvPr id="18" name="Text 16"/>
          <p:cNvSpPr/>
          <p:nvPr/>
        </p:nvSpPr>
        <p:spPr>
          <a:xfrm>
            <a:off x="365760" y="3035808"/>
            <a:ext cx="2697480" cy="457200"/>
          </a:xfrm>
          <a:prstGeom prst="rect">
            <a:avLst/>
          </a:prstGeom>
          <a:noFill/>
          <a:ln/>
        </p:spPr>
        <p:txBody>
          <a:bodyPr wrap="square" rtlCol="0" anchor="ctr"/>
          <a:lstStyle/>
          <a:p>
            <a:pPr marL="0" indent="0" algn="ctr">
              <a:buNone/>
            </a:pPr>
            <a:r>
              <a:rPr lang="en-US" sz="2000" dirty="0">
                <a:solidFill>
                  <a:srgbClr val="1A2B3C"/>
                </a:solidFill>
              </a:rPr>
              <a:t>🔍</a:t>
            </a:r>
            <a:endParaRPr lang="en-US" sz="2000" dirty="0"/>
          </a:p>
        </p:txBody>
      </p:sp>
      <p:sp>
        <p:nvSpPr>
          <p:cNvPr id="19" name="Text 17"/>
          <p:cNvSpPr/>
          <p:nvPr/>
        </p:nvSpPr>
        <p:spPr>
          <a:xfrm>
            <a:off x="502920" y="3456432"/>
            <a:ext cx="2423160" cy="320040"/>
          </a:xfrm>
          <a:prstGeom prst="rect">
            <a:avLst/>
          </a:prstGeom>
          <a:noFill/>
          <a:ln/>
        </p:spPr>
        <p:txBody>
          <a:bodyPr wrap="square" rtlCol="0" anchor="ctr"/>
          <a:lstStyle/>
          <a:p>
            <a:pPr marL="0" indent="0" algn="ctr">
              <a:buNone/>
            </a:pPr>
            <a:r>
              <a:rPr lang="en-US" sz="1100" b="1" dirty="0">
                <a:solidFill>
                  <a:srgbClr val="2E6DA4"/>
                </a:solidFill>
                <a:latin typeface="Calibri" pitchFamily="34" charset="0"/>
                <a:ea typeface="Calibri" pitchFamily="34" charset="-122"/>
                <a:cs typeface="Calibri" pitchFamily="34" charset="-120"/>
              </a:rPr>
              <a:t>Slow Incident Response</a:t>
            </a:r>
            <a:endParaRPr lang="en-US" sz="1100" dirty="0"/>
          </a:p>
        </p:txBody>
      </p:sp>
      <p:sp>
        <p:nvSpPr>
          <p:cNvPr id="20" name="Text 18"/>
          <p:cNvSpPr/>
          <p:nvPr/>
        </p:nvSpPr>
        <p:spPr>
          <a:xfrm>
            <a:off x="502920" y="3749040"/>
            <a:ext cx="24231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Finding the root cause of container failures requires expert-level Docker knowledge</a:t>
            </a:r>
            <a:endParaRPr lang="en-US" sz="850" dirty="0"/>
          </a:p>
        </p:txBody>
      </p:sp>
      <p:sp>
        <p:nvSpPr>
          <p:cNvPr id="21" name="Shape 19"/>
          <p:cNvSpPr/>
          <p:nvPr/>
        </p:nvSpPr>
        <p:spPr>
          <a:xfrm>
            <a:off x="3291840" y="2926080"/>
            <a:ext cx="2697480" cy="1508760"/>
          </a:xfrm>
          <a:prstGeom prst="roundRect">
            <a:avLst>
              <a:gd name="adj" fmla="val 6061"/>
            </a:avLst>
          </a:prstGeom>
          <a:solidFill>
            <a:srgbClr val="EEF2F7"/>
          </a:solidFill>
          <a:ln w="12700">
            <a:solidFill>
              <a:srgbClr val="3A7D8C"/>
            </a:solidFill>
            <a:prstDash val="solid"/>
          </a:ln>
          <a:effectLst>
            <a:outerShdw blurRad="101600" dist="25400" dir="2700000" algn="bl" rotWithShape="0">
              <a:srgbClr val="1A2B3C">
                <a:alpha val="25000"/>
              </a:srgbClr>
            </a:outerShdw>
          </a:effectLst>
        </p:spPr>
      </p:sp>
      <p:sp>
        <p:nvSpPr>
          <p:cNvPr id="22" name="Text 20"/>
          <p:cNvSpPr/>
          <p:nvPr/>
        </p:nvSpPr>
        <p:spPr>
          <a:xfrm>
            <a:off x="3291840" y="3035808"/>
            <a:ext cx="2697480" cy="457200"/>
          </a:xfrm>
          <a:prstGeom prst="rect">
            <a:avLst/>
          </a:prstGeom>
          <a:noFill/>
          <a:ln/>
        </p:spPr>
        <p:txBody>
          <a:bodyPr wrap="square" rtlCol="0" anchor="ctr"/>
          <a:lstStyle/>
          <a:p>
            <a:pPr marL="0" indent="0" algn="ctr">
              <a:buNone/>
            </a:pPr>
            <a:r>
              <a:rPr lang="en-US" sz="2000" dirty="0">
                <a:solidFill>
                  <a:srgbClr val="1A2B3C"/>
                </a:solidFill>
              </a:rPr>
              <a:t>🧩</a:t>
            </a:r>
            <a:endParaRPr lang="en-US" sz="2000" dirty="0"/>
          </a:p>
        </p:txBody>
      </p:sp>
      <p:sp>
        <p:nvSpPr>
          <p:cNvPr id="23" name="Text 21"/>
          <p:cNvSpPr/>
          <p:nvPr/>
        </p:nvSpPr>
        <p:spPr>
          <a:xfrm>
            <a:off x="3429000" y="3456432"/>
            <a:ext cx="2423160" cy="320040"/>
          </a:xfrm>
          <a:prstGeom prst="rect">
            <a:avLst/>
          </a:prstGeom>
          <a:noFill/>
          <a:ln/>
        </p:spPr>
        <p:txBody>
          <a:bodyPr wrap="square" rtlCol="0" anchor="ctr"/>
          <a:lstStyle/>
          <a:p>
            <a:pPr marL="0" indent="0" algn="ctr">
              <a:buNone/>
            </a:pPr>
            <a:r>
              <a:rPr lang="en-US" sz="1100" b="1" dirty="0">
                <a:solidFill>
                  <a:srgbClr val="3A7D8C"/>
                </a:solidFill>
                <a:latin typeface="Calibri" pitchFamily="34" charset="0"/>
                <a:ea typeface="Calibri" pitchFamily="34" charset="-122"/>
                <a:cs typeface="Calibri" pitchFamily="34" charset="-120"/>
              </a:rPr>
              <a:t>Tool Complexity</a:t>
            </a:r>
            <a:endParaRPr lang="en-US" sz="1100" dirty="0"/>
          </a:p>
        </p:txBody>
      </p:sp>
      <p:sp>
        <p:nvSpPr>
          <p:cNvPr id="24" name="Text 22"/>
          <p:cNvSpPr/>
          <p:nvPr/>
        </p:nvSpPr>
        <p:spPr>
          <a:xfrm>
            <a:off x="3429000" y="3749040"/>
            <a:ext cx="24231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Existing solutions like Portainer and Rancher are over-engineered for small teams</a:t>
            </a:r>
            <a:endParaRPr lang="en-US" sz="850" dirty="0"/>
          </a:p>
        </p:txBody>
      </p:sp>
      <p:sp>
        <p:nvSpPr>
          <p:cNvPr id="25" name="Shape 23"/>
          <p:cNvSpPr/>
          <p:nvPr/>
        </p:nvSpPr>
        <p:spPr>
          <a:xfrm>
            <a:off x="6217920" y="2926080"/>
            <a:ext cx="2697480" cy="1508760"/>
          </a:xfrm>
          <a:prstGeom prst="roundRect">
            <a:avLst>
              <a:gd name="adj" fmla="val 6061"/>
            </a:avLst>
          </a:prstGeom>
          <a:solidFill>
            <a:srgbClr val="EEF2F7"/>
          </a:solidFill>
          <a:ln w="12700">
            <a:solidFill>
              <a:srgbClr val="8B6355"/>
            </a:solidFill>
            <a:prstDash val="solid"/>
          </a:ln>
          <a:effectLst>
            <a:outerShdw blurRad="101600" dist="25400" dir="2700000" algn="bl" rotWithShape="0">
              <a:srgbClr val="1A2B3C">
                <a:alpha val="25000"/>
              </a:srgbClr>
            </a:outerShdw>
          </a:effectLst>
        </p:spPr>
      </p:sp>
      <p:sp>
        <p:nvSpPr>
          <p:cNvPr id="26" name="Text 24"/>
          <p:cNvSpPr/>
          <p:nvPr/>
        </p:nvSpPr>
        <p:spPr>
          <a:xfrm>
            <a:off x="6217920" y="3035808"/>
            <a:ext cx="2697480" cy="457200"/>
          </a:xfrm>
          <a:prstGeom prst="rect">
            <a:avLst/>
          </a:prstGeom>
          <a:noFill/>
          <a:ln/>
        </p:spPr>
        <p:txBody>
          <a:bodyPr wrap="square" rtlCol="0" anchor="ctr"/>
          <a:lstStyle/>
          <a:p>
            <a:pPr marL="0" indent="0" algn="ctr">
              <a:buNone/>
            </a:pPr>
            <a:r>
              <a:rPr lang="en-US" sz="2000" dirty="0">
                <a:solidFill>
                  <a:srgbClr val="1A2B3C"/>
                </a:solidFill>
              </a:rPr>
              <a:t>💸</a:t>
            </a:r>
            <a:endParaRPr lang="en-US" sz="2000" dirty="0"/>
          </a:p>
        </p:txBody>
      </p:sp>
      <p:sp>
        <p:nvSpPr>
          <p:cNvPr id="27" name="Text 25"/>
          <p:cNvSpPr/>
          <p:nvPr/>
        </p:nvSpPr>
        <p:spPr>
          <a:xfrm>
            <a:off x="6355080" y="3456432"/>
            <a:ext cx="2423160" cy="320040"/>
          </a:xfrm>
          <a:prstGeom prst="rect">
            <a:avLst/>
          </a:prstGeom>
          <a:noFill/>
          <a:ln/>
        </p:spPr>
        <p:txBody>
          <a:bodyPr wrap="square" rtlCol="0" anchor="ctr"/>
          <a:lstStyle/>
          <a:p>
            <a:pPr marL="0" indent="0" algn="ctr">
              <a:buNone/>
            </a:pPr>
            <a:r>
              <a:rPr lang="en-US" sz="1100" b="1" dirty="0">
                <a:solidFill>
                  <a:srgbClr val="8B6355"/>
                </a:solidFill>
                <a:latin typeface="Calibri" pitchFamily="34" charset="0"/>
                <a:ea typeface="Calibri" pitchFamily="34" charset="-122"/>
                <a:cs typeface="Calibri" pitchFamily="34" charset="-120"/>
              </a:rPr>
              <a:t>High Operational Cost</a:t>
            </a:r>
            <a:endParaRPr lang="en-US" sz="1100" dirty="0"/>
          </a:p>
        </p:txBody>
      </p:sp>
      <p:sp>
        <p:nvSpPr>
          <p:cNvPr id="28" name="Text 26"/>
          <p:cNvSpPr/>
          <p:nvPr/>
        </p:nvSpPr>
        <p:spPr>
          <a:xfrm>
            <a:off x="6355080" y="3749040"/>
            <a:ext cx="24231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Teams need dedicated DevOps engineers just to manage container infrastructure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3A7D8C">
              <a:alpha val="12000"/>
            </a:srgbClr>
          </a:solidFill>
          <a:ln w="12700">
            <a:solidFill>
              <a:srgbClr val="3A7D8C">
                <a:alpha val="12000"/>
              </a:srgbClr>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1E3A5F"/>
                </a:solidFill>
                <a:latin typeface="Calibri" pitchFamily="34" charset="0"/>
                <a:ea typeface="Calibri" pitchFamily="34" charset="-122"/>
                <a:cs typeface="Calibri" pitchFamily="34" charset="-120"/>
              </a:rPr>
              <a:t>Our Solution</a:t>
            </a:r>
            <a:endParaRPr lang="en-US" sz="3000" dirty="0"/>
          </a:p>
        </p:txBody>
      </p:sp>
      <p:sp>
        <p:nvSpPr>
          <p:cNvPr id="4" name="Text 2"/>
          <p:cNvSpPr/>
          <p:nvPr/>
        </p:nvSpPr>
        <p:spPr>
          <a:xfrm>
            <a:off x="457200" y="658368"/>
            <a:ext cx="8229600" cy="320040"/>
          </a:xfrm>
          <a:prstGeom prst="rect">
            <a:avLst/>
          </a:prstGeom>
          <a:noFill/>
          <a:ln/>
        </p:spPr>
        <p:txBody>
          <a:bodyPr wrap="square" rtlCol="0" anchor="ctr"/>
          <a:lstStyle/>
          <a:p>
            <a:pPr marL="0" indent="0">
              <a:buNone/>
            </a:pPr>
            <a:r>
              <a:rPr lang="en-US" sz="1300" dirty="0">
                <a:solidFill>
                  <a:srgbClr val="2E6DA4"/>
                </a:solidFill>
                <a:latin typeface="Calibri" pitchFamily="34" charset="0"/>
                <a:ea typeface="Calibri" pitchFamily="34" charset="-122"/>
                <a:cs typeface="Calibri" pitchFamily="34" charset="-120"/>
              </a:rPr>
              <a:t>AI-Powered Docker Natural Language Dashboard — just ask, and it works</a:t>
            </a:r>
            <a:endParaRPr lang="en-US" sz="1300" dirty="0"/>
          </a:p>
        </p:txBody>
      </p:sp>
      <p:sp>
        <p:nvSpPr>
          <p:cNvPr id="5" name="Shape 3"/>
          <p:cNvSpPr/>
          <p:nvPr/>
        </p:nvSpPr>
        <p:spPr>
          <a:xfrm>
            <a:off x="2926080" y="1097280"/>
            <a:ext cx="3291840" cy="594360"/>
          </a:xfrm>
          <a:prstGeom prst="roundRect">
            <a:avLst>
              <a:gd name="adj" fmla="val 23077"/>
            </a:avLst>
          </a:prstGeom>
          <a:solidFill>
            <a:srgbClr val="5B6E7C">
              <a:alpha val="85000"/>
            </a:srgbClr>
          </a:solidFill>
          <a:ln w="25400">
            <a:solidFill>
              <a:srgbClr val="5B6E7C"/>
            </a:solidFill>
            <a:prstDash val="solid"/>
          </a:ln>
        </p:spPr>
      </p:sp>
      <p:sp>
        <p:nvSpPr>
          <p:cNvPr id="6" name="Text 4"/>
          <p:cNvSpPr/>
          <p:nvPr/>
        </p:nvSpPr>
        <p:spPr>
          <a:xfrm>
            <a:off x="2926080" y="1097280"/>
            <a:ext cx="3291840" cy="594360"/>
          </a:xfrm>
          <a:prstGeom prst="rect">
            <a:avLst/>
          </a:prstGeom>
          <a:noFill/>
          <a:ln/>
        </p:spPr>
        <p:txBody>
          <a:bodyPr wrap="square" lIns="0" tIns="0" rIns="0" bIns="0" rtlCol="0" anchor="ctr"/>
          <a:lstStyle/>
          <a:p>
            <a:pPr marL="0" indent="0" algn="ctr">
              <a:buNone/>
            </a:pPr>
            <a:r>
              <a:rPr lang="en-US" sz="1150" b="1" dirty="0">
                <a:solidFill>
                  <a:srgbClr val="1E3A5F"/>
                </a:solidFill>
              </a:rPr>
              <a:t>💬  "Show me unhealthy containers"</a:t>
            </a:r>
            <a:endParaRPr lang="en-US" sz="1150" dirty="0"/>
          </a:p>
        </p:txBody>
      </p:sp>
      <p:sp>
        <p:nvSpPr>
          <p:cNvPr id="7" name="Text 5"/>
          <p:cNvSpPr/>
          <p:nvPr/>
        </p:nvSpPr>
        <p:spPr>
          <a:xfrm>
            <a:off x="4297680" y="1737360"/>
            <a:ext cx="548640" cy="365760"/>
          </a:xfrm>
          <a:prstGeom prst="rect">
            <a:avLst/>
          </a:prstGeom>
          <a:noFill/>
          <a:ln/>
        </p:spPr>
        <p:txBody>
          <a:bodyPr wrap="square" rtlCol="0" anchor="ctr"/>
          <a:lstStyle/>
          <a:p>
            <a:pPr marL="0" indent="0" algn="ctr">
              <a:buNone/>
            </a:pPr>
            <a:r>
              <a:rPr lang="en-US" sz="2200" b="1" dirty="0">
                <a:solidFill>
                  <a:srgbClr val="2E6DA4"/>
                </a:solidFill>
              </a:rPr>
              <a:t>↓</a:t>
            </a:r>
            <a:endParaRPr lang="en-US" sz="2200" dirty="0"/>
          </a:p>
        </p:txBody>
      </p:sp>
      <p:sp>
        <p:nvSpPr>
          <p:cNvPr id="8" name="Shape 6"/>
          <p:cNvSpPr/>
          <p:nvPr/>
        </p:nvSpPr>
        <p:spPr>
          <a:xfrm>
            <a:off x="2926080" y="2084832"/>
            <a:ext cx="3291840" cy="594360"/>
          </a:xfrm>
          <a:prstGeom prst="roundRect">
            <a:avLst>
              <a:gd name="adj" fmla="val 23077"/>
            </a:avLst>
          </a:prstGeom>
          <a:solidFill>
            <a:srgbClr val="2E6DA4">
              <a:alpha val="85000"/>
            </a:srgbClr>
          </a:solidFill>
          <a:ln w="25400">
            <a:solidFill>
              <a:srgbClr val="2E6DA4"/>
            </a:solidFill>
            <a:prstDash val="solid"/>
          </a:ln>
        </p:spPr>
      </p:sp>
      <p:sp>
        <p:nvSpPr>
          <p:cNvPr id="9" name="Text 7"/>
          <p:cNvSpPr/>
          <p:nvPr/>
        </p:nvSpPr>
        <p:spPr>
          <a:xfrm>
            <a:off x="2926080" y="2084832"/>
            <a:ext cx="3291840" cy="594360"/>
          </a:xfrm>
          <a:prstGeom prst="rect">
            <a:avLst/>
          </a:prstGeom>
          <a:noFill/>
          <a:ln/>
        </p:spPr>
        <p:txBody>
          <a:bodyPr wrap="square" lIns="0" tIns="0" rIns="0" bIns="0" rtlCol="0" anchor="ctr"/>
          <a:lstStyle/>
          <a:p>
            <a:pPr marL="0" indent="0" algn="ctr">
              <a:buNone/>
            </a:pPr>
            <a:r>
              <a:rPr lang="en-US" sz="1150" b="1" dirty="0">
                <a:solidFill>
                  <a:srgbClr val="1E3A5F"/>
                </a:solidFill>
              </a:rPr>
              <a:t>🤖  AI processes → Docker action</a:t>
            </a:r>
            <a:endParaRPr lang="en-US" sz="1150" dirty="0"/>
          </a:p>
        </p:txBody>
      </p:sp>
      <p:sp>
        <p:nvSpPr>
          <p:cNvPr id="10" name="Text 8"/>
          <p:cNvSpPr/>
          <p:nvPr/>
        </p:nvSpPr>
        <p:spPr>
          <a:xfrm>
            <a:off x="4297680" y="2715768"/>
            <a:ext cx="548640" cy="365760"/>
          </a:xfrm>
          <a:prstGeom prst="rect">
            <a:avLst/>
          </a:prstGeom>
          <a:noFill/>
          <a:ln/>
        </p:spPr>
        <p:txBody>
          <a:bodyPr wrap="square" rtlCol="0" anchor="ctr"/>
          <a:lstStyle/>
          <a:p>
            <a:pPr marL="0" indent="0" algn="ctr">
              <a:buNone/>
            </a:pPr>
            <a:r>
              <a:rPr lang="en-US" sz="2200" b="1" dirty="0">
                <a:solidFill>
                  <a:srgbClr val="2E6DA4"/>
                </a:solidFill>
              </a:rPr>
              <a:t>↓</a:t>
            </a:r>
            <a:endParaRPr lang="en-US" sz="2200" dirty="0"/>
          </a:p>
        </p:txBody>
      </p:sp>
      <p:sp>
        <p:nvSpPr>
          <p:cNvPr id="11" name="Shape 9"/>
          <p:cNvSpPr/>
          <p:nvPr/>
        </p:nvSpPr>
        <p:spPr>
          <a:xfrm>
            <a:off x="2926080" y="3063240"/>
            <a:ext cx="3291840" cy="594360"/>
          </a:xfrm>
          <a:prstGeom prst="roundRect">
            <a:avLst>
              <a:gd name="adj" fmla="val 23077"/>
            </a:avLst>
          </a:prstGeom>
          <a:solidFill>
            <a:srgbClr val="3A7D8C">
              <a:alpha val="85000"/>
            </a:srgbClr>
          </a:solidFill>
          <a:ln w="25400">
            <a:solidFill>
              <a:srgbClr val="3A7D8C"/>
            </a:solidFill>
            <a:prstDash val="solid"/>
          </a:ln>
        </p:spPr>
      </p:sp>
      <p:sp>
        <p:nvSpPr>
          <p:cNvPr id="12" name="Text 10"/>
          <p:cNvSpPr/>
          <p:nvPr/>
        </p:nvSpPr>
        <p:spPr>
          <a:xfrm>
            <a:off x="2926080" y="3063240"/>
            <a:ext cx="3291840" cy="594360"/>
          </a:xfrm>
          <a:prstGeom prst="rect">
            <a:avLst/>
          </a:prstGeom>
          <a:noFill/>
          <a:ln/>
        </p:spPr>
        <p:txBody>
          <a:bodyPr wrap="square" lIns="0" tIns="0" rIns="0" bIns="0" rtlCol="0" anchor="ctr"/>
          <a:lstStyle/>
          <a:p>
            <a:pPr marL="0" indent="0" algn="ctr">
              <a:buNone/>
            </a:pPr>
            <a:r>
              <a:rPr lang="en-US" sz="1150" b="1" dirty="0">
                <a:solidFill>
                  <a:srgbClr val="1E3A5F"/>
                </a:solidFill>
              </a:rPr>
              <a:t>📊  Real-time dashboard response</a:t>
            </a:r>
            <a:endParaRPr lang="en-US" sz="1150" dirty="0"/>
          </a:p>
        </p:txBody>
      </p:sp>
      <p:sp>
        <p:nvSpPr>
          <p:cNvPr id="13" name="Shape 11"/>
          <p:cNvSpPr/>
          <p:nvPr/>
        </p:nvSpPr>
        <p:spPr>
          <a:xfrm>
            <a:off x="274320" y="1188720"/>
            <a:ext cx="2468880" cy="685800"/>
          </a:xfrm>
          <a:prstGeom prst="roundRect">
            <a:avLst>
              <a:gd name="adj" fmla="val 13333"/>
            </a:avLst>
          </a:prstGeom>
          <a:solidFill>
            <a:srgbClr val="EEF2F7"/>
          </a:solidFill>
          <a:ln w="6350">
            <a:solidFill>
              <a:srgbClr val="6B7F8E"/>
            </a:solidFill>
            <a:prstDash val="solid"/>
          </a:ln>
        </p:spPr>
      </p:sp>
      <p:sp>
        <p:nvSpPr>
          <p:cNvPr id="14" name="Text 12"/>
          <p:cNvSpPr/>
          <p:nvPr/>
        </p:nvSpPr>
        <p:spPr>
          <a:xfrm>
            <a:off x="274320" y="1188720"/>
            <a:ext cx="2468880" cy="68580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 AI intent detection</a:t>
            </a:r>
            <a:endParaRPr lang="en-US" sz="1000" dirty="0"/>
          </a:p>
        </p:txBody>
      </p:sp>
      <p:sp>
        <p:nvSpPr>
          <p:cNvPr id="15" name="Shape 13"/>
          <p:cNvSpPr/>
          <p:nvPr/>
        </p:nvSpPr>
        <p:spPr>
          <a:xfrm>
            <a:off x="274320" y="2057400"/>
            <a:ext cx="2468880" cy="685800"/>
          </a:xfrm>
          <a:prstGeom prst="roundRect">
            <a:avLst>
              <a:gd name="adj" fmla="val 13333"/>
            </a:avLst>
          </a:prstGeom>
          <a:solidFill>
            <a:srgbClr val="EEF2F7"/>
          </a:solidFill>
          <a:ln w="6350">
            <a:solidFill>
              <a:srgbClr val="6B7F8E"/>
            </a:solidFill>
            <a:prstDash val="solid"/>
          </a:ln>
        </p:spPr>
      </p:sp>
      <p:sp>
        <p:nvSpPr>
          <p:cNvPr id="16" name="Text 14"/>
          <p:cNvSpPr/>
          <p:nvPr/>
        </p:nvSpPr>
        <p:spPr>
          <a:xfrm>
            <a:off x="274320" y="2057400"/>
            <a:ext cx="2468880" cy="68580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 Real-time WebSocket monitoring</a:t>
            </a:r>
            <a:endParaRPr lang="en-US" sz="1000" dirty="0"/>
          </a:p>
        </p:txBody>
      </p:sp>
      <p:sp>
        <p:nvSpPr>
          <p:cNvPr id="17" name="Shape 15"/>
          <p:cNvSpPr/>
          <p:nvPr/>
        </p:nvSpPr>
        <p:spPr>
          <a:xfrm>
            <a:off x="274320" y="2926080"/>
            <a:ext cx="2468880" cy="685800"/>
          </a:xfrm>
          <a:prstGeom prst="roundRect">
            <a:avLst>
              <a:gd name="adj" fmla="val 13333"/>
            </a:avLst>
          </a:prstGeom>
          <a:solidFill>
            <a:srgbClr val="EEF2F7"/>
          </a:solidFill>
          <a:ln w="6350">
            <a:solidFill>
              <a:srgbClr val="6B7F8E"/>
            </a:solidFill>
            <a:prstDash val="solid"/>
          </a:ln>
        </p:spPr>
      </p:sp>
      <p:sp>
        <p:nvSpPr>
          <p:cNvPr id="18" name="Text 16"/>
          <p:cNvSpPr/>
          <p:nvPr/>
        </p:nvSpPr>
        <p:spPr>
          <a:xfrm>
            <a:off x="274320" y="2926080"/>
            <a:ext cx="2468880" cy="68580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 Globally deployed web demo</a:t>
            </a:r>
            <a:endParaRPr lang="en-US" sz="1000" dirty="0"/>
          </a:p>
        </p:txBody>
      </p:sp>
      <p:sp>
        <p:nvSpPr>
          <p:cNvPr id="19" name="Shape 17"/>
          <p:cNvSpPr/>
          <p:nvPr/>
        </p:nvSpPr>
        <p:spPr>
          <a:xfrm>
            <a:off x="6400800" y="1188720"/>
            <a:ext cx="2468880" cy="685800"/>
          </a:xfrm>
          <a:prstGeom prst="roundRect">
            <a:avLst>
              <a:gd name="adj" fmla="val 13333"/>
            </a:avLst>
          </a:prstGeom>
          <a:solidFill>
            <a:srgbClr val="EEF2F7"/>
          </a:solidFill>
          <a:ln w="6350">
            <a:solidFill>
              <a:srgbClr val="6B7F8E"/>
            </a:solidFill>
            <a:prstDash val="solid"/>
          </a:ln>
        </p:spPr>
      </p:sp>
      <p:sp>
        <p:nvSpPr>
          <p:cNvPr id="20" name="Text 18"/>
          <p:cNvSpPr/>
          <p:nvPr/>
        </p:nvSpPr>
        <p:spPr>
          <a:xfrm>
            <a:off x="6400800" y="1188720"/>
            <a:ext cx="2468880" cy="68580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 Prompt-based deployment</a:t>
            </a:r>
            <a:endParaRPr lang="en-US" sz="1000" dirty="0"/>
          </a:p>
        </p:txBody>
      </p:sp>
      <p:sp>
        <p:nvSpPr>
          <p:cNvPr id="21" name="Shape 19"/>
          <p:cNvSpPr/>
          <p:nvPr/>
        </p:nvSpPr>
        <p:spPr>
          <a:xfrm>
            <a:off x="6400800" y="2057400"/>
            <a:ext cx="2468880" cy="685800"/>
          </a:xfrm>
          <a:prstGeom prst="roundRect">
            <a:avLst>
              <a:gd name="adj" fmla="val 13333"/>
            </a:avLst>
          </a:prstGeom>
          <a:solidFill>
            <a:srgbClr val="EEF2F7"/>
          </a:solidFill>
          <a:ln w="6350">
            <a:solidFill>
              <a:srgbClr val="6B7F8E"/>
            </a:solidFill>
            <a:prstDash val="solid"/>
          </a:ln>
        </p:spPr>
      </p:sp>
      <p:sp>
        <p:nvSpPr>
          <p:cNvPr id="22" name="Text 20"/>
          <p:cNvSpPr/>
          <p:nvPr/>
        </p:nvSpPr>
        <p:spPr>
          <a:xfrm>
            <a:off x="6400800" y="2057400"/>
            <a:ext cx="2468880" cy="68580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 Private container support</a:t>
            </a:r>
            <a:endParaRPr lang="en-US" sz="1000" dirty="0"/>
          </a:p>
        </p:txBody>
      </p:sp>
      <p:sp>
        <p:nvSpPr>
          <p:cNvPr id="23" name="Shape 21"/>
          <p:cNvSpPr/>
          <p:nvPr/>
        </p:nvSpPr>
        <p:spPr>
          <a:xfrm>
            <a:off x="6400800" y="2926080"/>
            <a:ext cx="2468880" cy="685800"/>
          </a:xfrm>
          <a:prstGeom prst="roundRect">
            <a:avLst>
              <a:gd name="adj" fmla="val 13333"/>
            </a:avLst>
          </a:prstGeom>
          <a:solidFill>
            <a:srgbClr val="EEF2F7"/>
          </a:solidFill>
          <a:ln w="6350">
            <a:solidFill>
              <a:srgbClr val="6B7F8E"/>
            </a:solidFill>
            <a:prstDash val="solid"/>
          </a:ln>
        </p:spPr>
      </p:sp>
      <p:sp>
        <p:nvSpPr>
          <p:cNvPr id="24" name="Text 22"/>
          <p:cNvSpPr/>
          <p:nvPr/>
        </p:nvSpPr>
        <p:spPr>
          <a:xfrm>
            <a:off x="6400800" y="2926080"/>
            <a:ext cx="2468880" cy="68580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 Start/Stop/Restart controls</a:t>
            </a:r>
            <a:endParaRPr lang="en-US" sz="1000" dirty="0"/>
          </a:p>
        </p:txBody>
      </p:sp>
      <p:sp>
        <p:nvSpPr>
          <p:cNvPr id="25" name="Text 23"/>
          <p:cNvSpPr/>
          <p:nvPr/>
        </p:nvSpPr>
        <p:spPr>
          <a:xfrm>
            <a:off x="457200" y="4663440"/>
            <a:ext cx="8229600" cy="320040"/>
          </a:xfrm>
          <a:prstGeom prst="rect">
            <a:avLst/>
          </a:prstGeom>
          <a:noFill/>
          <a:ln/>
        </p:spPr>
        <p:txBody>
          <a:bodyPr wrap="square" rtlCol="0" anchor="ctr"/>
          <a:lstStyle/>
          <a:p>
            <a:pPr marL="0" indent="0" algn="ctr">
              <a:buNone/>
            </a:pPr>
            <a:r>
              <a:rPr lang="en-US" sz="1100" i="1" dirty="0">
                <a:solidFill>
                  <a:srgbClr val="7B8FA1"/>
                </a:solidFill>
                <a:latin typeface="Calibri" pitchFamily="34" charset="0"/>
                <a:ea typeface="Calibri" pitchFamily="34" charset="-122"/>
                <a:cs typeface="Calibri" pitchFamily="34" charset="-120"/>
              </a:rPr>
              <a:t>Simplifying DevOps for everyone — from students to enterprise teams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1E3A5F"/>
                </a:solidFill>
                <a:latin typeface="Calibri" pitchFamily="34" charset="0"/>
                <a:ea typeface="Calibri" pitchFamily="34" charset="-122"/>
                <a:cs typeface="Calibri" pitchFamily="34" charset="-120"/>
              </a:rPr>
              <a:t>What is Docker?</a:t>
            </a:r>
            <a:endParaRPr lang="en-US" sz="3000" dirty="0"/>
          </a:p>
        </p:txBody>
      </p:sp>
      <p:sp>
        <p:nvSpPr>
          <p:cNvPr id="3" name="Text 1"/>
          <p:cNvSpPr/>
          <p:nvPr/>
        </p:nvSpPr>
        <p:spPr>
          <a:xfrm>
            <a:off x="457200" y="658368"/>
            <a:ext cx="8229600" cy="320040"/>
          </a:xfrm>
          <a:prstGeom prst="rect">
            <a:avLst/>
          </a:prstGeom>
          <a:noFill/>
          <a:ln/>
        </p:spPr>
        <p:txBody>
          <a:bodyPr wrap="square" rtlCol="0" anchor="ctr"/>
          <a:lstStyle/>
          <a:p>
            <a:pPr marL="0" indent="0">
              <a:buNone/>
            </a:pPr>
            <a:r>
              <a:rPr lang="en-US" sz="1300" dirty="0">
                <a:solidFill>
                  <a:srgbClr val="2E6DA4"/>
                </a:solidFill>
                <a:latin typeface="Calibri" pitchFamily="34" charset="0"/>
                <a:ea typeface="Calibri" pitchFamily="34" charset="-122"/>
                <a:cs typeface="Calibri" pitchFamily="34" charset="-120"/>
              </a:rPr>
              <a:t>From containers to deployment — explained simply</a:t>
            </a:r>
            <a:endParaRPr lang="en-US" sz="1300" dirty="0"/>
          </a:p>
        </p:txBody>
      </p:sp>
      <p:sp>
        <p:nvSpPr>
          <p:cNvPr id="4" name="Shape 2"/>
          <p:cNvSpPr/>
          <p:nvPr/>
        </p:nvSpPr>
        <p:spPr>
          <a:xfrm>
            <a:off x="365760" y="1097280"/>
            <a:ext cx="4114800" cy="777240"/>
          </a:xfrm>
          <a:prstGeom prst="roundRect">
            <a:avLst>
              <a:gd name="adj" fmla="val 11765"/>
            </a:avLst>
          </a:prstGeom>
          <a:solidFill>
            <a:srgbClr val="EEF2F7"/>
          </a:solidFill>
          <a:ln w="12700">
            <a:solidFill>
              <a:srgbClr val="2E6DA4"/>
            </a:solidFill>
            <a:prstDash val="solid"/>
          </a:ln>
        </p:spPr>
      </p:sp>
      <p:sp>
        <p:nvSpPr>
          <p:cNvPr id="5" name="Text 3"/>
          <p:cNvSpPr/>
          <p:nvPr/>
        </p:nvSpPr>
        <p:spPr>
          <a:xfrm>
            <a:off x="502920" y="1170432"/>
            <a:ext cx="3840480" cy="274320"/>
          </a:xfrm>
          <a:prstGeom prst="rect">
            <a:avLst/>
          </a:prstGeom>
          <a:noFill/>
          <a:ln/>
        </p:spPr>
        <p:txBody>
          <a:bodyPr wrap="square" rtlCol="0" anchor="ctr"/>
          <a:lstStyle/>
          <a:p>
            <a:pPr marL="0" indent="0">
              <a:buNone/>
            </a:pPr>
            <a:r>
              <a:rPr lang="en-US" sz="1200" b="1" dirty="0">
                <a:solidFill>
                  <a:srgbClr val="2E6DA4"/>
                </a:solidFill>
                <a:latin typeface="Calibri" pitchFamily="34" charset="0"/>
                <a:ea typeface="Calibri" pitchFamily="34" charset="-122"/>
                <a:cs typeface="Calibri" pitchFamily="34" charset="-120"/>
              </a:rPr>
              <a:t>🐳 Docker</a:t>
            </a:r>
            <a:endParaRPr lang="en-US" sz="1200" dirty="0"/>
          </a:p>
        </p:txBody>
      </p:sp>
      <p:sp>
        <p:nvSpPr>
          <p:cNvPr id="6" name="Text 4"/>
          <p:cNvSpPr/>
          <p:nvPr/>
        </p:nvSpPr>
        <p:spPr>
          <a:xfrm>
            <a:off x="502920" y="1444752"/>
            <a:ext cx="3840480" cy="36576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A platform that packages your application + all its dependencies into a portable box called a container</a:t>
            </a:r>
            <a:endParaRPr lang="en-US" sz="900" dirty="0"/>
          </a:p>
        </p:txBody>
      </p:sp>
      <p:sp>
        <p:nvSpPr>
          <p:cNvPr id="7" name="Shape 5"/>
          <p:cNvSpPr/>
          <p:nvPr/>
        </p:nvSpPr>
        <p:spPr>
          <a:xfrm>
            <a:off x="365760" y="2011680"/>
            <a:ext cx="4114800" cy="777240"/>
          </a:xfrm>
          <a:prstGeom prst="roundRect">
            <a:avLst>
              <a:gd name="adj" fmla="val 11765"/>
            </a:avLst>
          </a:prstGeom>
          <a:solidFill>
            <a:srgbClr val="EEF2F7"/>
          </a:solidFill>
          <a:ln w="12700">
            <a:solidFill>
              <a:srgbClr val="3A7D8C"/>
            </a:solidFill>
            <a:prstDash val="solid"/>
          </a:ln>
        </p:spPr>
      </p:sp>
      <p:sp>
        <p:nvSpPr>
          <p:cNvPr id="8" name="Text 6"/>
          <p:cNvSpPr/>
          <p:nvPr/>
        </p:nvSpPr>
        <p:spPr>
          <a:xfrm>
            <a:off x="502920" y="2084832"/>
            <a:ext cx="3840480" cy="274320"/>
          </a:xfrm>
          <a:prstGeom prst="rect">
            <a:avLst/>
          </a:prstGeom>
          <a:noFill/>
          <a:ln/>
        </p:spPr>
        <p:txBody>
          <a:bodyPr wrap="square" rtlCol="0" anchor="ctr"/>
          <a:lstStyle/>
          <a:p>
            <a:pPr marL="0" indent="0">
              <a:buNone/>
            </a:pPr>
            <a:r>
              <a:rPr lang="en-US" sz="1200" b="1" dirty="0">
                <a:solidFill>
                  <a:srgbClr val="3A7D8C"/>
                </a:solidFill>
                <a:latin typeface="Calibri" pitchFamily="34" charset="0"/>
                <a:ea typeface="Calibri" pitchFamily="34" charset="-122"/>
                <a:cs typeface="Calibri" pitchFamily="34" charset="-120"/>
              </a:rPr>
              <a:t>📦 Container</a:t>
            </a:r>
            <a:endParaRPr lang="en-US" sz="1200" dirty="0"/>
          </a:p>
        </p:txBody>
      </p:sp>
      <p:sp>
        <p:nvSpPr>
          <p:cNvPr id="9" name="Text 7"/>
          <p:cNvSpPr/>
          <p:nvPr/>
        </p:nvSpPr>
        <p:spPr>
          <a:xfrm>
            <a:off x="502920" y="2359152"/>
            <a:ext cx="3840480" cy="36576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A lightweight, isolated environment where your app runs. Like a mini computer inside your computer</a:t>
            </a:r>
            <a:endParaRPr lang="en-US" sz="900" dirty="0"/>
          </a:p>
        </p:txBody>
      </p:sp>
      <p:sp>
        <p:nvSpPr>
          <p:cNvPr id="10" name="Shape 8"/>
          <p:cNvSpPr/>
          <p:nvPr/>
        </p:nvSpPr>
        <p:spPr>
          <a:xfrm>
            <a:off x="365760" y="2926080"/>
            <a:ext cx="4114800" cy="777240"/>
          </a:xfrm>
          <a:prstGeom prst="roundRect">
            <a:avLst>
              <a:gd name="adj" fmla="val 11765"/>
            </a:avLst>
          </a:prstGeom>
          <a:solidFill>
            <a:srgbClr val="EEF2F7"/>
          </a:solidFill>
          <a:ln w="12700">
            <a:solidFill>
              <a:srgbClr val="5B6E7C"/>
            </a:solidFill>
            <a:prstDash val="solid"/>
          </a:ln>
        </p:spPr>
      </p:sp>
      <p:sp>
        <p:nvSpPr>
          <p:cNvPr id="11" name="Text 9"/>
          <p:cNvSpPr/>
          <p:nvPr/>
        </p:nvSpPr>
        <p:spPr>
          <a:xfrm>
            <a:off x="502920" y="2999232"/>
            <a:ext cx="3840480" cy="274320"/>
          </a:xfrm>
          <a:prstGeom prst="rect">
            <a:avLst/>
          </a:prstGeom>
          <a:noFill/>
          <a:ln/>
        </p:spPr>
        <p:txBody>
          <a:bodyPr wrap="square" rtlCol="0" anchor="ctr"/>
          <a:lstStyle/>
          <a:p>
            <a:pPr marL="0" indent="0">
              <a:buNone/>
            </a:pPr>
            <a:r>
              <a:rPr lang="en-US" sz="1200" b="1" dirty="0">
                <a:solidFill>
                  <a:srgbClr val="5B6E7C"/>
                </a:solidFill>
                <a:latin typeface="Calibri" pitchFamily="34" charset="0"/>
                <a:ea typeface="Calibri" pitchFamily="34" charset="-122"/>
                <a:cs typeface="Calibri" pitchFamily="34" charset="-120"/>
              </a:rPr>
              <a:t>🖼️ Docker Image</a:t>
            </a:r>
            <a:endParaRPr lang="en-US" sz="1200" dirty="0"/>
          </a:p>
        </p:txBody>
      </p:sp>
      <p:sp>
        <p:nvSpPr>
          <p:cNvPr id="12" name="Text 10"/>
          <p:cNvSpPr/>
          <p:nvPr/>
        </p:nvSpPr>
        <p:spPr>
          <a:xfrm>
            <a:off x="502920" y="3273552"/>
            <a:ext cx="3840480" cy="36576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A blueprint/template used to create containers. Like a recipe before cooking the meal</a:t>
            </a:r>
            <a:endParaRPr lang="en-US" sz="900" dirty="0"/>
          </a:p>
        </p:txBody>
      </p:sp>
      <p:sp>
        <p:nvSpPr>
          <p:cNvPr id="13" name="Shape 11"/>
          <p:cNvSpPr/>
          <p:nvPr/>
        </p:nvSpPr>
        <p:spPr>
          <a:xfrm>
            <a:off x="365760" y="3840480"/>
            <a:ext cx="4114800" cy="777240"/>
          </a:xfrm>
          <a:prstGeom prst="roundRect">
            <a:avLst>
              <a:gd name="adj" fmla="val 11765"/>
            </a:avLst>
          </a:prstGeom>
          <a:solidFill>
            <a:srgbClr val="EEF2F7"/>
          </a:solidFill>
          <a:ln w="12700">
            <a:solidFill>
              <a:srgbClr val="A07840"/>
            </a:solidFill>
            <a:prstDash val="solid"/>
          </a:ln>
        </p:spPr>
      </p:sp>
      <p:sp>
        <p:nvSpPr>
          <p:cNvPr id="14" name="Text 12"/>
          <p:cNvSpPr/>
          <p:nvPr/>
        </p:nvSpPr>
        <p:spPr>
          <a:xfrm>
            <a:off x="502920" y="3913632"/>
            <a:ext cx="3840480" cy="274320"/>
          </a:xfrm>
          <a:prstGeom prst="rect">
            <a:avLst/>
          </a:prstGeom>
          <a:noFill/>
          <a:ln/>
        </p:spPr>
        <p:txBody>
          <a:bodyPr wrap="square" rtlCol="0" anchor="ctr"/>
          <a:lstStyle/>
          <a:p>
            <a:pPr marL="0" indent="0">
              <a:buNone/>
            </a:pPr>
            <a:r>
              <a:rPr lang="en-US" sz="1200" b="1" dirty="0">
                <a:solidFill>
                  <a:srgbClr val="A07840"/>
                </a:solidFill>
                <a:latin typeface="Calibri" pitchFamily="34" charset="0"/>
                <a:ea typeface="Calibri" pitchFamily="34" charset="-122"/>
                <a:cs typeface="Calibri" pitchFamily="34" charset="-120"/>
              </a:rPr>
              <a:t>⚙️ Docker Engine</a:t>
            </a:r>
            <a:endParaRPr lang="en-US" sz="1200" dirty="0"/>
          </a:p>
        </p:txBody>
      </p:sp>
      <p:sp>
        <p:nvSpPr>
          <p:cNvPr id="15" name="Text 13"/>
          <p:cNvSpPr/>
          <p:nvPr/>
        </p:nvSpPr>
        <p:spPr>
          <a:xfrm>
            <a:off x="502920" y="4187952"/>
            <a:ext cx="3840480" cy="36576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The core software running on your machine that manages and executes containers</a:t>
            </a:r>
            <a:endParaRPr lang="en-US" sz="900" dirty="0"/>
          </a:p>
        </p:txBody>
      </p:sp>
      <p:sp>
        <p:nvSpPr>
          <p:cNvPr id="16" name="Text 14"/>
          <p:cNvSpPr/>
          <p:nvPr/>
        </p:nvSpPr>
        <p:spPr>
          <a:xfrm>
            <a:off x="5029200" y="1051560"/>
            <a:ext cx="3840480" cy="347472"/>
          </a:xfrm>
          <a:prstGeom prst="rect">
            <a:avLst/>
          </a:prstGeom>
          <a:noFill/>
          <a:ln/>
        </p:spPr>
        <p:txBody>
          <a:bodyPr wrap="square"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VM vs Container</a:t>
            </a:r>
            <a:endParaRPr lang="en-US" sz="1400" dirty="0"/>
          </a:p>
        </p:txBody>
      </p:sp>
      <p:sp>
        <p:nvSpPr>
          <p:cNvPr id="17" name="Shape 15"/>
          <p:cNvSpPr/>
          <p:nvPr/>
        </p:nvSpPr>
        <p:spPr>
          <a:xfrm>
            <a:off x="5029200" y="1417320"/>
            <a:ext cx="1280160" cy="438912"/>
          </a:xfrm>
          <a:prstGeom prst="rect">
            <a:avLst/>
          </a:prstGeom>
          <a:solidFill>
            <a:srgbClr val="5B6E7C"/>
          </a:solidFill>
          <a:ln w="6350">
            <a:solidFill>
              <a:srgbClr val="DDE6F0"/>
            </a:solidFill>
            <a:prstDash val="solid"/>
          </a:ln>
        </p:spPr>
      </p:sp>
      <p:sp>
        <p:nvSpPr>
          <p:cNvPr id="18" name="Text 16"/>
          <p:cNvSpPr/>
          <p:nvPr/>
        </p:nvSpPr>
        <p:spPr>
          <a:xfrm>
            <a:off x="5029200" y="1417320"/>
            <a:ext cx="1280160" cy="438912"/>
          </a:xfrm>
          <a:prstGeom prst="rect">
            <a:avLst/>
          </a:prstGeom>
          <a:noFill/>
          <a:ln/>
        </p:spPr>
        <p:txBody>
          <a:bodyPr wrap="square" lIns="0" tIns="0" rIns="0" bIns="0" rtlCol="0" anchor="ctr"/>
          <a:lstStyle/>
          <a:p>
            <a:pPr marL="0" indent="0" algn="ctr">
              <a:buNone/>
            </a:pPr>
            <a:r>
              <a:rPr lang="en-US" sz="900" b="1" dirty="0">
                <a:solidFill>
                  <a:srgbClr val="1E3A5F"/>
                </a:solidFill>
                <a:latin typeface="Calibri" pitchFamily="34" charset="0"/>
                <a:ea typeface="Calibri" pitchFamily="34" charset="-122"/>
                <a:cs typeface="Calibri" pitchFamily="34" charset="-120"/>
              </a:rPr>
              <a:t>Feature</a:t>
            </a:r>
            <a:endParaRPr lang="en-US" sz="900" dirty="0"/>
          </a:p>
        </p:txBody>
      </p:sp>
      <p:sp>
        <p:nvSpPr>
          <p:cNvPr id="19" name="Shape 17"/>
          <p:cNvSpPr/>
          <p:nvPr/>
        </p:nvSpPr>
        <p:spPr>
          <a:xfrm>
            <a:off x="6309360" y="1417320"/>
            <a:ext cx="1280160" cy="438912"/>
          </a:xfrm>
          <a:prstGeom prst="rect">
            <a:avLst/>
          </a:prstGeom>
          <a:solidFill>
            <a:srgbClr val="5B6E7C"/>
          </a:solidFill>
          <a:ln w="6350">
            <a:solidFill>
              <a:srgbClr val="DDE6F0"/>
            </a:solidFill>
            <a:prstDash val="solid"/>
          </a:ln>
        </p:spPr>
      </p:sp>
      <p:sp>
        <p:nvSpPr>
          <p:cNvPr id="20" name="Text 18"/>
          <p:cNvSpPr/>
          <p:nvPr/>
        </p:nvSpPr>
        <p:spPr>
          <a:xfrm>
            <a:off x="6309360" y="1417320"/>
            <a:ext cx="1280160" cy="438912"/>
          </a:xfrm>
          <a:prstGeom prst="rect">
            <a:avLst/>
          </a:prstGeom>
          <a:noFill/>
          <a:ln/>
        </p:spPr>
        <p:txBody>
          <a:bodyPr wrap="square" lIns="0" tIns="0" rIns="0" bIns="0" rtlCol="0" anchor="ctr"/>
          <a:lstStyle/>
          <a:p>
            <a:pPr marL="0" indent="0" algn="ctr">
              <a:buNone/>
            </a:pPr>
            <a:r>
              <a:rPr lang="en-US" sz="900" b="1" dirty="0">
                <a:solidFill>
                  <a:srgbClr val="1E3A5F"/>
                </a:solidFill>
                <a:latin typeface="Calibri" pitchFamily="34" charset="0"/>
                <a:ea typeface="Calibri" pitchFamily="34" charset="-122"/>
                <a:cs typeface="Calibri" pitchFamily="34" charset="-120"/>
              </a:rPr>
              <a:t>Virtual Machine</a:t>
            </a:r>
            <a:endParaRPr lang="en-US" sz="900" dirty="0"/>
          </a:p>
        </p:txBody>
      </p:sp>
      <p:sp>
        <p:nvSpPr>
          <p:cNvPr id="21" name="Shape 19"/>
          <p:cNvSpPr/>
          <p:nvPr/>
        </p:nvSpPr>
        <p:spPr>
          <a:xfrm>
            <a:off x="7589520" y="1417320"/>
            <a:ext cx="1280160" cy="438912"/>
          </a:xfrm>
          <a:prstGeom prst="rect">
            <a:avLst/>
          </a:prstGeom>
          <a:solidFill>
            <a:srgbClr val="5B6E7C"/>
          </a:solidFill>
          <a:ln w="6350">
            <a:solidFill>
              <a:srgbClr val="DDE6F0"/>
            </a:solidFill>
            <a:prstDash val="solid"/>
          </a:ln>
        </p:spPr>
      </p:sp>
      <p:sp>
        <p:nvSpPr>
          <p:cNvPr id="22" name="Text 20"/>
          <p:cNvSpPr/>
          <p:nvPr/>
        </p:nvSpPr>
        <p:spPr>
          <a:xfrm>
            <a:off x="7589520" y="1417320"/>
            <a:ext cx="1280160" cy="438912"/>
          </a:xfrm>
          <a:prstGeom prst="rect">
            <a:avLst/>
          </a:prstGeom>
          <a:noFill/>
          <a:ln/>
        </p:spPr>
        <p:txBody>
          <a:bodyPr wrap="square" lIns="0" tIns="0" rIns="0" bIns="0" rtlCol="0" anchor="ctr"/>
          <a:lstStyle/>
          <a:p>
            <a:pPr marL="0" indent="0" algn="ctr">
              <a:buNone/>
            </a:pPr>
            <a:r>
              <a:rPr lang="en-US" sz="900" b="1" dirty="0">
                <a:solidFill>
                  <a:srgbClr val="1E3A5F"/>
                </a:solidFill>
                <a:latin typeface="Calibri" pitchFamily="34" charset="0"/>
                <a:ea typeface="Calibri" pitchFamily="34" charset="-122"/>
                <a:cs typeface="Calibri" pitchFamily="34" charset="-120"/>
              </a:rPr>
              <a:t>Docker Container</a:t>
            </a:r>
            <a:endParaRPr lang="en-US" sz="900" dirty="0"/>
          </a:p>
        </p:txBody>
      </p:sp>
      <p:sp>
        <p:nvSpPr>
          <p:cNvPr id="23" name="Shape 21"/>
          <p:cNvSpPr/>
          <p:nvPr/>
        </p:nvSpPr>
        <p:spPr>
          <a:xfrm>
            <a:off x="5029200" y="1892808"/>
            <a:ext cx="1280160" cy="438912"/>
          </a:xfrm>
          <a:prstGeom prst="rect">
            <a:avLst/>
          </a:prstGeom>
          <a:solidFill>
            <a:srgbClr val="EEF2F7"/>
          </a:solidFill>
          <a:ln w="6350">
            <a:solidFill>
              <a:srgbClr val="DDE6F0"/>
            </a:solidFill>
            <a:prstDash val="solid"/>
          </a:ln>
        </p:spPr>
      </p:sp>
      <p:sp>
        <p:nvSpPr>
          <p:cNvPr id="24" name="Text 22"/>
          <p:cNvSpPr/>
          <p:nvPr/>
        </p:nvSpPr>
        <p:spPr>
          <a:xfrm>
            <a:off x="5029200" y="1892808"/>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Size</a:t>
            </a:r>
            <a:endParaRPr lang="en-US" sz="900" dirty="0"/>
          </a:p>
        </p:txBody>
      </p:sp>
      <p:sp>
        <p:nvSpPr>
          <p:cNvPr id="25" name="Shape 23"/>
          <p:cNvSpPr/>
          <p:nvPr/>
        </p:nvSpPr>
        <p:spPr>
          <a:xfrm>
            <a:off x="6309360" y="1892808"/>
            <a:ext cx="1280160" cy="438912"/>
          </a:xfrm>
          <a:prstGeom prst="rect">
            <a:avLst/>
          </a:prstGeom>
          <a:solidFill>
            <a:srgbClr val="EEF2F7"/>
          </a:solidFill>
          <a:ln w="6350">
            <a:solidFill>
              <a:srgbClr val="DDE6F0"/>
            </a:solidFill>
            <a:prstDash val="solid"/>
          </a:ln>
        </p:spPr>
      </p:sp>
      <p:sp>
        <p:nvSpPr>
          <p:cNvPr id="26" name="Text 24"/>
          <p:cNvSpPr/>
          <p:nvPr/>
        </p:nvSpPr>
        <p:spPr>
          <a:xfrm>
            <a:off x="6309360" y="1892808"/>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GBs</a:t>
            </a:r>
            <a:endParaRPr lang="en-US" sz="900" dirty="0"/>
          </a:p>
        </p:txBody>
      </p:sp>
      <p:sp>
        <p:nvSpPr>
          <p:cNvPr id="27" name="Shape 25"/>
          <p:cNvSpPr/>
          <p:nvPr/>
        </p:nvSpPr>
        <p:spPr>
          <a:xfrm>
            <a:off x="7589520" y="1892808"/>
            <a:ext cx="1280160" cy="438912"/>
          </a:xfrm>
          <a:prstGeom prst="rect">
            <a:avLst/>
          </a:prstGeom>
          <a:solidFill>
            <a:srgbClr val="EEF2F7"/>
          </a:solidFill>
          <a:ln w="6350">
            <a:solidFill>
              <a:srgbClr val="DDE6F0"/>
            </a:solidFill>
            <a:prstDash val="solid"/>
          </a:ln>
        </p:spPr>
      </p:sp>
      <p:sp>
        <p:nvSpPr>
          <p:cNvPr id="28" name="Text 26"/>
          <p:cNvSpPr/>
          <p:nvPr/>
        </p:nvSpPr>
        <p:spPr>
          <a:xfrm>
            <a:off x="7589520" y="1892808"/>
            <a:ext cx="1280160" cy="438912"/>
          </a:xfrm>
          <a:prstGeom prst="rect">
            <a:avLst/>
          </a:prstGeom>
          <a:noFill/>
          <a:ln/>
        </p:spPr>
        <p:txBody>
          <a:bodyPr wrap="square" lIns="0" tIns="0" rIns="0" bIns="0" rtlCol="0" anchor="ctr"/>
          <a:lstStyle/>
          <a:p>
            <a:pPr marL="0" indent="0" algn="ctr">
              <a:buNone/>
            </a:pPr>
            <a:r>
              <a:rPr lang="en-US" sz="900" dirty="0">
                <a:solidFill>
                  <a:srgbClr val="3A7D8C"/>
                </a:solidFill>
                <a:latin typeface="Calibri" pitchFamily="34" charset="0"/>
                <a:ea typeface="Calibri" pitchFamily="34" charset="-122"/>
                <a:cs typeface="Calibri" pitchFamily="34" charset="-120"/>
              </a:rPr>
              <a:t>MBs</a:t>
            </a:r>
            <a:endParaRPr lang="en-US" sz="900" dirty="0"/>
          </a:p>
        </p:txBody>
      </p:sp>
      <p:sp>
        <p:nvSpPr>
          <p:cNvPr id="29" name="Shape 27"/>
          <p:cNvSpPr/>
          <p:nvPr/>
        </p:nvSpPr>
        <p:spPr>
          <a:xfrm>
            <a:off x="5029200" y="2368296"/>
            <a:ext cx="1280160" cy="438912"/>
          </a:xfrm>
          <a:prstGeom prst="rect">
            <a:avLst/>
          </a:prstGeom>
          <a:solidFill>
            <a:srgbClr val="EEF2F7"/>
          </a:solidFill>
          <a:ln w="6350">
            <a:solidFill>
              <a:srgbClr val="DDE6F0"/>
            </a:solidFill>
            <a:prstDash val="solid"/>
          </a:ln>
        </p:spPr>
      </p:sp>
      <p:sp>
        <p:nvSpPr>
          <p:cNvPr id="30" name="Text 28"/>
          <p:cNvSpPr/>
          <p:nvPr/>
        </p:nvSpPr>
        <p:spPr>
          <a:xfrm>
            <a:off x="5029200" y="2368296"/>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Startup</a:t>
            </a:r>
            <a:endParaRPr lang="en-US" sz="900" dirty="0"/>
          </a:p>
        </p:txBody>
      </p:sp>
      <p:sp>
        <p:nvSpPr>
          <p:cNvPr id="31" name="Shape 29"/>
          <p:cNvSpPr/>
          <p:nvPr/>
        </p:nvSpPr>
        <p:spPr>
          <a:xfrm>
            <a:off x="6309360" y="2368296"/>
            <a:ext cx="1280160" cy="438912"/>
          </a:xfrm>
          <a:prstGeom prst="rect">
            <a:avLst/>
          </a:prstGeom>
          <a:solidFill>
            <a:srgbClr val="EEF2F7"/>
          </a:solidFill>
          <a:ln w="6350">
            <a:solidFill>
              <a:srgbClr val="DDE6F0"/>
            </a:solidFill>
            <a:prstDash val="solid"/>
          </a:ln>
        </p:spPr>
      </p:sp>
      <p:sp>
        <p:nvSpPr>
          <p:cNvPr id="32" name="Text 30"/>
          <p:cNvSpPr/>
          <p:nvPr/>
        </p:nvSpPr>
        <p:spPr>
          <a:xfrm>
            <a:off x="6309360" y="2368296"/>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Minutes</a:t>
            </a:r>
            <a:endParaRPr lang="en-US" sz="900" dirty="0"/>
          </a:p>
        </p:txBody>
      </p:sp>
      <p:sp>
        <p:nvSpPr>
          <p:cNvPr id="33" name="Shape 31"/>
          <p:cNvSpPr/>
          <p:nvPr/>
        </p:nvSpPr>
        <p:spPr>
          <a:xfrm>
            <a:off x="7589520" y="2368296"/>
            <a:ext cx="1280160" cy="438912"/>
          </a:xfrm>
          <a:prstGeom prst="rect">
            <a:avLst/>
          </a:prstGeom>
          <a:solidFill>
            <a:srgbClr val="EEF2F7"/>
          </a:solidFill>
          <a:ln w="6350">
            <a:solidFill>
              <a:srgbClr val="DDE6F0"/>
            </a:solidFill>
            <a:prstDash val="solid"/>
          </a:ln>
        </p:spPr>
      </p:sp>
      <p:sp>
        <p:nvSpPr>
          <p:cNvPr id="34" name="Text 32"/>
          <p:cNvSpPr/>
          <p:nvPr/>
        </p:nvSpPr>
        <p:spPr>
          <a:xfrm>
            <a:off x="7589520" y="2368296"/>
            <a:ext cx="1280160" cy="438912"/>
          </a:xfrm>
          <a:prstGeom prst="rect">
            <a:avLst/>
          </a:prstGeom>
          <a:noFill/>
          <a:ln/>
        </p:spPr>
        <p:txBody>
          <a:bodyPr wrap="square" lIns="0" tIns="0" rIns="0" bIns="0" rtlCol="0" anchor="ctr"/>
          <a:lstStyle/>
          <a:p>
            <a:pPr marL="0" indent="0" algn="ctr">
              <a:buNone/>
            </a:pPr>
            <a:r>
              <a:rPr lang="en-US" sz="900" dirty="0">
                <a:solidFill>
                  <a:srgbClr val="3A7D8C"/>
                </a:solidFill>
                <a:latin typeface="Calibri" pitchFamily="34" charset="0"/>
                <a:ea typeface="Calibri" pitchFamily="34" charset="-122"/>
                <a:cs typeface="Calibri" pitchFamily="34" charset="-120"/>
              </a:rPr>
              <a:t>Seconds</a:t>
            </a:r>
            <a:endParaRPr lang="en-US" sz="900" dirty="0"/>
          </a:p>
        </p:txBody>
      </p:sp>
      <p:sp>
        <p:nvSpPr>
          <p:cNvPr id="35" name="Shape 33"/>
          <p:cNvSpPr/>
          <p:nvPr/>
        </p:nvSpPr>
        <p:spPr>
          <a:xfrm>
            <a:off x="5029200" y="2843784"/>
            <a:ext cx="1280160" cy="438912"/>
          </a:xfrm>
          <a:prstGeom prst="rect">
            <a:avLst/>
          </a:prstGeom>
          <a:solidFill>
            <a:srgbClr val="EEF2F7"/>
          </a:solidFill>
          <a:ln w="6350">
            <a:solidFill>
              <a:srgbClr val="DDE6F0"/>
            </a:solidFill>
            <a:prstDash val="solid"/>
          </a:ln>
        </p:spPr>
      </p:sp>
      <p:sp>
        <p:nvSpPr>
          <p:cNvPr id="36" name="Text 34"/>
          <p:cNvSpPr/>
          <p:nvPr/>
        </p:nvSpPr>
        <p:spPr>
          <a:xfrm>
            <a:off x="5029200" y="2843784"/>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OS</a:t>
            </a:r>
            <a:endParaRPr lang="en-US" sz="900" dirty="0"/>
          </a:p>
        </p:txBody>
      </p:sp>
      <p:sp>
        <p:nvSpPr>
          <p:cNvPr id="37" name="Shape 35"/>
          <p:cNvSpPr/>
          <p:nvPr/>
        </p:nvSpPr>
        <p:spPr>
          <a:xfrm>
            <a:off x="6309360" y="2843784"/>
            <a:ext cx="1280160" cy="438912"/>
          </a:xfrm>
          <a:prstGeom prst="rect">
            <a:avLst/>
          </a:prstGeom>
          <a:solidFill>
            <a:srgbClr val="EEF2F7"/>
          </a:solidFill>
          <a:ln w="6350">
            <a:solidFill>
              <a:srgbClr val="DDE6F0"/>
            </a:solidFill>
            <a:prstDash val="solid"/>
          </a:ln>
        </p:spPr>
      </p:sp>
      <p:sp>
        <p:nvSpPr>
          <p:cNvPr id="38" name="Text 36"/>
          <p:cNvSpPr/>
          <p:nvPr/>
        </p:nvSpPr>
        <p:spPr>
          <a:xfrm>
            <a:off x="6309360" y="2843784"/>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Full OS</a:t>
            </a:r>
            <a:endParaRPr lang="en-US" sz="900" dirty="0"/>
          </a:p>
        </p:txBody>
      </p:sp>
      <p:sp>
        <p:nvSpPr>
          <p:cNvPr id="39" name="Shape 37"/>
          <p:cNvSpPr/>
          <p:nvPr/>
        </p:nvSpPr>
        <p:spPr>
          <a:xfrm>
            <a:off x="7589520" y="2843784"/>
            <a:ext cx="1280160" cy="438912"/>
          </a:xfrm>
          <a:prstGeom prst="rect">
            <a:avLst/>
          </a:prstGeom>
          <a:solidFill>
            <a:srgbClr val="EEF2F7"/>
          </a:solidFill>
          <a:ln w="6350">
            <a:solidFill>
              <a:srgbClr val="DDE6F0"/>
            </a:solidFill>
            <a:prstDash val="solid"/>
          </a:ln>
        </p:spPr>
      </p:sp>
      <p:sp>
        <p:nvSpPr>
          <p:cNvPr id="40" name="Text 38"/>
          <p:cNvSpPr/>
          <p:nvPr/>
        </p:nvSpPr>
        <p:spPr>
          <a:xfrm>
            <a:off x="7589520" y="2843784"/>
            <a:ext cx="1280160" cy="438912"/>
          </a:xfrm>
          <a:prstGeom prst="rect">
            <a:avLst/>
          </a:prstGeom>
          <a:noFill/>
          <a:ln/>
        </p:spPr>
        <p:txBody>
          <a:bodyPr wrap="square" lIns="0" tIns="0" rIns="0" bIns="0" rtlCol="0" anchor="ctr"/>
          <a:lstStyle/>
          <a:p>
            <a:pPr marL="0" indent="0" algn="ctr">
              <a:buNone/>
            </a:pPr>
            <a:r>
              <a:rPr lang="en-US" sz="900" dirty="0">
                <a:solidFill>
                  <a:srgbClr val="3A7D8C"/>
                </a:solidFill>
                <a:latin typeface="Calibri" pitchFamily="34" charset="0"/>
                <a:ea typeface="Calibri" pitchFamily="34" charset="-122"/>
                <a:cs typeface="Calibri" pitchFamily="34" charset="-120"/>
              </a:rPr>
              <a:t>Shared Kernel</a:t>
            </a:r>
            <a:endParaRPr lang="en-US" sz="900" dirty="0"/>
          </a:p>
        </p:txBody>
      </p:sp>
      <p:sp>
        <p:nvSpPr>
          <p:cNvPr id="41" name="Shape 39"/>
          <p:cNvSpPr/>
          <p:nvPr/>
        </p:nvSpPr>
        <p:spPr>
          <a:xfrm>
            <a:off x="5029200" y="3319272"/>
            <a:ext cx="1280160" cy="438912"/>
          </a:xfrm>
          <a:prstGeom prst="rect">
            <a:avLst/>
          </a:prstGeom>
          <a:solidFill>
            <a:srgbClr val="EEF2F7"/>
          </a:solidFill>
          <a:ln w="6350">
            <a:solidFill>
              <a:srgbClr val="DDE6F0"/>
            </a:solidFill>
            <a:prstDash val="solid"/>
          </a:ln>
        </p:spPr>
      </p:sp>
      <p:sp>
        <p:nvSpPr>
          <p:cNvPr id="42" name="Text 40"/>
          <p:cNvSpPr/>
          <p:nvPr/>
        </p:nvSpPr>
        <p:spPr>
          <a:xfrm>
            <a:off x="5029200" y="3319272"/>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Performance</a:t>
            </a:r>
            <a:endParaRPr lang="en-US" sz="900" dirty="0"/>
          </a:p>
        </p:txBody>
      </p:sp>
      <p:sp>
        <p:nvSpPr>
          <p:cNvPr id="43" name="Shape 41"/>
          <p:cNvSpPr/>
          <p:nvPr/>
        </p:nvSpPr>
        <p:spPr>
          <a:xfrm>
            <a:off x="6309360" y="3319272"/>
            <a:ext cx="1280160" cy="438912"/>
          </a:xfrm>
          <a:prstGeom prst="rect">
            <a:avLst/>
          </a:prstGeom>
          <a:solidFill>
            <a:srgbClr val="EEF2F7"/>
          </a:solidFill>
          <a:ln w="6350">
            <a:solidFill>
              <a:srgbClr val="DDE6F0"/>
            </a:solidFill>
            <a:prstDash val="solid"/>
          </a:ln>
        </p:spPr>
      </p:sp>
      <p:sp>
        <p:nvSpPr>
          <p:cNvPr id="44" name="Text 42"/>
          <p:cNvSpPr/>
          <p:nvPr/>
        </p:nvSpPr>
        <p:spPr>
          <a:xfrm>
            <a:off x="6309360" y="3319272"/>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Heavy</a:t>
            </a:r>
            <a:endParaRPr lang="en-US" sz="900" dirty="0"/>
          </a:p>
        </p:txBody>
      </p:sp>
      <p:sp>
        <p:nvSpPr>
          <p:cNvPr id="45" name="Shape 43"/>
          <p:cNvSpPr/>
          <p:nvPr/>
        </p:nvSpPr>
        <p:spPr>
          <a:xfrm>
            <a:off x="7589520" y="3319272"/>
            <a:ext cx="1280160" cy="438912"/>
          </a:xfrm>
          <a:prstGeom prst="rect">
            <a:avLst/>
          </a:prstGeom>
          <a:solidFill>
            <a:srgbClr val="EEF2F7"/>
          </a:solidFill>
          <a:ln w="6350">
            <a:solidFill>
              <a:srgbClr val="DDE6F0"/>
            </a:solidFill>
            <a:prstDash val="solid"/>
          </a:ln>
        </p:spPr>
      </p:sp>
      <p:sp>
        <p:nvSpPr>
          <p:cNvPr id="46" name="Text 44"/>
          <p:cNvSpPr/>
          <p:nvPr/>
        </p:nvSpPr>
        <p:spPr>
          <a:xfrm>
            <a:off x="7589520" y="3319272"/>
            <a:ext cx="1280160" cy="438912"/>
          </a:xfrm>
          <a:prstGeom prst="rect">
            <a:avLst/>
          </a:prstGeom>
          <a:noFill/>
          <a:ln/>
        </p:spPr>
        <p:txBody>
          <a:bodyPr wrap="square" lIns="0" tIns="0" rIns="0" bIns="0" rtlCol="0" anchor="ctr"/>
          <a:lstStyle/>
          <a:p>
            <a:pPr marL="0" indent="0" algn="ctr">
              <a:buNone/>
            </a:pPr>
            <a:r>
              <a:rPr lang="en-US" sz="900" dirty="0">
                <a:solidFill>
                  <a:srgbClr val="3A7D8C"/>
                </a:solidFill>
                <a:latin typeface="Calibri" pitchFamily="34" charset="0"/>
                <a:ea typeface="Calibri" pitchFamily="34" charset="-122"/>
                <a:cs typeface="Calibri" pitchFamily="34" charset="-120"/>
              </a:rPr>
              <a:t>Lightweight</a:t>
            </a:r>
            <a:endParaRPr lang="en-US" sz="900" dirty="0"/>
          </a:p>
        </p:txBody>
      </p:sp>
      <p:sp>
        <p:nvSpPr>
          <p:cNvPr id="47" name="Shape 45"/>
          <p:cNvSpPr/>
          <p:nvPr/>
        </p:nvSpPr>
        <p:spPr>
          <a:xfrm>
            <a:off x="5029200" y="3794760"/>
            <a:ext cx="1280160" cy="438912"/>
          </a:xfrm>
          <a:prstGeom prst="rect">
            <a:avLst/>
          </a:prstGeom>
          <a:solidFill>
            <a:srgbClr val="EEF2F7"/>
          </a:solidFill>
          <a:ln w="6350">
            <a:solidFill>
              <a:srgbClr val="DDE6F0"/>
            </a:solidFill>
            <a:prstDash val="solid"/>
          </a:ln>
        </p:spPr>
      </p:sp>
      <p:sp>
        <p:nvSpPr>
          <p:cNvPr id="48" name="Text 46"/>
          <p:cNvSpPr/>
          <p:nvPr/>
        </p:nvSpPr>
        <p:spPr>
          <a:xfrm>
            <a:off x="5029200" y="3794760"/>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Portability</a:t>
            </a:r>
            <a:endParaRPr lang="en-US" sz="900" dirty="0"/>
          </a:p>
        </p:txBody>
      </p:sp>
      <p:sp>
        <p:nvSpPr>
          <p:cNvPr id="49" name="Shape 47"/>
          <p:cNvSpPr/>
          <p:nvPr/>
        </p:nvSpPr>
        <p:spPr>
          <a:xfrm>
            <a:off x="6309360" y="3794760"/>
            <a:ext cx="1280160" cy="438912"/>
          </a:xfrm>
          <a:prstGeom prst="rect">
            <a:avLst/>
          </a:prstGeom>
          <a:solidFill>
            <a:srgbClr val="EEF2F7"/>
          </a:solidFill>
          <a:ln w="6350">
            <a:solidFill>
              <a:srgbClr val="DDE6F0"/>
            </a:solidFill>
            <a:prstDash val="solid"/>
          </a:ln>
        </p:spPr>
      </p:sp>
      <p:sp>
        <p:nvSpPr>
          <p:cNvPr id="50" name="Text 48"/>
          <p:cNvSpPr/>
          <p:nvPr/>
        </p:nvSpPr>
        <p:spPr>
          <a:xfrm>
            <a:off x="6309360" y="3794760"/>
            <a:ext cx="1280160" cy="438912"/>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Limited</a:t>
            </a:r>
            <a:endParaRPr lang="en-US" sz="900" dirty="0"/>
          </a:p>
        </p:txBody>
      </p:sp>
      <p:sp>
        <p:nvSpPr>
          <p:cNvPr id="51" name="Shape 49"/>
          <p:cNvSpPr/>
          <p:nvPr/>
        </p:nvSpPr>
        <p:spPr>
          <a:xfrm>
            <a:off x="7589520" y="3794760"/>
            <a:ext cx="1280160" cy="438912"/>
          </a:xfrm>
          <a:prstGeom prst="rect">
            <a:avLst/>
          </a:prstGeom>
          <a:solidFill>
            <a:srgbClr val="EEF2F7"/>
          </a:solidFill>
          <a:ln w="6350">
            <a:solidFill>
              <a:srgbClr val="DDE6F0"/>
            </a:solidFill>
            <a:prstDash val="solid"/>
          </a:ln>
        </p:spPr>
      </p:sp>
      <p:sp>
        <p:nvSpPr>
          <p:cNvPr id="52" name="Text 50"/>
          <p:cNvSpPr/>
          <p:nvPr/>
        </p:nvSpPr>
        <p:spPr>
          <a:xfrm>
            <a:off x="7589520" y="3794760"/>
            <a:ext cx="1280160" cy="438912"/>
          </a:xfrm>
          <a:prstGeom prst="rect">
            <a:avLst/>
          </a:prstGeom>
          <a:noFill/>
          <a:ln/>
        </p:spPr>
        <p:txBody>
          <a:bodyPr wrap="square" lIns="0" tIns="0" rIns="0" bIns="0" rtlCol="0" anchor="ctr"/>
          <a:lstStyle/>
          <a:p>
            <a:pPr marL="0" indent="0" algn="ctr">
              <a:buNone/>
            </a:pPr>
            <a:r>
              <a:rPr lang="en-US" sz="900" dirty="0">
                <a:solidFill>
                  <a:srgbClr val="3A7D8C"/>
                </a:solidFill>
                <a:latin typeface="Calibri" pitchFamily="34" charset="0"/>
                <a:ea typeface="Calibri" pitchFamily="34" charset="-122"/>
                <a:cs typeface="Calibri" pitchFamily="34" charset="-120"/>
              </a:rPr>
              <a:t>Very High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1E3A5F"/>
                </a:solidFill>
                <a:latin typeface="Calibri" pitchFamily="34" charset="0"/>
                <a:ea typeface="Calibri" pitchFamily="34" charset="-122"/>
                <a:cs typeface="Calibri" pitchFamily="34" charset="-120"/>
              </a:rPr>
              <a:t>Why Docker</a:t>
            </a:r>
            <a:r>
              <a:rPr lang="en-IN" sz="3000" b="1" dirty="0">
                <a:solidFill>
                  <a:srgbClr val="1E3A5F"/>
                </a:solidFill>
                <a:latin typeface="Calibri" pitchFamily="34" charset="0"/>
                <a:ea typeface="Calibri" pitchFamily="34" charset="-122"/>
                <a:cs typeface="Calibri" pitchFamily="34" charset="-120"/>
              </a:rPr>
              <a:t> is used Globally</a:t>
            </a:r>
            <a:endParaRPr lang="en-US" sz="3000" dirty="0"/>
          </a:p>
        </p:txBody>
      </p:sp>
      <p:sp>
        <p:nvSpPr>
          <p:cNvPr id="3" name="Text 1"/>
          <p:cNvSpPr/>
          <p:nvPr/>
        </p:nvSpPr>
        <p:spPr>
          <a:xfrm>
            <a:off x="457200" y="658368"/>
            <a:ext cx="8229600" cy="320040"/>
          </a:xfrm>
          <a:prstGeom prst="rect">
            <a:avLst/>
          </a:prstGeom>
          <a:noFill/>
          <a:ln/>
        </p:spPr>
        <p:txBody>
          <a:bodyPr wrap="square" rtlCol="0" anchor="ctr"/>
          <a:lstStyle/>
          <a:p>
            <a:pPr marL="0" indent="0">
              <a:buNone/>
            </a:pPr>
            <a:r>
              <a:rPr lang="en-US" sz="1300" dirty="0">
                <a:solidFill>
                  <a:srgbClr val="3A7D8C"/>
                </a:solidFill>
                <a:latin typeface="Calibri" pitchFamily="34" charset="0"/>
                <a:ea typeface="Calibri" pitchFamily="34" charset="-122"/>
                <a:cs typeface="Calibri" pitchFamily="34" charset="-120"/>
              </a:rPr>
              <a:t>Industry-leading container platform — backed by real-world demand</a:t>
            </a:r>
            <a:endParaRPr lang="en-US" sz="1300" dirty="0"/>
          </a:p>
        </p:txBody>
      </p:sp>
      <p:sp>
        <p:nvSpPr>
          <p:cNvPr id="4" name="Shape 2"/>
          <p:cNvSpPr/>
          <p:nvPr/>
        </p:nvSpPr>
        <p:spPr>
          <a:xfrm>
            <a:off x="365760" y="1143000"/>
            <a:ext cx="2697480" cy="1554480"/>
          </a:xfrm>
          <a:prstGeom prst="roundRect">
            <a:avLst>
              <a:gd name="adj" fmla="val 7059"/>
            </a:avLst>
          </a:prstGeom>
          <a:solidFill>
            <a:srgbClr val="EEF2F7"/>
          </a:solidFill>
          <a:ln w="19050">
            <a:solidFill>
              <a:srgbClr val="2E6DA4"/>
            </a:solidFill>
            <a:prstDash val="solid"/>
          </a:ln>
          <a:effectLst>
            <a:outerShdw blurRad="101600" dist="25400" dir="2700000" algn="bl" rotWithShape="0">
              <a:srgbClr val="1A2B3C">
                <a:alpha val="20000"/>
              </a:srgbClr>
            </a:outerShdw>
          </a:effectLst>
        </p:spPr>
      </p:sp>
      <p:sp>
        <p:nvSpPr>
          <p:cNvPr id="5" name="Text 3"/>
          <p:cNvSpPr/>
          <p:nvPr/>
        </p:nvSpPr>
        <p:spPr>
          <a:xfrm>
            <a:off x="365760" y="1234440"/>
            <a:ext cx="2697480" cy="41148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6" name="Text 4"/>
          <p:cNvSpPr/>
          <p:nvPr/>
        </p:nvSpPr>
        <p:spPr>
          <a:xfrm>
            <a:off x="475488" y="1645920"/>
            <a:ext cx="2478024" cy="274320"/>
          </a:xfrm>
          <a:prstGeom prst="rect">
            <a:avLst/>
          </a:prstGeom>
          <a:noFill/>
          <a:ln/>
        </p:spPr>
        <p:txBody>
          <a:bodyPr wrap="square" rtlCol="0" anchor="ctr"/>
          <a:lstStyle/>
          <a:p>
            <a:pPr marL="0" indent="0" algn="ctr">
              <a:buNone/>
            </a:pPr>
            <a:r>
              <a:rPr lang="en-US" sz="1150" b="1" dirty="0">
                <a:solidFill>
                  <a:srgbClr val="2E6DA4"/>
                </a:solidFill>
                <a:latin typeface="Calibri" pitchFamily="34" charset="0"/>
                <a:ea typeface="Calibri" pitchFamily="34" charset="-122"/>
                <a:cs typeface="Calibri" pitchFamily="34" charset="-120"/>
              </a:rPr>
              <a:t>Lightweight &amp; Fast</a:t>
            </a:r>
            <a:endParaRPr lang="en-US" sz="1150" dirty="0"/>
          </a:p>
        </p:txBody>
      </p:sp>
      <p:sp>
        <p:nvSpPr>
          <p:cNvPr id="7" name="Text 5"/>
          <p:cNvSpPr/>
          <p:nvPr/>
        </p:nvSpPr>
        <p:spPr>
          <a:xfrm>
            <a:off x="475488" y="1920240"/>
            <a:ext cx="2478024" cy="41148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Containers use 70% less resources than VMs</a:t>
            </a:r>
            <a:endParaRPr lang="en-US" sz="850" dirty="0"/>
          </a:p>
        </p:txBody>
      </p:sp>
      <p:sp>
        <p:nvSpPr>
          <p:cNvPr id="8" name="Shape 6"/>
          <p:cNvSpPr/>
          <p:nvPr/>
        </p:nvSpPr>
        <p:spPr>
          <a:xfrm>
            <a:off x="685800" y="2350008"/>
            <a:ext cx="2057400" cy="219456"/>
          </a:xfrm>
          <a:prstGeom prst="roundRect">
            <a:avLst>
              <a:gd name="adj" fmla="val 25000"/>
            </a:avLst>
          </a:prstGeom>
          <a:solidFill>
            <a:srgbClr val="2E6DA4">
              <a:alpha val="25000"/>
            </a:srgbClr>
          </a:solidFill>
          <a:ln w="6350">
            <a:solidFill>
              <a:srgbClr val="2E6DA4"/>
            </a:solidFill>
            <a:prstDash val="solid"/>
          </a:ln>
        </p:spPr>
      </p:sp>
      <p:sp>
        <p:nvSpPr>
          <p:cNvPr id="9" name="Text 7"/>
          <p:cNvSpPr/>
          <p:nvPr/>
        </p:nvSpPr>
        <p:spPr>
          <a:xfrm>
            <a:off x="685800" y="2350008"/>
            <a:ext cx="2057400" cy="219456"/>
          </a:xfrm>
          <a:prstGeom prst="rect">
            <a:avLst/>
          </a:prstGeom>
          <a:noFill/>
          <a:ln/>
        </p:spPr>
        <p:txBody>
          <a:bodyPr wrap="square" lIns="0" tIns="0" rIns="0" bIns="0" rtlCol="0" anchor="ctr"/>
          <a:lstStyle/>
          <a:p>
            <a:pPr marL="0" indent="0" algn="ctr">
              <a:buNone/>
            </a:pPr>
            <a:r>
              <a:rPr lang="en-US" sz="800" b="1" dirty="0">
                <a:solidFill>
                  <a:srgbClr val="1E3A5F"/>
                </a:solidFill>
              </a:rPr>
              <a:t>70% lighter</a:t>
            </a:r>
            <a:endParaRPr lang="en-US" sz="800" dirty="0"/>
          </a:p>
        </p:txBody>
      </p:sp>
      <p:sp>
        <p:nvSpPr>
          <p:cNvPr id="10" name="Shape 8"/>
          <p:cNvSpPr/>
          <p:nvPr/>
        </p:nvSpPr>
        <p:spPr>
          <a:xfrm>
            <a:off x="3291840" y="1143000"/>
            <a:ext cx="2697480" cy="1554480"/>
          </a:xfrm>
          <a:prstGeom prst="roundRect">
            <a:avLst>
              <a:gd name="adj" fmla="val 7059"/>
            </a:avLst>
          </a:prstGeom>
          <a:solidFill>
            <a:srgbClr val="EEF2F7"/>
          </a:solidFill>
          <a:ln w="19050">
            <a:solidFill>
              <a:srgbClr val="5B6E7C"/>
            </a:solidFill>
            <a:prstDash val="solid"/>
          </a:ln>
          <a:effectLst>
            <a:outerShdw blurRad="101600" dist="25400" dir="2700000" algn="bl" rotWithShape="0">
              <a:srgbClr val="1A2B3C">
                <a:alpha val="20000"/>
              </a:srgbClr>
            </a:outerShdw>
          </a:effectLst>
        </p:spPr>
      </p:sp>
      <p:sp>
        <p:nvSpPr>
          <p:cNvPr id="11" name="Text 9"/>
          <p:cNvSpPr/>
          <p:nvPr/>
        </p:nvSpPr>
        <p:spPr>
          <a:xfrm>
            <a:off x="3291840" y="1234440"/>
            <a:ext cx="2697480" cy="41148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12" name="Text 10"/>
          <p:cNvSpPr/>
          <p:nvPr/>
        </p:nvSpPr>
        <p:spPr>
          <a:xfrm>
            <a:off x="3401568" y="1645920"/>
            <a:ext cx="2478024" cy="274320"/>
          </a:xfrm>
          <a:prstGeom prst="rect">
            <a:avLst/>
          </a:prstGeom>
          <a:noFill/>
          <a:ln/>
        </p:spPr>
        <p:txBody>
          <a:bodyPr wrap="square" rtlCol="0" anchor="ctr"/>
          <a:lstStyle/>
          <a:p>
            <a:pPr marL="0" indent="0" algn="ctr">
              <a:buNone/>
            </a:pPr>
            <a:r>
              <a:rPr lang="en-US" sz="1150" b="1" dirty="0">
                <a:solidFill>
                  <a:srgbClr val="5B6E7C"/>
                </a:solidFill>
                <a:latin typeface="Calibri" pitchFamily="34" charset="0"/>
                <a:ea typeface="Calibri" pitchFamily="34" charset="-122"/>
                <a:cs typeface="Calibri" pitchFamily="34" charset="-120"/>
              </a:rPr>
              <a:t>Portability</a:t>
            </a:r>
            <a:endParaRPr lang="en-US" sz="1150" dirty="0"/>
          </a:p>
        </p:txBody>
      </p:sp>
      <p:sp>
        <p:nvSpPr>
          <p:cNvPr id="13" name="Text 11"/>
          <p:cNvSpPr/>
          <p:nvPr/>
        </p:nvSpPr>
        <p:spPr>
          <a:xfrm>
            <a:off x="3401568" y="1920240"/>
            <a:ext cx="2478024" cy="41148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Run anywhere — laptop, server, cloud, edge</a:t>
            </a:r>
            <a:endParaRPr lang="en-US" sz="850" dirty="0"/>
          </a:p>
        </p:txBody>
      </p:sp>
      <p:sp>
        <p:nvSpPr>
          <p:cNvPr id="14" name="Shape 12"/>
          <p:cNvSpPr/>
          <p:nvPr/>
        </p:nvSpPr>
        <p:spPr>
          <a:xfrm>
            <a:off x="3611880" y="2350008"/>
            <a:ext cx="2057400" cy="219456"/>
          </a:xfrm>
          <a:prstGeom prst="roundRect">
            <a:avLst>
              <a:gd name="adj" fmla="val 25000"/>
            </a:avLst>
          </a:prstGeom>
          <a:solidFill>
            <a:srgbClr val="5B6E7C">
              <a:alpha val="25000"/>
            </a:srgbClr>
          </a:solidFill>
          <a:ln w="6350">
            <a:solidFill>
              <a:srgbClr val="5B6E7C"/>
            </a:solidFill>
            <a:prstDash val="solid"/>
          </a:ln>
        </p:spPr>
      </p:sp>
      <p:sp>
        <p:nvSpPr>
          <p:cNvPr id="15" name="Text 13"/>
          <p:cNvSpPr/>
          <p:nvPr/>
        </p:nvSpPr>
        <p:spPr>
          <a:xfrm>
            <a:off x="3611880" y="2350008"/>
            <a:ext cx="2057400" cy="219456"/>
          </a:xfrm>
          <a:prstGeom prst="rect">
            <a:avLst/>
          </a:prstGeom>
          <a:noFill/>
          <a:ln/>
        </p:spPr>
        <p:txBody>
          <a:bodyPr wrap="square" lIns="0" tIns="0" rIns="0" bIns="0" rtlCol="0" anchor="ctr"/>
          <a:lstStyle/>
          <a:p>
            <a:pPr marL="0" indent="0" algn="ctr">
              <a:buNone/>
            </a:pPr>
            <a:r>
              <a:rPr lang="en-US" sz="800" b="1" dirty="0">
                <a:solidFill>
                  <a:srgbClr val="1E3A5F"/>
                </a:solidFill>
              </a:rPr>
              <a:t>100% portable</a:t>
            </a:r>
            <a:endParaRPr lang="en-US" sz="800" dirty="0"/>
          </a:p>
        </p:txBody>
      </p:sp>
      <p:sp>
        <p:nvSpPr>
          <p:cNvPr id="16" name="Shape 14"/>
          <p:cNvSpPr/>
          <p:nvPr/>
        </p:nvSpPr>
        <p:spPr>
          <a:xfrm>
            <a:off x="6217920" y="1143000"/>
            <a:ext cx="2697480" cy="1554480"/>
          </a:xfrm>
          <a:prstGeom prst="roundRect">
            <a:avLst>
              <a:gd name="adj" fmla="val 7059"/>
            </a:avLst>
          </a:prstGeom>
          <a:solidFill>
            <a:srgbClr val="EEF2F7"/>
          </a:solidFill>
          <a:ln w="19050">
            <a:solidFill>
              <a:srgbClr val="3A7D8C"/>
            </a:solidFill>
            <a:prstDash val="solid"/>
          </a:ln>
          <a:effectLst>
            <a:outerShdw blurRad="101600" dist="25400" dir="2700000" algn="bl" rotWithShape="0">
              <a:srgbClr val="1A2B3C">
                <a:alpha val="20000"/>
              </a:srgbClr>
            </a:outerShdw>
          </a:effectLst>
        </p:spPr>
      </p:sp>
      <p:sp>
        <p:nvSpPr>
          <p:cNvPr id="17" name="Text 15"/>
          <p:cNvSpPr/>
          <p:nvPr/>
        </p:nvSpPr>
        <p:spPr>
          <a:xfrm>
            <a:off x="6217920" y="1234440"/>
            <a:ext cx="2697480" cy="41148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18" name="Text 16"/>
          <p:cNvSpPr/>
          <p:nvPr/>
        </p:nvSpPr>
        <p:spPr>
          <a:xfrm>
            <a:off x="6327648" y="1645920"/>
            <a:ext cx="2478024" cy="274320"/>
          </a:xfrm>
          <a:prstGeom prst="rect">
            <a:avLst/>
          </a:prstGeom>
          <a:noFill/>
          <a:ln/>
        </p:spPr>
        <p:txBody>
          <a:bodyPr wrap="square" rtlCol="0" anchor="ctr"/>
          <a:lstStyle/>
          <a:p>
            <a:pPr marL="0" indent="0" algn="ctr">
              <a:buNone/>
            </a:pPr>
            <a:r>
              <a:rPr lang="en-US" sz="1150" b="1" dirty="0">
                <a:solidFill>
                  <a:srgbClr val="3A7D8C"/>
                </a:solidFill>
                <a:latin typeface="Calibri" pitchFamily="34" charset="0"/>
                <a:ea typeface="Calibri" pitchFamily="34" charset="-122"/>
                <a:cs typeface="Calibri" pitchFamily="34" charset="-120"/>
              </a:rPr>
              <a:t>Isolation</a:t>
            </a:r>
            <a:endParaRPr lang="en-US" sz="1150" dirty="0"/>
          </a:p>
        </p:txBody>
      </p:sp>
      <p:sp>
        <p:nvSpPr>
          <p:cNvPr id="19" name="Text 17"/>
          <p:cNvSpPr/>
          <p:nvPr/>
        </p:nvSpPr>
        <p:spPr>
          <a:xfrm>
            <a:off x="6327648" y="1920240"/>
            <a:ext cx="2478024" cy="41148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Each container is sandboxed — failures don't cascade</a:t>
            </a:r>
            <a:endParaRPr lang="en-US" sz="850" dirty="0"/>
          </a:p>
        </p:txBody>
      </p:sp>
      <p:sp>
        <p:nvSpPr>
          <p:cNvPr id="20" name="Shape 18"/>
          <p:cNvSpPr/>
          <p:nvPr/>
        </p:nvSpPr>
        <p:spPr>
          <a:xfrm>
            <a:off x="6537960" y="2350008"/>
            <a:ext cx="2057400" cy="219456"/>
          </a:xfrm>
          <a:prstGeom prst="roundRect">
            <a:avLst>
              <a:gd name="adj" fmla="val 25000"/>
            </a:avLst>
          </a:prstGeom>
          <a:solidFill>
            <a:srgbClr val="3A7D8C">
              <a:alpha val="25000"/>
            </a:srgbClr>
          </a:solidFill>
          <a:ln w="6350">
            <a:solidFill>
              <a:srgbClr val="3A7D8C"/>
            </a:solidFill>
            <a:prstDash val="solid"/>
          </a:ln>
        </p:spPr>
      </p:sp>
      <p:sp>
        <p:nvSpPr>
          <p:cNvPr id="21" name="Text 19"/>
          <p:cNvSpPr/>
          <p:nvPr/>
        </p:nvSpPr>
        <p:spPr>
          <a:xfrm>
            <a:off x="6537960" y="2350008"/>
            <a:ext cx="2057400" cy="219456"/>
          </a:xfrm>
          <a:prstGeom prst="rect">
            <a:avLst/>
          </a:prstGeom>
          <a:noFill/>
          <a:ln/>
        </p:spPr>
        <p:txBody>
          <a:bodyPr wrap="square" lIns="0" tIns="0" rIns="0" bIns="0" rtlCol="0" anchor="ctr"/>
          <a:lstStyle/>
          <a:p>
            <a:pPr marL="0" indent="0" algn="ctr">
              <a:buNone/>
            </a:pPr>
            <a:r>
              <a:rPr lang="en-US" sz="800" b="1" dirty="0">
                <a:solidFill>
                  <a:srgbClr val="1E3A5F"/>
                </a:solidFill>
              </a:rPr>
              <a:t>Zero-risk isolation</a:t>
            </a:r>
            <a:endParaRPr lang="en-US" sz="800" dirty="0"/>
          </a:p>
        </p:txBody>
      </p:sp>
      <p:sp>
        <p:nvSpPr>
          <p:cNvPr id="22" name="Shape 20"/>
          <p:cNvSpPr/>
          <p:nvPr/>
        </p:nvSpPr>
        <p:spPr>
          <a:xfrm>
            <a:off x="365760" y="2926080"/>
            <a:ext cx="2697480" cy="1554480"/>
          </a:xfrm>
          <a:prstGeom prst="roundRect">
            <a:avLst>
              <a:gd name="adj" fmla="val 7059"/>
            </a:avLst>
          </a:prstGeom>
          <a:solidFill>
            <a:srgbClr val="EEF2F7"/>
          </a:solidFill>
          <a:ln w="19050">
            <a:solidFill>
              <a:srgbClr val="A07840"/>
            </a:solidFill>
            <a:prstDash val="solid"/>
          </a:ln>
          <a:effectLst>
            <a:outerShdw blurRad="101600" dist="25400" dir="2700000" algn="bl" rotWithShape="0">
              <a:srgbClr val="1A2B3C">
                <a:alpha val="20000"/>
              </a:srgbClr>
            </a:outerShdw>
          </a:effectLst>
        </p:spPr>
      </p:sp>
      <p:sp>
        <p:nvSpPr>
          <p:cNvPr id="23" name="Text 21"/>
          <p:cNvSpPr/>
          <p:nvPr/>
        </p:nvSpPr>
        <p:spPr>
          <a:xfrm>
            <a:off x="365760" y="3017520"/>
            <a:ext cx="2697480" cy="41148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24" name="Text 22"/>
          <p:cNvSpPr/>
          <p:nvPr/>
        </p:nvSpPr>
        <p:spPr>
          <a:xfrm>
            <a:off x="475488" y="3429000"/>
            <a:ext cx="2478024" cy="274320"/>
          </a:xfrm>
          <a:prstGeom prst="rect">
            <a:avLst/>
          </a:prstGeom>
          <a:noFill/>
          <a:ln/>
        </p:spPr>
        <p:txBody>
          <a:bodyPr wrap="square" rtlCol="0" anchor="ctr"/>
          <a:lstStyle/>
          <a:p>
            <a:pPr marL="0" indent="0" algn="ctr">
              <a:buNone/>
            </a:pPr>
            <a:r>
              <a:rPr lang="en-US" sz="1150" b="1" dirty="0">
                <a:solidFill>
                  <a:srgbClr val="A07840"/>
                </a:solidFill>
                <a:latin typeface="Calibri" pitchFamily="34" charset="0"/>
                <a:ea typeface="Calibri" pitchFamily="34" charset="-122"/>
                <a:cs typeface="Calibri" pitchFamily="34" charset="-120"/>
              </a:rPr>
              <a:t>Scalability</a:t>
            </a:r>
            <a:endParaRPr lang="en-US" sz="1150" dirty="0"/>
          </a:p>
        </p:txBody>
      </p:sp>
      <p:sp>
        <p:nvSpPr>
          <p:cNvPr id="25" name="Text 23"/>
          <p:cNvSpPr/>
          <p:nvPr/>
        </p:nvSpPr>
        <p:spPr>
          <a:xfrm>
            <a:off x="475488" y="3703320"/>
            <a:ext cx="2478024" cy="41148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Scale from 1 to 1000 containers with same commands</a:t>
            </a:r>
            <a:endParaRPr lang="en-US" sz="850" dirty="0"/>
          </a:p>
        </p:txBody>
      </p:sp>
      <p:sp>
        <p:nvSpPr>
          <p:cNvPr id="26" name="Shape 24"/>
          <p:cNvSpPr/>
          <p:nvPr/>
        </p:nvSpPr>
        <p:spPr>
          <a:xfrm>
            <a:off x="685800" y="4133088"/>
            <a:ext cx="2057400" cy="219456"/>
          </a:xfrm>
          <a:prstGeom prst="roundRect">
            <a:avLst>
              <a:gd name="adj" fmla="val 25000"/>
            </a:avLst>
          </a:prstGeom>
          <a:solidFill>
            <a:srgbClr val="A07840">
              <a:alpha val="25000"/>
            </a:srgbClr>
          </a:solidFill>
          <a:ln w="6350">
            <a:solidFill>
              <a:srgbClr val="A07840"/>
            </a:solidFill>
            <a:prstDash val="solid"/>
          </a:ln>
        </p:spPr>
      </p:sp>
      <p:sp>
        <p:nvSpPr>
          <p:cNvPr id="27" name="Text 25"/>
          <p:cNvSpPr/>
          <p:nvPr/>
        </p:nvSpPr>
        <p:spPr>
          <a:xfrm>
            <a:off x="685800" y="4133088"/>
            <a:ext cx="2057400" cy="219456"/>
          </a:xfrm>
          <a:prstGeom prst="rect">
            <a:avLst/>
          </a:prstGeom>
          <a:noFill/>
          <a:ln/>
        </p:spPr>
        <p:txBody>
          <a:bodyPr wrap="square" lIns="0" tIns="0" rIns="0" bIns="0" rtlCol="0" anchor="ctr"/>
          <a:lstStyle/>
          <a:p>
            <a:pPr marL="0" indent="0" algn="ctr">
              <a:buNone/>
            </a:pPr>
            <a:r>
              <a:rPr lang="en-US" sz="800" b="1" dirty="0">
                <a:solidFill>
                  <a:srgbClr val="1E3A5F"/>
                </a:solidFill>
              </a:rPr>
              <a:t>Infinitely scalable</a:t>
            </a:r>
            <a:endParaRPr lang="en-US" sz="800" dirty="0"/>
          </a:p>
        </p:txBody>
      </p:sp>
      <p:sp>
        <p:nvSpPr>
          <p:cNvPr id="28" name="Shape 26"/>
          <p:cNvSpPr/>
          <p:nvPr/>
        </p:nvSpPr>
        <p:spPr>
          <a:xfrm>
            <a:off x="3291840" y="2926080"/>
            <a:ext cx="2697480" cy="1554480"/>
          </a:xfrm>
          <a:prstGeom prst="roundRect">
            <a:avLst>
              <a:gd name="adj" fmla="val 7059"/>
            </a:avLst>
          </a:prstGeom>
          <a:solidFill>
            <a:srgbClr val="EEF2F7"/>
          </a:solidFill>
          <a:ln w="19050">
            <a:solidFill>
              <a:srgbClr val="9B3A3A"/>
            </a:solidFill>
            <a:prstDash val="solid"/>
          </a:ln>
          <a:effectLst>
            <a:outerShdw blurRad="101600" dist="25400" dir="2700000" algn="bl" rotWithShape="0">
              <a:srgbClr val="1A2B3C">
                <a:alpha val="20000"/>
              </a:srgbClr>
            </a:outerShdw>
          </a:effectLst>
        </p:spPr>
      </p:sp>
      <p:sp>
        <p:nvSpPr>
          <p:cNvPr id="29" name="Text 27"/>
          <p:cNvSpPr/>
          <p:nvPr/>
        </p:nvSpPr>
        <p:spPr>
          <a:xfrm>
            <a:off x="3291840" y="3017520"/>
            <a:ext cx="2697480" cy="41148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30" name="Text 28"/>
          <p:cNvSpPr/>
          <p:nvPr/>
        </p:nvSpPr>
        <p:spPr>
          <a:xfrm>
            <a:off x="3401568" y="3429000"/>
            <a:ext cx="2478024" cy="274320"/>
          </a:xfrm>
          <a:prstGeom prst="rect">
            <a:avLst/>
          </a:prstGeom>
          <a:noFill/>
          <a:ln/>
        </p:spPr>
        <p:txBody>
          <a:bodyPr wrap="square" rtlCol="0" anchor="ctr"/>
          <a:lstStyle/>
          <a:p>
            <a:pPr marL="0" indent="0" algn="ctr">
              <a:buNone/>
            </a:pPr>
            <a:r>
              <a:rPr lang="en-US" sz="1150" b="1" dirty="0">
                <a:solidFill>
                  <a:srgbClr val="9B3A3A"/>
                </a:solidFill>
                <a:latin typeface="Calibri" pitchFamily="34" charset="0"/>
                <a:ea typeface="Calibri" pitchFamily="34" charset="-122"/>
                <a:cs typeface="Calibri" pitchFamily="34" charset="-120"/>
              </a:rPr>
              <a:t>Industry Standard</a:t>
            </a:r>
            <a:endParaRPr lang="en-US" sz="1150" dirty="0"/>
          </a:p>
        </p:txBody>
      </p:sp>
      <p:sp>
        <p:nvSpPr>
          <p:cNvPr id="31" name="Text 29"/>
          <p:cNvSpPr/>
          <p:nvPr/>
        </p:nvSpPr>
        <p:spPr>
          <a:xfrm>
            <a:off x="3401568" y="3703320"/>
            <a:ext cx="2478024" cy="41148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Used by Netflix, Google, Meta, Amazon at massive scale</a:t>
            </a:r>
            <a:endParaRPr lang="en-US" sz="850" dirty="0"/>
          </a:p>
        </p:txBody>
      </p:sp>
      <p:sp>
        <p:nvSpPr>
          <p:cNvPr id="32" name="Shape 30"/>
          <p:cNvSpPr/>
          <p:nvPr/>
        </p:nvSpPr>
        <p:spPr>
          <a:xfrm>
            <a:off x="3611880" y="4133088"/>
            <a:ext cx="2057400" cy="219456"/>
          </a:xfrm>
          <a:prstGeom prst="roundRect">
            <a:avLst>
              <a:gd name="adj" fmla="val 25000"/>
            </a:avLst>
          </a:prstGeom>
          <a:solidFill>
            <a:srgbClr val="9B3A3A">
              <a:alpha val="25000"/>
            </a:srgbClr>
          </a:solidFill>
          <a:ln w="6350">
            <a:solidFill>
              <a:srgbClr val="9B3A3A"/>
            </a:solidFill>
            <a:prstDash val="solid"/>
          </a:ln>
        </p:spPr>
      </p:sp>
      <p:sp>
        <p:nvSpPr>
          <p:cNvPr id="33" name="Text 31"/>
          <p:cNvSpPr/>
          <p:nvPr/>
        </p:nvSpPr>
        <p:spPr>
          <a:xfrm>
            <a:off x="3611880" y="4133088"/>
            <a:ext cx="2057400" cy="219456"/>
          </a:xfrm>
          <a:prstGeom prst="rect">
            <a:avLst/>
          </a:prstGeom>
          <a:noFill/>
          <a:ln/>
        </p:spPr>
        <p:txBody>
          <a:bodyPr wrap="square" lIns="0" tIns="0" rIns="0" bIns="0" rtlCol="0" anchor="ctr"/>
          <a:lstStyle/>
          <a:p>
            <a:pPr marL="0" indent="0" algn="ctr">
              <a:buNone/>
            </a:pPr>
            <a:r>
              <a:rPr lang="en-US" sz="800" b="1" dirty="0">
                <a:solidFill>
                  <a:srgbClr val="1E3A5F"/>
                </a:solidFill>
              </a:rPr>
              <a:t>70% of enterprises</a:t>
            </a:r>
            <a:endParaRPr lang="en-US" sz="800" dirty="0"/>
          </a:p>
        </p:txBody>
      </p:sp>
      <p:sp>
        <p:nvSpPr>
          <p:cNvPr id="34" name="Shape 32"/>
          <p:cNvSpPr/>
          <p:nvPr/>
        </p:nvSpPr>
        <p:spPr>
          <a:xfrm>
            <a:off x="6217920" y="2926080"/>
            <a:ext cx="2697480" cy="1554480"/>
          </a:xfrm>
          <a:prstGeom prst="roundRect">
            <a:avLst>
              <a:gd name="adj" fmla="val 7059"/>
            </a:avLst>
          </a:prstGeom>
          <a:solidFill>
            <a:srgbClr val="EEF2F7"/>
          </a:solidFill>
          <a:ln w="19050">
            <a:solidFill>
              <a:srgbClr val="8B6355"/>
            </a:solidFill>
            <a:prstDash val="solid"/>
          </a:ln>
          <a:effectLst>
            <a:outerShdw blurRad="101600" dist="25400" dir="2700000" algn="bl" rotWithShape="0">
              <a:srgbClr val="1A2B3C">
                <a:alpha val="20000"/>
              </a:srgbClr>
            </a:outerShdw>
          </a:effectLst>
        </p:spPr>
      </p:sp>
      <p:sp>
        <p:nvSpPr>
          <p:cNvPr id="35" name="Text 33"/>
          <p:cNvSpPr/>
          <p:nvPr/>
        </p:nvSpPr>
        <p:spPr>
          <a:xfrm>
            <a:off x="6217920" y="3017520"/>
            <a:ext cx="2697480" cy="41148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36" name="Text 34"/>
          <p:cNvSpPr/>
          <p:nvPr/>
        </p:nvSpPr>
        <p:spPr>
          <a:xfrm>
            <a:off x="6327648" y="3429000"/>
            <a:ext cx="2478024" cy="274320"/>
          </a:xfrm>
          <a:prstGeom prst="rect">
            <a:avLst/>
          </a:prstGeom>
          <a:noFill/>
          <a:ln/>
        </p:spPr>
        <p:txBody>
          <a:bodyPr wrap="square" rtlCol="0" anchor="ctr"/>
          <a:lstStyle/>
          <a:p>
            <a:pPr marL="0" indent="0" algn="ctr">
              <a:buNone/>
            </a:pPr>
            <a:r>
              <a:rPr lang="en-US" sz="1150" b="1" dirty="0">
                <a:solidFill>
                  <a:srgbClr val="8B6355"/>
                </a:solidFill>
                <a:latin typeface="Calibri" pitchFamily="34" charset="0"/>
                <a:ea typeface="Calibri" pitchFamily="34" charset="-122"/>
                <a:cs typeface="Calibri" pitchFamily="34" charset="-120"/>
              </a:rPr>
              <a:t>Rich Ecosystem</a:t>
            </a:r>
            <a:endParaRPr lang="en-US" sz="1150" dirty="0"/>
          </a:p>
        </p:txBody>
      </p:sp>
      <p:sp>
        <p:nvSpPr>
          <p:cNvPr id="37" name="Text 35"/>
          <p:cNvSpPr/>
          <p:nvPr/>
        </p:nvSpPr>
        <p:spPr>
          <a:xfrm>
            <a:off x="6327648" y="3703320"/>
            <a:ext cx="2478024" cy="41148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Docker Hub, Compose, Swarm, Kubernetes integration</a:t>
            </a:r>
            <a:endParaRPr lang="en-US" sz="850" dirty="0"/>
          </a:p>
        </p:txBody>
      </p:sp>
      <p:sp>
        <p:nvSpPr>
          <p:cNvPr id="38" name="Shape 36"/>
          <p:cNvSpPr/>
          <p:nvPr/>
        </p:nvSpPr>
        <p:spPr>
          <a:xfrm>
            <a:off x="6537960" y="4133088"/>
            <a:ext cx="2057400" cy="219456"/>
          </a:xfrm>
          <a:prstGeom prst="roundRect">
            <a:avLst>
              <a:gd name="adj" fmla="val 25000"/>
            </a:avLst>
          </a:prstGeom>
          <a:solidFill>
            <a:srgbClr val="8B6355">
              <a:alpha val="25000"/>
            </a:srgbClr>
          </a:solidFill>
          <a:ln w="6350">
            <a:solidFill>
              <a:srgbClr val="8B6355"/>
            </a:solidFill>
            <a:prstDash val="solid"/>
          </a:ln>
        </p:spPr>
      </p:sp>
      <p:sp>
        <p:nvSpPr>
          <p:cNvPr id="39" name="Text 37"/>
          <p:cNvSpPr/>
          <p:nvPr/>
        </p:nvSpPr>
        <p:spPr>
          <a:xfrm>
            <a:off x="6537960" y="4133088"/>
            <a:ext cx="2057400" cy="219456"/>
          </a:xfrm>
          <a:prstGeom prst="rect">
            <a:avLst/>
          </a:prstGeom>
          <a:noFill/>
          <a:ln/>
        </p:spPr>
        <p:txBody>
          <a:bodyPr wrap="square" lIns="0" tIns="0" rIns="0" bIns="0" rtlCol="0" anchor="ctr"/>
          <a:lstStyle/>
          <a:p>
            <a:pPr marL="0" indent="0" algn="ctr">
              <a:buNone/>
            </a:pPr>
            <a:r>
              <a:rPr lang="en-US" sz="800" b="1" dirty="0">
                <a:solidFill>
                  <a:srgbClr val="1E3A5F"/>
                </a:solidFill>
              </a:rPr>
              <a:t>500K+ images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Frontend Architecture</a:t>
            </a:r>
            <a:endParaRPr lang="en-US" sz="2800" dirty="0"/>
          </a:p>
        </p:txBody>
      </p:sp>
      <p:sp>
        <p:nvSpPr>
          <p:cNvPr id="3" name="Text 1"/>
          <p:cNvSpPr/>
          <p:nvPr/>
        </p:nvSpPr>
        <p:spPr>
          <a:xfrm>
            <a:off x="457200" y="612648"/>
            <a:ext cx="8229600" cy="292608"/>
          </a:xfrm>
          <a:prstGeom prst="rect">
            <a:avLst/>
          </a:prstGeom>
          <a:noFill/>
          <a:ln/>
        </p:spPr>
        <p:txBody>
          <a:bodyPr wrap="square" rtlCol="0" anchor="ctr"/>
          <a:lstStyle/>
          <a:p>
            <a:pPr marL="0" indent="0">
              <a:buNone/>
            </a:pPr>
            <a:r>
              <a:rPr lang="en-US" sz="1200" dirty="0">
                <a:solidFill>
                  <a:srgbClr val="5B6E7C"/>
                </a:solidFill>
                <a:latin typeface="Calibri" pitchFamily="34" charset="0"/>
                <a:ea typeface="Calibri" pitchFamily="34" charset="-122"/>
                <a:cs typeface="Calibri" pitchFamily="34" charset="-120"/>
              </a:rPr>
              <a:t>Why React + TypeScript + Tailwind CSS — and why NOT Streamlit</a:t>
            </a:r>
            <a:endParaRPr lang="en-US" sz="1200" dirty="0"/>
          </a:p>
        </p:txBody>
      </p:sp>
      <p:sp>
        <p:nvSpPr>
          <p:cNvPr id="4" name="Shape 2"/>
          <p:cNvSpPr/>
          <p:nvPr/>
        </p:nvSpPr>
        <p:spPr>
          <a:xfrm>
            <a:off x="365760" y="1005840"/>
            <a:ext cx="4114800" cy="2103120"/>
          </a:xfrm>
          <a:prstGeom prst="roundRect">
            <a:avLst>
              <a:gd name="adj" fmla="val 5217"/>
            </a:avLst>
          </a:prstGeom>
          <a:solidFill>
            <a:srgbClr val="EEF2F7"/>
          </a:solidFill>
          <a:ln w="19050">
            <a:solidFill>
              <a:srgbClr val="9B3A3A"/>
            </a:solidFill>
            <a:prstDash val="solid"/>
          </a:ln>
        </p:spPr>
      </p:sp>
      <p:sp>
        <p:nvSpPr>
          <p:cNvPr id="5" name="Text 3"/>
          <p:cNvSpPr/>
          <p:nvPr/>
        </p:nvSpPr>
        <p:spPr>
          <a:xfrm>
            <a:off x="502920" y="1078992"/>
            <a:ext cx="3840480" cy="347472"/>
          </a:xfrm>
          <a:prstGeom prst="rect">
            <a:avLst/>
          </a:prstGeom>
          <a:noFill/>
          <a:ln/>
        </p:spPr>
        <p:txBody>
          <a:bodyPr wrap="square" rtlCol="0" anchor="ctr"/>
          <a:lstStyle/>
          <a:p>
            <a:pPr marL="0" indent="0">
              <a:buNone/>
            </a:pPr>
            <a:r>
              <a:rPr lang="en-US" sz="1300" b="1" dirty="0">
                <a:solidFill>
                  <a:srgbClr val="9B3A3A"/>
                </a:solidFill>
                <a:latin typeface="Calibri" pitchFamily="34" charset="0"/>
                <a:ea typeface="Calibri" pitchFamily="34" charset="-122"/>
                <a:cs typeface="Calibri" pitchFamily="34" charset="-120"/>
              </a:rPr>
              <a:t>❌  Why NOT Streamlit</a:t>
            </a:r>
            <a:endParaRPr lang="en-US" sz="1300" dirty="0"/>
          </a:p>
        </p:txBody>
      </p:sp>
      <p:sp>
        <p:nvSpPr>
          <p:cNvPr id="6" name="Text 4"/>
          <p:cNvSpPr/>
          <p:nvPr/>
        </p:nvSpPr>
        <p:spPr>
          <a:xfrm>
            <a:off x="548640" y="144475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Python-only — limits Node.js/Docker integration</a:t>
            </a:r>
            <a:endParaRPr lang="en-US" sz="900" dirty="0"/>
          </a:p>
        </p:txBody>
      </p:sp>
      <p:sp>
        <p:nvSpPr>
          <p:cNvPr id="7" name="Text 5"/>
          <p:cNvSpPr/>
          <p:nvPr/>
        </p:nvSpPr>
        <p:spPr>
          <a:xfrm>
            <a:off x="548640" y="176479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No real-time WebSocket support</a:t>
            </a:r>
            <a:endParaRPr lang="en-US" sz="900" dirty="0"/>
          </a:p>
        </p:txBody>
      </p:sp>
      <p:sp>
        <p:nvSpPr>
          <p:cNvPr id="8" name="Text 6"/>
          <p:cNvSpPr/>
          <p:nvPr/>
        </p:nvSpPr>
        <p:spPr>
          <a:xfrm>
            <a:off x="548640" y="208483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Designed for data science, not production apps</a:t>
            </a:r>
            <a:endParaRPr lang="en-US" sz="900" dirty="0"/>
          </a:p>
        </p:txBody>
      </p:sp>
      <p:sp>
        <p:nvSpPr>
          <p:cNvPr id="9" name="Text 7"/>
          <p:cNvSpPr/>
          <p:nvPr/>
        </p:nvSpPr>
        <p:spPr>
          <a:xfrm>
            <a:off x="548640" y="240487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Cannot build custom component layouts</a:t>
            </a:r>
            <a:endParaRPr lang="en-US" sz="900" dirty="0"/>
          </a:p>
        </p:txBody>
      </p:sp>
      <p:sp>
        <p:nvSpPr>
          <p:cNvPr id="10" name="Text 8"/>
          <p:cNvSpPr/>
          <p:nvPr/>
        </p:nvSpPr>
        <p:spPr>
          <a:xfrm>
            <a:off x="548640" y="272491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Poor mobile responsiveness</a:t>
            </a:r>
            <a:endParaRPr lang="en-US" sz="900" dirty="0"/>
          </a:p>
        </p:txBody>
      </p:sp>
      <p:sp>
        <p:nvSpPr>
          <p:cNvPr id="11" name="Shape 9"/>
          <p:cNvSpPr/>
          <p:nvPr/>
        </p:nvSpPr>
        <p:spPr>
          <a:xfrm>
            <a:off x="4663440" y="1005840"/>
            <a:ext cx="4114800" cy="2103120"/>
          </a:xfrm>
          <a:prstGeom prst="roundRect">
            <a:avLst>
              <a:gd name="adj" fmla="val 5217"/>
            </a:avLst>
          </a:prstGeom>
          <a:solidFill>
            <a:srgbClr val="EEF2F7"/>
          </a:solidFill>
          <a:ln w="19050">
            <a:solidFill>
              <a:srgbClr val="3A7D8C"/>
            </a:solidFill>
            <a:prstDash val="solid"/>
          </a:ln>
        </p:spPr>
      </p:sp>
      <p:sp>
        <p:nvSpPr>
          <p:cNvPr id="12" name="Text 10"/>
          <p:cNvSpPr/>
          <p:nvPr/>
        </p:nvSpPr>
        <p:spPr>
          <a:xfrm>
            <a:off x="4800600" y="1078992"/>
            <a:ext cx="3840480" cy="347472"/>
          </a:xfrm>
          <a:prstGeom prst="rect">
            <a:avLst/>
          </a:prstGeom>
          <a:noFill/>
          <a:ln/>
        </p:spPr>
        <p:txBody>
          <a:bodyPr wrap="square" rtlCol="0" anchor="ctr"/>
          <a:lstStyle/>
          <a:p>
            <a:pPr marL="0" indent="0">
              <a:buNone/>
            </a:pPr>
            <a:r>
              <a:rPr lang="en-US" sz="1300" b="1" dirty="0">
                <a:solidFill>
                  <a:srgbClr val="3A7D8C"/>
                </a:solidFill>
                <a:latin typeface="Calibri" pitchFamily="34" charset="0"/>
                <a:ea typeface="Calibri" pitchFamily="34" charset="-122"/>
                <a:cs typeface="Calibri" pitchFamily="34" charset="-120"/>
              </a:rPr>
              <a:t>✅  Why React + TypeScript</a:t>
            </a:r>
            <a:endParaRPr lang="en-US" sz="1300" dirty="0"/>
          </a:p>
        </p:txBody>
      </p:sp>
      <p:sp>
        <p:nvSpPr>
          <p:cNvPr id="13" name="Text 11"/>
          <p:cNvSpPr/>
          <p:nvPr/>
        </p:nvSpPr>
        <p:spPr>
          <a:xfrm>
            <a:off x="4800600" y="144475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Component-based — reusable, maintainable UI</a:t>
            </a:r>
            <a:endParaRPr lang="en-US" sz="900" dirty="0"/>
          </a:p>
        </p:txBody>
      </p:sp>
      <p:sp>
        <p:nvSpPr>
          <p:cNvPr id="14" name="Text 12"/>
          <p:cNvSpPr/>
          <p:nvPr/>
        </p:nvSpPr>
        <p:spPr>
          <a:xfrm>
            <a:off x="4800600" y="176479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TypeScript catches bugs at compile time</a:t>
            </a:r>
            <a:endParaRPr lang="en-US" sz="900" dirty="0"/>
          </a:p>
        </p:txBody>
      </p:sp>
      <p:sp>
        <p:nvSpPr>
          <p:cNvPr id="15" name="Text 13"/>
          <p:cNvSpPr/>
          <p:nvPr/>
        </p:nvSpPr>
        <p:spPr>
          <a:xfrm>
            <a:off x="4800600" y="208483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Real-time WebSocket + motion animations</a:t>
            </a:r>
            <a:endParaRPr lang="en-US" sz="900" dirty="0"/>
          </a:p>
        </p:txBody>
      </p:sp>
      <p:sp>
        <p:nvSpPr>
          <p:cNvPr id="16" name="Text 14"/>
          <p:cNvSpPr/>
          <p:nvPr/>
        </p:nvSpPr>
        <p:spPr>
          <a:xfrm>
            <a:off x="4800600" y="240487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Tailwind CSS for rapid, responsive styling</a:t>
            </a:r>
            <a:endParaRPr lang="en-US" sz="900" dirty="0"/>
          </a:p>
        </p:txBody>
      </p:sp>
      <p:sp>
        <p:nvSpPr>
          <p:cNvPr id="17" name="Text 15"/>
          <p:cNvSpPr/>
          <p:nvPr/>
        </p:nvSpPr>
        <p:spPr>
          <a:xfrm>
            <a:off x="4800600" y="2724912"/>
            <a:ext cx="3840480" cy="274320"/>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Industry standard — every company uses React</a:t>
            </a:r>
            <a:endParaRPr lang="en-US" sz="900" dirty="0"/>
          </a:p>
        </p:txBody>
      </p:sp>
      <p:sp>
        <p:nvSpPr>
          <p:cNvPr id="18" name="Shape 16"/>
          <p:cNvSpPr/>
          <p:nvPr/>
        </p:nvSpPr>
        <p:spPr>
          <a:xfrm>
            <a:off x="365760" y="3291840"/>
            <a:ext cx="1965960" cy="1554480"/>
          </a:xfrm>
          <a:prstGeom prst="roundRect">
            <a:avLst>
              <a:gd name="adj" fmla="val 5882"/>
            </a:avLst>
          </a:prstGeom>
          <a:solidFill>
            <a:srgbClr val="EEF2F7"/>
          </a:solidFill>
          <a:ln w="12700">
            <a:solidFill>
              <a:srgbClr val="2E6DA4"/>
            </a:solidFill>
            <a:prstDash val="solid"/>
          </a:ln>
        </p:spPr>
      </p:sp>
      <p:sp>
        <p:nvSpPr>
          <p:cNvPr id="19" name="Shape 17"/>
          <p:cNvSpPr/>
          <p:nvPr/>
        </p:nvSpPr>
        <p:spPr>
          <a:xfrm>
            <a:off x="1051560" y="3401568"/>
            <a:ext cx="594360" cy="594360"/>
          </a:xfrm>
          <a:prstGeom prst="ellipse">
            <a:avLst/>
          </a:prstGeom>
          <a:solidFill>
            <a:srgbClr val="2E6DA4">
              <a:alpha val="80000"/>
            </a:srgbClr>
          </a:solidFill>
          <a:ln w="12700">
            <a:solidFill>
              <a:srgbClr val="2E6DA4"/>
            </a:solidFill>
            <a:prstDash val="solid"/>
          </a:ln>
        </p:spPr>
      </p:sp>
      <p:sp>
        <p:nvSpPr>
          <p:cNvPr id="20" name="Text 18"/>
          <p:cNvSpPr/>
          <p:nvPr/>
        </p:nvSpPr>
        <p:spPr>
          <a:xfrm>
            <a:off x="1051560" y="3401568"/>
            <a:ext cx="594360" cy="594360"/>
          </a:xfrm>
          <a:prstGeom prst="rect">
            <a:avLst/>
          </a:prstGeom>
          <a:noFill/>
          <a:ln/>
        </p:spPr>
        <p:txBody>
          <a:bodyPr wrap="square" lIns="0" tIns="0" rIns="0" bIns="0" rtlCol="0" anchor="ctr"/>
          <a:lstStyle/>
          <a:p>
            <a:pPr marL="0" indent="0" algn="ctr">
              <a:buNone/>
            </a:pPr>
            <a:r>
              <a:rPr lang="en-US" sz="1800" b="1" dirty="0">
                <a:solidFill>
                  <a:srgbClr val="1E3A5F"/>
                </a:solidFill>
              </a:rPr>
              <a:t>R</a:t>
            </a:r>
            <a:endParaRPr lang="en-US" sz="1800" dirty="0"/>
          </a:p>
        </p:txBody>
      </p:sp>
      <p:sp>
        <p:nvSpPr>
          <p:cNvPr id="21" name="Text 19"/>
          <p:cNvSpPr/>
          <p:nvPr/>
        </p:nvSpPr>
        <p:spPr>
          <a:xfrm>
            <a:off x="457200" y="4041648"/>
            <a:ext cx="1783080" cy="292608"/>
          </a:xfrm>
          <a:prstGeom prst="rect">
            <a:avLst/>
          </a:prstGeom>
          <a:noFill/>
          <a:ln/>
        </p:spPr>
        <p:txBody>
          <a:bodyPr wrap="square" rtlCol="0" anchor="ctr"/>
          <a:lstStyle/>
          <a:p>
            <a:pPr marL="0" indent="0" algn="ctr">
              <a:buNone/>
            </a:pPr>
            <a:r>
              <a:rPr lang="en-US" sz="1100" b="1" dirty="0">
                <a:solidFill>
                  <a:srgbClr val="2E6DA4"/>
                </a:solidFill>
                <a:latin typeface="Calibri" pitchFamily="34" charset="0"/>
                <a:ea typeface="Calibri" pitchFamily="34" charset="-122"/>
                <a:cs typeface="Calibri" pitchFamily="34" charset="-120"/>
              </a:rPr>
              <a:t>React 19</a:t>
            </a:r>
            <a:endParaRPr lang="en-US" sz="1100" dirty="0"/>
          </a:p>
        </p:txBody>
      </p:sp>
      <p:sp>
        <p:nvSpPr>
          <p:cNvPr id="22" name="Text 20"/>
          <p:cNvSpPr/>
          <p:nvPr/>
        </p:nvSpPr>
        <p:spPr>
          <a:xfrm>
            <a:off x="457200" y="4343400"/>
            <a:ext cx="1783080" cy="438912"/>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UI rendering, component lifecycle, hooks (useState, useEffect)</a:t>
            </a:r>
            <a:endParaRPr lang="en-US" sz="800" dirty="0"/>
          </a:p>
        </p:txBody>
      </p:sp>
      <p:sp>
        <p:nvSpPr>
          <p:cNvPr id="23" name="Shape 21"/>
          <p:cNvSpPr/>
          <p:nvPr/>
        </p:nvSpPr>
        <p:spPr>
          <a:xfrm>
            <a:off x="2514600" y="3291840"/>
            <a:ext cx="1965960" cy="1554480"/>
          </a:xfrm>
          <a:prstGeom prst="roundRect">
            <a:avLst>
              <a:gd name="adj" fmla="val 5882"/>
            </a:avLst>
          </a:prstGeom>
          <a:solidFill>
            <a:srgbClr val="EEF2F7"/>
          </a:solidFill>
          <a:ln w="12700">
            <a:solidFill>
              <a:srgbClr val="5B6E7C"/>
            </a:solidFill>
            <a:prstDash val="solid"/>
          </a:ln>
        </p:spPr>
      </p:sp>
      <p:sp>
        <p:nvSpPr>
          <p:cNvPr id="24" name="Shape 22"/>
          <p:cNvSpPr/>
          <p:nvPr/>
        </p:nvSpPr>
        <p:spPr>
          <a:xfrm>
            <a:off x="3200400" y="3401568"/>
            <a:ext cx="594360" cy="594360"/>
          </a:xfrm>
          <a:prstGeom prst="ellipse">
            <a:avLst/>
          </a:prstGeom>
          <a:solidFill>
            <a:srgbClr val="5B6E7C">
              <a:alpha val="80000"/>
            </a:srgbClr>
          </a:solidFill>
          <a:ln w="12700">
            <a:solidFill>
              <a:srgbClr val="5B6E7C"/>
            </a:solidFill>
            <a:prstDash val="solid"/>
          </a:ln>
        </p:spPr>
      </p:sp>
      <p:sp>
        <p:nvSpPr>
          <p:cNvPr id="25" name="Text 23"/>
          <p:cNvSpPr/>
          <p:nvPr/>
        </p:nvSpPr>
        <p:spPr>
          <a:xfrm>
            <a:off x="3200400" y="3401568"/>
            <a:ext cx="594360" cy="594360"/>
          </a:xfrm>
          <a:prstGeom prst="rect">
            <a:avLst/>
          </a:prstGeom>
          <a:noFill/>
          <a:ln/>
        </p:spPr>
        <p:txBody>
          <a:bodyPr wrap="square" lIns="0" tIns="0" rIns="0" bIns="0" rtlCol="0" anchor="ctr"/>
          <a:lstStyle/>
          <a:p>
            <a:pPr marL="0" indent="0" algn="ctr">
              <a:buNone/>
            </a:pPr>
            <a:r>
              <a:rPr lang="en-US" sz="1800" b="1" dirty="0">
                <a:solidFill>
                  <a:srgbClr val="1E3A5F"/>
                </a:solidFill>
              </a:rPr>
              <a:t>T</a:t>
            </a:r>
            <a:endParaRPr lang="en-US" sz="1800" dirty="0"/>
          </a:p>
        </p:txBody>
      </p:sp>
      <p:sp>
        <p:nvSpPr>
          <p:cNvPr id="26" name="Text 24"/>
          <p:cNvSpPr/>
          <p:nvPr/>
        </p:nvSpPr>
        <p:spPr>
          <a:xfrm>
            <a:off x="2606040" y="4041648"/>
            <a:ext cx="1783080" cy="292608"/>
          </a:xfrm>
          <a:prstGeom prst="rect">
            <a:avLst/>
          </a:prstGeom>
          <a:noFill/>
          <a:ln/>
        </p:spPr>
        <p:txBody>
          <a:bodyPr wrap="square" rtlCol="0" anchor="ctr"/>
          <a:lstStyle/>
          <a:p>
            <a:pPr marL="0" indent="0" algn="ctr">
              <a:buNone/>
            </a:pPr>
            <a:r>
              <a:rPr lang="en-US" sz="1100" b="1" dirty="0">
                <a:solidFill>
                  <a:srgbClr val="5B6E7C"/>
                </a:solidFill>
                <a:latin typeface="Calibri" pitchFamily="34" charset="0"/>
                <a:ea typeface="Calibri" pitchFamily="34" charset="-122"/>
                <a:cs typeface="Calibri" pitchFamily="34" charset="-120"/>
              </a:rPr>
              <a:t>TypeScript</a:t>
            </a:r>
            <a:endParaRPr lang="en-US" sz="1100" dirty="0"/>
          </a:p>
        </p:txBody>
      </p:sp>
      <p:sp>
        <p:nvSpPr>
          <p:cNvPr id="27" name="Text 25"/>
          <p:cNvSpPr/>
          <p:nvPr/>
        </p:nvSpPr>
        <p:spPr>
          <a:xfrm>
            <a:off x="2606040" y="4343400"/>
            <a:ext cx="1783080" cy="438912"/>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Static type checking — prevents 40% of common runtime bugs</a:t>
            </a:r>
            <a:endParaRPr lang="en-US" sz="800" dirty="0"/>
          </a:p>
        </p:txBody>
      </p:sp>
      <p:sp>
        <p:nvSpPr>
          <p:cNvPr id="28" name="Shape 26"/>
          <p:cNvSpPr/>
          <p:nvPr/>
        </p:nvSpPr>
        <p:spPr>
          <a:xfrm>
            <a:off x="4663440" y="3291840"/>
            <a:ext cx="1965960" cy="1554480"/>
          </a:xfrm>
          <a:prstGeom prst="roundRect">
            <a:avLst>
              <a:gd name="adj" fmla="val 5882"/>
            </a:avLst>
          </a:prstGeom>
          <a:solidFill>
            <a:srgbClr val="EEF2F7"/>
          </a:solidFill>
          <a:ln w="12700">
            <a:solidFill>
              <a:srgbClr val="3A7D8C"/>
            </a:solidFill>
            <a:prstDash val="solid"/>
          </a:ln>
        </p:spPr>
      </p:sp>
      <p:sp>
        <p:nvSpPr>
          <p:cNvPr id="29" name="Shape 27"/>
          <p:cNvSpPr/>
          <p:nvPr/>
        </p:nvSpPr>
        <p:spPr>
          <a:xfrm>
            <a:off x="5349240" y="3401568"/>
            <a:ext cx="594360" cy="594360"/>
          </a:xfrm>
          <a:prstGeom prst="ellipse">
            <a:avLst/>
          </a:prstGeom>
          <a:solidFill>
            <a:srgbClr val="3A7D8C">
              <a:alpha val="80000"/>
            </a:srgbClr>
          </a:solidFill>
          <a:ln w="12700">
            <a:solidFill>
              <a:srgbClr val="3A7D8C"/>
            </a:solidFill>
            <a:prstDash val="solid"/>
          </a:ln>
        </p:spPr>
      </p:sp>
      <p:sp>
        <p:nvSpPr>
          <p:cNvPr id="30" name="Text 28"/>
          <p:cNvSpPr/>
          <p:nvPr/>
        </p:nvSpPr>
        <p:spPr>
          <a:xfrm>
            <a:off x="5349240" y="3401568"/>
            <a:ext cx="594360" cy="594360"/>
          </a:xfrm>
          <a:prstGeom prst="rect">
            <a:avLst/>
          </a:prstGeom>
          <a:noFill/>
          <a:ln/>
        </p:spPr>
        <p:txBody>
          <a:bodyPr wrap="square" lIns="0" tIns="0" rIns="0" bIns="0" rtlCol="0" anchor="ctr"/>
          <a:lstStyle/>
          <a:p>
            <a:pPr marL="0" indent="0" algn="ctr">
              <a:buNone/>
            </a:pPr>
            <a:r>
              <a:rPr lang="en-US" sz="1800" b="1" dirty="0">
                <a:solidFill>
                  <a:srgbClr val="1E3A5F"/>
                </a:solidFill>
              </a:rPr>
              <a:t>T</a:t>
            </a:r>
            <a:endParaRPr lang="en-US" sz="1800" dirty="0"/>
          </a:p>
        </p:txBody>
      </p:sp>
      <p:sp>
        <p:nvSpPr>
          <p:cNvPr id="31" name="Text 29"/>
          <p:cNvSpPr/>
          <p:nvPr/>
        </p:nvSpPr>
        <p:spPr>
          <a:xfrm>
            <a:off x="4754880" y="4041648"/>
            <a:ext cx="1783080" cy="292608"/>
          </a:xfrm>
          <a:prstGeom prst="rect">
            <a:avLst/>
          </a:prstGeom>
          <a:noFill/>
          <a:ln/>
        </p:spPr>
        <p:txBody>
          <a:bodyPr wrap="square" rtlCol="0" anchor="ctr"/>
          <a:lstStyle/>
          <a:p>
            <a:pPr marL="0" indent="0" algn="ctr">
              <a:buNone/>
            </a:pPr>
            <a:r>
              <a:rPr lang="en-US" sz="1100" b="1" dirty="0">
                <a:solidFill>
                  <a:srgbClr val="3A7D8C"/>
                </a:solidFill>
                <a:latin typeface="Calibri" pitchFamily="34" charset="0"/>
                <a:ea typeface="Calibri" pitchFamily="34" charset="-122"/>
                <a:cs typeface="Calibri" pitchFamily="34" charset="-120"/>
              </a:rPr>
              <a:t>Tailwind CSS 4</a:t>
            </a:r>
            <a:endParaRPr lang="en-US" sz="1100" dirty="0"/>
          </a:p>
        </p:txBody>
      </p:sp>
      <p:sp>
        <p:nvSpPr>
          <p:cNvPr id="32" name="Text 30"/>
          <p:cNvSpPr/>
          <p:nvPr/>
        </p:nvSpPr>
        <p:spPr>
          <a:xfrm>
            <a:off x="4754880" y="4343400"/>
            <a:ext cx="1783080" cy="438912"/>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Utility-first CSS — design directly in HTML, no stylesheets</a:t>
            </a:r>
            <a:endParaRPr lang="en-US" sz="800" dirty="0"/>
          </a:p>
        </p:txBody>
      </p:sp>
      <p:sp>
        <p:nvSpPr>
          <p:cNvPr id="33" name="Shape 31"/>
          <p:cNvSpPr/>
          <p:nvPr/>
        </p:nvSpPr>
        <p:spPr>
          <a:xfrm>
            <a:off x="6812280" y="3291840"/>
            <a:ext cx="1965960" cy="1554480"/>
          </a:xfrm>
          <a:prstGeom prst="roundRect">
            <a:avLst>
              <a:gd name="adj" fmla="val 5882"/>
            </a:avLst>
          </a:prstGeom>
          <a:solidFill>
            <a:srgbClr val="EEF2F7"/>
          </a:solidFill>
          <a:ln w="12700">
            <a:solidFill>
              <a:srgbClr val="A07840"/>
            </a:solidFill>
            <a:prstDash val="solid"/>
          </a:ln>
        </p:spPr>
      </p:sp>
      <p:sp>
        <p:nvSpPr>
          <p:cNvPr id="34" name="Shape 32"/>
          <p:cNvSpPr/>
          <p:nvPr/>
        </p:nvSpPr>
        <p:spPr>
          <a:xfrm>
            <a:off x="7498080" y="3401568"/>
            <a:ext cx="594360" cy="594360"/>
          </a:xfrm>
          <a:prstGeom prst="ellipse">
            <a:avLst/>
          </a:prstGeom>
          <a:solidFill>
            <a:srgbClr val="A07840">
              <a:alpha val="80000"/>
            </a:srgbClr>
          </a:solidFill>
          <a:ln w="12700">
            <a:solidFill>
              <a:srgbClr val="A07840"/>
            </a:solidFill>
            <a:prstDash val="solid"/>
          </a:ln>
        </p:spPr>
      </p:sp>
      <p:sp>
        <p:nvSpPr>
          <p:cNvPr id="35" name="Text 33"/>
          <p:cNvSpPr/>
          <p:nvPr/>
        </p:nvSpPr>
        <p:spPr>
          <a:xfrm>
            <a:off x="7498080" y="3401568"/>
            <a:ext cx="594360" cy="594360"/>
          </a:xfrm>
          <a:prstGeom prst="rect">
            <a:avLst/>
          </a:prstGeom>
          <a:noFill/>
          <a:ln/>
        </p:spPr>
        <p:txBody>
          <a:bodyPr wrap="square" lIns="0" tIns="0" rIns="0" bIns="0" rtlCol="0" anchor="ctr"/>
          <a:lstStyle/>
          <a:p>
            <a:pPr marL="0" indent="0" algn="ctr">
              <a:buNone/>
            </a:pPr>
            <a:r>
              <a:rPr lang="en-US" sz="1800" b="1" dirty="0">
                <a:solidFill>
                  <a:srgbClr val="1E3A5F"/>
                </a:solidFill>
              </a:rPr>
              <a:t>F</a:t>
            </a:r>
            <a:endParaRPr lang="en-US" sz="1800" dirty="0"/>
          </a:p>
        </p:txBody>
      </p:sp>
      <p:sp>
        <p:nvSpPr>
          <p:cNvPr id="36" name="Text 34"/>
          <p:cNvSpPr/>
          <p:nvPr/>
        </p:nvSpPr>
        <p:spPr>
          <a:xfrm>
            <a:off x="6903720" y="4041648"/>
            <a:ext cx="1783080" cy="292608"/>
          </a:xfrm>
          <a:prstGeom prst="rect">
            <a:avLst/>
          </a:prstGeom>
          <a:noFill/>
          <a:ln/>
        </p:spPr>
        <p:txBody>
          <a:bodyPr wrap="square" rtlCol="0" anchor="ctr"/>
          <a:lstStyle/>
          <a:p>
            <a:pPr marL="0" indent="0" algn="ctr">
              <a:buNone/>
            </a:pPr>
            <a:r>
              <a:rPr lang="en-US" sz="1100" b="1" dirty="0">
                <a:solidFill>
                  <a:srgbClr val="A07840"/>
                </a:solidFill>
                <a:latin typeface="Calibri" pitchFamily="34" charset="0"/>
                <a:ea typeface="Calibri" pitchFamily="34" charset="-122"/>
                <a:cs typeface="Calibri" pitchFamily="34" charset="-120"/>
              </a:rPr>
              <a:t>Framer Motion</a:t>
            </a:r>
            <a:endParaRPr lang="en-US" sz="1100" dirty="0"/>
          </a:p>
        </p:txBody>
      </p:sp>
      <p:sp>
        <p:nvSpPr>
          <p:cNvPr id="37" name="Text 35"/>
          <p:cNvSpPr/>
          <p:nvPr/>
        </p:nvSpPr>
        <p:spPr>
          <a:xfrm>
            <a:off x="6903720" y="4343400"/>
            <a:ext cx="1783080" cy="438912"/>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Smooth animations, transitions, real-time data pulse effects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Backend Architecture</a:t>
            </a:r>
            <a:endParaRPr lang="en-US" sz="2800" dirty="0"/>
          </a:p>
        </p:txBody>
      </p:sp>
      <p:sp>
        <p:nvSpPr>
          <p:cNvPr id="3" name="Text 1"/>
          <p:cNvSpPr/>
          <p:nvPr/>
        </p:nvSpPr>
        <p:spPr>
          <a:xfrm>
            <a:off x="457200" y="612648"/>
            <a:ext cx="8229600" cy="292608"/>
          </a:xfrm>
          <a:prstGeom prst="rect">
            <a:avLst/>
          </a:prstGeom>
          <a:noFill/>
          <a:ln/>
        </p:spPr>
        <p:txBody>
          <a:bodyPr wrap="square" rtlCol="0" anchor="ctr"/>
          <a:lstStyle/>
          <a:p>
            <a:pPr marL="0" indent="0">
              <a:buNone/>
            </a:pPr>
            <a:r>
              <a:rPr lang="en-US" sz="1200" dirty="0">
                <a:solidFill>
                  <a:srgbClr val="3A7D8C"/>
                </a:solidFill>
                <a:latin typeface="Calibri" pitchFamily="34" charset="0"/>
                <a:ea typeface="Calibri" pitchFamily="34" charset="-122"/>
                <a:cs typeface="Calibri" pitchFamily="34" charset="-120"/>
              </a:rPr>
              <a:t>Node.js + Express + Docker SDK — and why no database is needed</a:t>
            </a:r>
            <a:endParaRPr lang="en-US" sz="1200" dirty="0"/>
          </a:p>
        </p:txBody>
      </p:sp>
      <p:sp>
        <p:nvSpPr>
          <p:cNvPr id="4" name="Shape 2"/>
          <p:cNvSpPr/>
          <p:nvPr/>
        </p:nvSpPr>
        <p:spPr>
          <a:xfrm>
            <a:off x="365760" y="1005840"/>
            <a:ext cx="4114800" cy="3474720"/>
          </a:xfrm>
          <a:prstGeom prst="roundRect">
            <a:avLst>
              <a:gd name="adj" fmla="val 3158"/>
            </a:avLst>
          </a:prstGeom>
          <a:solidFill>
            <a:srgbClr val="EEF2F7"/>
          </a:solidFill>
          <a:ln w="19050">
            <a:solidFill>
              <a:srgbClr val="3A7D8C"/>
            </a:solidFill>
            <a:prstDash val="solid"/>
          </a:ln>
        </p:spPr>
      </p:sp>
      <p:sp>
        <p:nvSpPr>
          <p:cNvPr id="5" name="Text 3"/>
          <p:cNvSpPr/>
          <p:nvPr/>
        </p:nvSpPr>
        <p:spPr>
          <a:xfrm>
            <a:off x="502920" y="1078992"/>
            <a:ext cx="3840480" cy="347472"/>
          </a:xfrm>
          <a:prstGeom prst="rect">
            <a:avLst/>
          </a:prstGeom>
          <a:noFill/>
          <a:ln/>
        </p:spPr>
        <p:txBody>
          <a:bodyPr wrap="square" rtlCol="0" anchor="ctr"/>
          <a:lstStyle/>
          <a:p>
            <a:pPr marL="0" indent="0">
              <a:buNone/>
            </a:pPr>
            <a:r>
              <a:rPr lang="en-US" sz="1300" b="1" dirty="0">
                <a:solidFill>
                  <a:srgbClr val="3A7D8C"/>
                </a:solidFill>
                <a:latin typeface="Calibri" pitchFamily="34" charset="0"/>
                <a:ea typeface="Calibri" pitchFamily="34" charset="-122"/>
                <a:cs typeface="Calibri" pitchFamily="34" charset="-120"/>
              </a:rPr>
              <a:t>⚙️  Express.js API Routes</a:t>
            </a:r>
            <a:endParaRPr lang="en-US" sz="1300" dirty="0"/>
          </a:p>
        </p:txBody>
      </p:sp>
      <p:sp>
        <p:nvSpPr>
          <p:cNvPr id="6" name="Shape 4"/>
          <p:cNvSpPr/>
          <p:nvPr/>
        </p:nvSpPr>
        <p:spPr>
          <a:xfrm>
            <a:off x="502920" y="1508760"/>
            <a:ext cx="594360" cy="347472"/>
          </a:xfrm>
          <a:prstGeom prst="roundRect">
            <a:avLst>
              <a:gd name="adj" fmla="val 13158"/>
            </a:avLst>
          </a:prstGeom>
          <a:solidFill>
            <a:srgbClr val="3A7D8C">
              <a:alpha val="80000"/>
            </a:srgbClr>
          </a:solidFill>
          <a:ln w="6350">
            <a:solidFill>
              <a:srgbClr val="3A7D8C"/>
            </a:solidFill>
            <a:prstDash val="solid"/>
          </a:ln>
        </p:spPr>
      </p:sp>
      <p:sp>
        <p:nvSpPr>
          <p:cNvPr id="7" name="Text 5"/>
          <p:cNvSpPr/>
          <p:nvPr/>
        </p:nvSpPr>
        <p:spPr>
          <a:xfrm>
            <a:off x="502920" y="1508760"/>
            <a:ext cx="594360" cy="347472"/>
          </a:xfrm>
          <a:prstGeom prst="rect">
            <a:avLst/>
          </a:prstGeom>
          <a:noFill/>
          <a:ln/>
        </p:spPr>
        <p:txBody>
          <a:bodyPr wrap="square" lIns="0" tIns="0" rIns="0" bIns="0" rtlCol="0" anchor="ctr"/>
          <a:lstStyle/>
          <a:p>
            <a:pPr marL="0" indent="0" algn="ctr">
              <a:buNone/>
            </a:pPr>
            <a:r>
              <a:rPr lang="en-US" sz="850" b="1" dirty="0">
                <a:solidFill>
                  <a:srgbClr val="3A7D8C"/>
                </a:solidFill>
                <a:latin typeface="Calibri" pitchFamily="34" charset="0"/>
                <a:ea typeface="Calibri" pitchFamily="34" charset="-122"/>
                <a:cs typeface="Calibri" pitchFamily="34" charset="-120"/>
              </a:rPr>
              <a:t>GET</a:t>
            </a:r>
            <a:endParaRPr lang="en-US" sz="850" dirty="0"/>
          </a:p>
        </p:txBody>
      </p:sp>
      <p:sp>
        <p:nvSpPr>
          <p:cNvPr id="8" name="Text 6"/>
          <p:cNvSpPr/>
          <p:nvPr/>
        </p:nvSpPr>
        <p:spPr>
          <a:xfrm>
            <a:off x="1170432" y="1508760"/>
            <a:ext cx="1645920" cy="347472"/>
          </a:xfrm>
          <a:prstGeom prst="rect">
            <a:avLst/>
          </a:prstGeom>
          <a:noFill/>
          <a:ln/>
        </p:spPr>
        <p:txBody>
          <a:bodyPr wrap="square" rtlCol="0" anchor="ctr"/>
          <a:lstStyle/>
          <a:p>
            <a:pPr marL="0" indent="0">
              <a:buNone/>
            </a:pPr>
            <a:r>
              <a:rPr lang="en-US" sz="800" dirty="0">
                <a:solidFill>
                  <a:srgbClr val="2E6DA4"/>
                </a:solidFill>
                <a:latin typeface="Calibri" pitchFamily="34" charset="0"/>
                <a:ea typeface="Calibri" pitchFamily="34" charset="-122"/>
                <a:cs typeface="Calibri" pitchFamily="34" charset="-120"/>
              </a:rPr>
              <a:t>/api/docker/state</a:t>
            </a:r>
            <a:endParaRPr lang="en-US" sz="800" dirty="0"/>
          </a:p>
        </p:txBody>
      </p:sp>
      <p:sp>
        <p:nvSpPr>
          <p:cNvPr id="9" name="Text 7"/>
          <p:cNvSpPr/>
          <p:nvPr/>
        </p:nvSpPr>
        <p:spPr>
          <a:xfrm>
            <a:off x="2880360" y="1508760"/>
            <a:ext cx="1508760" cy="34747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Container status &amp; metrics</a:t>
            </a:r>
            <a:endParaRPr lang="en-US" sz="800" dirty="0"/>
          </a:p>
        </p:txBody>
      </p:sp>
      <p:sp>
        <p:nvSpPr>
          <p:cNvPr id="10" name="Shape 8"/>
          <p:cNvSpPr/>
          <p:nvPr/>
        </p:nvSpPr>
        <p:spPr>
          <a:xfrm>
            <a:off x="502920" y="1984248"/>
            <a:ext cx="594360" cy="347472"/>
          </a:xfrm>
          <a:prstGeom prst="roundRect">
            <a:avLst>
              <a:gd name="adj" fmla="val 13158"/>
            </a:avLst>
          </a:prstGeom>
          <a:solidFill>
            <a:srgbClr val="5B6E7C">
              <a:alpha val="80000"/>
            </a:srgbClr>
          </a:solidFill>
          <a:ln w="6350">
            <a:solidFill>
              <a:srgbClr val="5B6E7C"/>
            </a:solidFill>
            <a:prstDash val="solid"/>
          </a:ln>
        </p:spPr>
      </p:sp>
      <p:sp>
        <p:nvSpPr>
          <p:cNvPr id="11" name="Text 9"/>
          <p:cNvSpPr/>
          <p:nvPr/>
        </p:nvSpPr>
        <p:spPr>
          <a:xfrm>
            <a:off x="502920" y="1984248"/>
            <a:ext cx="594360" cy="347472"/>
          </a:xfrm>
          <a:prstGeom prst="rect">
            <a:avLst/>
          </a:prstGeom>
          <a:noFill/>
          <a:ln/>
        </p:spPr>
        <p:txBody>
          <a:bodyPr wrap="square" lIns="0" tIns="0" rIns="0" bIns="0" rtlCol="0" anchor="ctr"/>
          <a:lstStyle/>
          <a:p>
            <a:pPr marL="0" indent="0" algn="ctr">
              <a:buNone/>
            </a:pPr>
            <a:r>
              <a:rPr lang="en-US" sz="850" b="1" dirty="0">
                <a:solidFill>
                  <a:srgbClr val="5B6E7C"/>
                </a:solidFill>
                <a:latin typeface="Calibri" pitchFamily="34" charset="0"/>
                <a:ea typeface="Calibri" pitchFamily="34" charset="-122"/>
                <a:cs typeface="Calibri" pitchFamily="34" charset="-120"/>
              </a:rPr>
              <a:t>POST</a:t>
            </a:r>
            <a:endParaRPr lang="en-US" sz="850" dirty="0"/>
          </a:p>
        </p:txBody>
      </p:sp>
      <p:sp>
        <p:nvSpPr>
          <p:cNvPr id="12" name="Text 10"/>
          <p:cNvSpPr/>
          <p:nvPr/>
        </p:nvSpPr>
        <p:spPr>
          <a:xfrm>
            <a:off x="1170432" y="1984248"/>
            <a:ext cx="1645920" cy="347472"/>
          </a:xfrm>
          <a:prstGeom prst="rect">
            <a:avLst/>
          </a:prstGeom>
          <a:noFill/>
          <a:ln/>
        </p:spPr>
        <p:txBody>
          <a:bodyPr wrap="square" rtlCol="0" anchor="ctr"/>
          <a:lstStyle/>
          <a:p>
            <a:pPr marL="0" indent="0">
              <a:buNone/>
            </a:pPr>
            <a:r>
              <a:rPr lang="en-US" sz="800" dirty="0">
                <a:solidFill>
                  <a:srgbClr val="2E6DA4"/>
                </a:solidFill>
                <a:latin typeface="Calibri" pitchFamily="34" charset="0"/>
                <a:ea typeface="Calibri" pitchFamily="34" charset="-122"/>
                <a:cs typeface="Calibri" pitchFamily="34" charset="-120"/>
              </a:rPr>
              <a:t>/api/docker/query</a:t>
            </a:r>
            <a:endParaRPr lang="en-US" sz="800" dirty="0"/>
          </a:p>
        </p:txBody>
      </p:sp>
      <p:sp>
        <p:nvSpPr>
          <p:cNvPr id="13" name="Text 11"/>
          <p:cNvSpPr/>
          <p:nvPr/>
        </p:nvSpPr>
        <p:spPr>
          <a:xfrm>
            <a:off x="2880360" y="1984248"/>
            <a:ext cx="1508760" cy="34747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AI natural language query</a:t>
            </a:r>
            <a:endParaRPr lang="en-US" sz="800" dirty="0"/>
          </a:p>
        </p:txBody>
      </p:sp>
      <p:sp>
        <p:nvSpPr>
          <p:cNvPr id="14" name="Shape 12"/>
          <p:cNvSpPr/>
          <p:nvPr/>
        </p:nvSpPr>
        <p:spPr>
          <a:xfrm>
            <a:off x="502920" y="2459736"/>
            <a:ext cx="594360" cy="347472"/>
          </a:xfrm>
          <a:prstGeom prst="roundRect">
            <a:avLst>
              <a:gd name="adj" fmla="val 13158"/>
            </a:avLst>
          </a:prstGeom>
          <a:solidFill>
            <a:srgbClr val="5B6E7C">
              <a:alpha val="80000"/>
            </a:srgbClr>
          </a:solidFill>
          <a:ln w="6350">
            <a:solidFill>
              <a:srgbClr val="5B6E7C"/>
            </a:solidFill>
            <a:prstDash val="solid"/>
          </a:ln>
        </p:spPr>
      </p:sp>
      <p:sp>
        <p:nvSpPr>
          <p:cNvPr id="15" name="Text 13"/>
          <p:cNvSpPr/>
          <p:nvPr/>
        </p:nvSpPr>
        <p:spPr>
          <a:xfrm>
            <a:off x="502920" y="2459736"/>
            <a:ext cx="594360" cy="347472"/>
          </a:xfrm>
          <a:prstGeom prst="rect">
            <a:avLst/>
          </a:prstGeom>
          <a:noFill/>
          <a:ln/>
        </p:spPr>
        <p:txBody>
          <a:bodyPr wrap="square" lIns="0" tIns="0" rIns="0" bIns="0" rtlCol="0" anchor="ctr"/>
          <a:lstStyle/>
          <a:p>
            <a:pPr marL="0" indent="0" algn="ctr">
              <a:buNone/>
            </a:pPr>
            <a:r>
              <a:rPr lang="en-US" sz="850" b="1" dirty="0">
                <a:solidFill>
                  <a:srgbClr val="5B6E7C"/>
                </a:solidFill>
                <a:latin typeface="Calibri" pitchFamily="34" charset="0"/>
                <a:ea typeface="Calibri" pitchFamily="34" charset="-122"/>
                <a:cs typeface="Calibri" pitchFamily="34" charset="-120"/>
              </a:rPr>
              <a:t>POST</a:t>
            </a:r>
            <a:endParaRPr lang="en-US" sz="850" dirty="0"/>
          </a:p>
        </p:txBody>
      </p:sp>
      <p:sp>
        <p:nvSpPr>
          <p:cNvPr id="16" name="Text 14"/>
          <p:cNvSpPr/>
          <p:nvPr/>
        </p:nvSpPr>
        <p:spPr>
          <a:xfrm>
            <a:off x="1170432" y="2459736"/>
            <a:ext cx="1645920" cy="347472"/>
          </a:xfrm>
          <a:prstGeom prst="rect">
            <a:avLst/>
          </a:prstGeom>
          <a:noFill/>
          <a:ln/>
        </p:spPr>
        <p:txBody>
          <a:bodyPr wrap="square" rtlCol="0" anchor="ctr"/>
          <a:lstStyle/>
          <a:p>
            <a:pPr marL="0" indent="0">
              <a:buNone/>
            </a:pPr>
            <a:r>
              <a:rPr lang="en-US" sz="800" dirty="0">
                <a:solidFill>
                  <a:srgbClr val="2E6DA4"/>
                </a:solidFill>
                <a:latin typeface="Calibri" pitchFamily="34" charset="0"/>
                <a:ea typeface="Calibri" pitchFamily="34" charset="-122"/>
                <a:cs typeface="Calibri" pitchFamily="34" charset="-120"/>
              </a:rPr>
              <a:t>/api/docker/control</a:t>
            </a:r>
            <a:endParaRPr lang="en-US" sz="800" dirty="0"/>
          </a:p>
        </p:txBody>
      </p:sp>
      <p:sp>
        <p:nvSpPr>
          <p:cNvPr id="17" name="Text 15"/>
          <p:cNvSpPr/>
          <p:nvPr/>
        </p:nvSpPr>
        <p:spPr>
          <a:xfrm>
            <a:off x="2880360" y="2459736"/>
            <a:ext cx="1508760" cy="34747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Start/Stop/Restart</a:t>
            </a:r>
            <a:endParaRPr lang="en-US" sz="800" dirty="0"/>
          </a:p>
        </p:txBody>
      </p:sp>
      <p:sp>
        <p:nvSpPr>
          <p:cNvPr id="18" name="Shape 16"/>
          <p:cNvSpPr/>
          <p:nvPr/>
        </p:nvSpPr>
        <p:spPr>
          <a:xfrm>
            <a:off x="502920" y="2935224"/>
            <a:ext cx="594360" cy="347472"/>
          </a:xfrm>
          <a:prstGeom prst="roundRect">
            <a:avLst>
              <a:gd name="adj" fmla="val 13158"/>
            </a:avLst>
          </a:prstGeom>
          <a:solidFill>
            <a:srgbClr val="3A7D8C">
              <a:alpha val="80000"/>
            </a:srgbClr>
          </a:solidFill>
          <a:ln w="6350">
            <a:solidFill>
              <a:srgbClr val="3A7D8C"/>
            </a:solidFill>
            <a:prstDash val="solid"/>
          </a:ln>
        </p:spPr>
      </p:sp>
      <p:sp>
        <p:nvSpPr>
          <p:cNvPr id="19" name="Text 17"/>
          <p:cNvSpPr/>
          <p:nvPr/>
        </p:nvSpPr>
        <p:spPr>
          <a:xfrm>
            <a:off x="502920" y="2935224"/>
            <a:ext cx="594360" cy="347472"/>
          </a:xfrm>
          <a:prstGeom prst="rect">
            <a:avLst/>
          </a:prstGeom>
          <a:noFill/>
          <a:ln/>
        </p:spPr>
        <p:txBody>
          <a:bodyPr wrap="square" lIns="0" tIns="0" rIns="0" bIns="0" rtlCol="0" anchor="ctr"/>
          <a:lstStyle/>
          <a:p>
            <a:pPr marL="0" indent="0" algn="ctr">
              <a:buNone/>
            </a:pPr>
            <a:r>
              <a:rPr lang="en-US" sz="850" b="1" dirty="0">
                <a:solidFill>
                  <a:srgbClr val="3A7D8C"/>
                </a:solidFill>
                <a:latin typeface="Calibri" pitchFamily="34" charset="0"/>
                <a:ea typeface="Calibri" pitchFamily="34" charset="-122"/>
                <a:cs typeface="Calibri" pitchFamily="34" charset="-120"/>
              </a:rPr>
              <a:t>GET</a:t>
            </a:r>
            <a:endParaRPr lang="en-US" sz="850" dirty="0"/>
          </a:p>
        </p:txBody>
      </p:sp>
      <p:sp>
        <p:nvSpPr>
          <p:cNvPr id="20" name="Text 18"/>
          <p:cNvSpPr/>
          <p:nvPr/>
        </p:nvSpPr>
        <p:spPr>
          <a:xfrm>
            <a:off x="1170432" y="2935224"/>
            <a:ext cx="1645920" cy="347472"/>
          </a:xfrm>
          <a:prstGeom prst="rect">
            <a:avLst/>
          </a:prstGeom>
          <a:noFill/>
          <a:ln/>
        </p:spPr>
        <p:txBody>
          <a:bodyPr wrap="square" rtlCol="0" anchor="ctr"/>
          <a:lstStyle/>
          <a:p>
            <a:pPr marL="0" indent="0">
              <a:buNone/>
            </a:pPr>
            <a:r>
              <a:rPr lang="en-US" sz="800" dirty="0">
                <a:solidFill>
                  <a:srgbClr val="2E6DA4"/>
                </a:solidFill>
                <a:latin typeface="Calibri" pitchFamily="34" charset="0"/>
                <a:ea typeface="Calibri" pitchFamily="34" charset="-122"/>
                <a:cs typeface="Calibri" pitchFamily="34" charset="-120"/>
              </a:rPr>
              <a:t>/api/docker/logs/:id</a:t>
            </a:r>
            <a:endParaRPr lang="en-US" sz="800" dirty="0"/>
          </a:p>
        </p:txBody>
      </p:sp>
      <p:sp>
        <p:nvSpPr>
          <p:cNvPr id="21" name="Text 19"/>
          <p:cNvSpPr/>
          <p:nvPr/>
        </p:nvSpPr>
        <p:spPr>
          <a:xfrm>
            <a:off x="2880360" y="2935224"/>
            <a:ext cx="1508760" cy="34747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Real-time container logs</a:t>
            </a:r>
            <a:endParaRPr lang="en-US" sz="800" dirty="0"/>
          </a:p>
        </p:txBody>
      </p:sp>
      <p:sp>
        <p:nvSpPr>
          <p:cNvPr id="22" name="Shape 20"/>
          <p:cNvSpPr/>
          <p:nvPr/>
        </p:nvSpPr>
        <p:spPr>
          <a:xfrm>
            <a:off x="502920" y="3410712"/>
            <a:ext cx="594360" cy="347472"/>
          </a:xfrm>
          <a:prstGeom prst="roundRect">
            <a:avLst>
              <a:gd name="adj" fmla="val 13158"/>
            </a:avLst>
          </a:prstGeom>
          <a:solidFill>
            <a:srgbClr val="A07840">
              <a:alpha val="80000"/>
            </a:srgbClr>
          </a:solidFill>
          <a:ln w="6350">
            <a:solidFill>
              <a:srgbClr val="A07840"/>
            </a:solidFill>
            <a:prstDash val="solid"/>
          </a:ln>
        </p:spPr>
      </p:sp>
      <p:sp>
        <p:nvSpPr>
          <p:cNvPr id="23" name="Text 21"/>
          <p:cNvSpPr/>
          <p:nvPr/>
        </p:nvSpPr>
        <p:spPr>
          <a:xfrm>
            <a:off x="502920" y="3410712"/>
            <a:ext cx="594360" cy="347472"/>
          </a:xfrm>
          <a:prstGeom prst="rect">
            <a:avLst/>
          </a:prstGeom>
          <a:noFill/>
          <a:ln/>
        </p:spPr>
        <p:txBody>
          <a:bodyPr wrap="square" lIns="0" tIns="0" rIns="0" bIns="0" rtlCol="0" anchor="ctr"/>
          <a:lstStyle/>
          <a:p>
            <a:pPr marL="0" indent="0" algn="ctr">
              <a:buNone/>
            </a:pPr>
            <a:r>
              <a:rPr lang="en-US" sz="850" b="1" dirty="0">
                <a:solidFill>
                  <a:srgbClr val="A07840"/>
                </a:solidFill>
                <a:latin typeface="Calibri" pitchFamily="34" charset="0"/>
                <a:ea typeface="Calibri" pitchFamily="34" charset="-122"/>
                <a:cs typeface="Calibri" pitchFamily="34" charset="-120"/>
              </a:rPr>
              <a:t>WS</a:t>
            </a:r>
            <a:endParaRPr lang="en-US" sz="850" dirty="0"/>
          </a:p>
        </p:txBody>
      </p:sp>
      <p:sp>
        <p:nvSpPr>
          <p:cNvPr id="24" name="Text 22"/>
          <p:cNvSpPr/>
          <p:nvPr/>
        </p:nvSpPr>
        <p:spPr>
          <a:xfrm>
            <a:off x="1170432" y="3410712"/>
            <a:ext cx="1645920" cy="347472"/>
          </a:xfrm>
          <a:prstGeom prst="rect">
            <a:avLst/>
          </a:prstGeom>
          <a:noFill/>
          <a:ln/>
        </p:spPr>
        <p:txBody>
          <a:bodyPr wrap="square" rtlCol="0" anchor="ctr"/>
          <a:lstStyle/>
          <a:p>
            <a:pPr marL="0" indent="0">
              <a:buNone/>
            </a:pPr>
            <a:r>
              <a:rPr lang="en-US" sz="800" dirty="0">
                <a:solidFill>
                  <a:srgbClr val="2E6DA4"/>
                </a:solidFill>
                <a:latin typeface="Calibri" pitchFamily="34" charset="0"/>
                <a:ea typeface="Calibri" pitchFamily="34" charset="-122"/>
                <a:cs typeface="Calibri" pitchFamily="34" charset="-120"/>
              </a:rPr>
              <a:t>/api/realtime</a:t>
            </a:r>
            <a:endParaRPr lang="en-US" sz="800" dirty="0"/>
          </a:p>
        </p:txBody>
      </p:sp>
      <p:sp>
        <p:nvSpPr>
          <p:cNvPr id="25" name="Text 23"/>
          <p:cNvSpPr/>
          <p:nvPr/>
        </p:nvSpPr>
        <p:spPr>
          <a:xfrm>
            <a:off x="2880360" y="3410712"/>
            <a:ext cx="1508760" cy="34747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WebSocket live updates (3s)</a:t>
            </a:r>
            <a:endParaRPr lang="en-US" sz="800" dirty="0"/>
          </a:p>
        </p:txBody>
      </p:sp>
      <p:sp>
        <p:nvSpPr>
          <p:cNvPr id="26" name="Shape 24"/>
          <p:cNvSpPr/>
          <p:nvPr/>
        </p:nvSpPr>
        <p:spPr>
          <a:xfrm>
            <a:off x="502920" y="3886200"/>
            <a:ext cx="594360" cy="347472"/>
          </a:xfrm>
          <a:prstGeom prst="roundRect">
            <a:avLst>
              <a:gd name="adj" fmla="val 13158"/>
            </a:avLst>
          </a:prstGeom>
          <a:solidFill>
            <a:srgbClr val="3A7D8C">
              <a:alpha val="80000"/>
            </a:srgbClr>
          </a:solidFill>
          <a:ln w="6350">
            <a:solidFill>
              <a:srgbClr val="3A7D8C"/>
            </a:solidFill>
            <a:prstDash val="solid"/>
          </a:ln>
        </p:spPr>
      </p:sp>
      <p:sp>
        <p:nvSpPr>
          <p:cNvPr id="27" name="Text 25"/>
          <p:cNvSpPr/>
          <p:nvPr/>
        </p:nvSpPr>
        <p:spPr>
          <a:xfrm>
            <a:off x="502920" y="3886200"/>
            <a:ext cx="594360" cy="347472"/>
          </a:xfrm>
          <a:prstGeom prst="rect">
            <a:avLst/>
          </a:prstGeom>
          <a:noFill/>
          <a:ln/>
        </p:spPr>
        <p:txBody>
          <a:bodyPr wrap="square" lIns="0" tIns="0" rIns="0" bIns="0" rtlCol="0" anchor="ctr"/>
          <a:lstStyle/>
          <a:p>
            <a:pPr marL="0" indent="0" algn="ctr">
              <a:buNone/>
            </a:pPr>
            <a:r>
              <a:rPr lang="en-US" sz="850" b="1" dirty="0">
                <a:solidFill>
                  <a:srgbClr val="3A7D8C"/>
                </a:solidFill>
                <a:latin typeface="Calibri" pitchFamily="34" charset="0"/>
                <a:ea typeface="Calibri" pitchFamily="34" charset="-122"/>
                <a:cs typeface="Calibri" pitchFamily="34" charset="-120"/>
              </a:rPr>
              <a:t>GET</a:t>
            </a:r>
            <a:endParaRPr lang="en-US" sz="850" dirty="0"/>
          </a:p>
        </p:txBody>
      </p:sp>
      <p:sp>
        <p:nvSpPr>
          <p:cNvPr id="28" name="Text 26"/>
          <p:cNvSpPr/>
          <p:nvPr/>
        </p:nvSpPr>
        <p:spPr>
          <a:xfrm>
            <a:off x="1170432" y="3886200"/>
            <a:ext cx="1645920" cy="347472"/>
          </a:xfrm>
          <a:prstGeom prst="rect">
            <a:avLst/>
          </a:prstGeom>
          <a:noFill/>
          <a:ln/>
        </p:spPr>
        <p:txBody>
          <a:bodyPr wrap="square" rtlCol="0" anchor="ctr"/>
          <a:lstStyle/>
          <a:p>
            <a:pPr marL="0" indent="0">
              <a:buNone/>
            </a:pPr>
            <a:r>
              <a:rPr lang="en-US" sz="800" dirty="0">
                <a:solidFill>
                  <a:srgbClr val="2E6DA4"/>
                </a:solidFill>
                <a:latin typeface="Calibri" pitchFamily="34" charset="0"/>
                <a:ea typeface="Calibri" pitchFamily="34" charset="-122"/>
                <a:cs typeface="Calibri" pitchFamily="34" charset="-120"/>
              </a:rPr>
              <a:t>/api/health</a:t>
            </a:r>
            <a:endParaRPr lang="en-US" sz="800" dirty="0"/>
          </a:p>
        </p:txBody>
      </p:sp>
      <p:sp>
        <p:nvSpPr>
          <p:cNvPr id="29" name="Text 27"/>
          <p:cNvSpPr/>
          <p:nvPr/>
        </p:nvSpPr>
        <p:spPr>
          <a:xfrm>
            <a:off x="2880360" y="3886200"/>
            <a:ext cx="1508760" cy="34747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System health endpoint</a:t>
            </a:r>
            <a:endParaRPr lang="en-US" sz="800" dirty="0"/>
          </a:p>
        </p:txBody>
      </p:sp>
      <p:sp>
        <p:nvSpPr>
          <p:cNvPr id="30" name="Shape 28"/>
          <p:cNvSpPr/>
          <p:nvPr/>
        </p:nvSpPr>
        <p:spPr>
          <a:xfrm>
            <a:off x="4754880" y="1005840"/>
            <a:ext cx="4114800" cy="685800"/>
          </a:xfrm>
          <a:prstGeom prst="roundRect">
            <a:avLst>
              <a:gd name="adj" fmla="val 13333"/>
            </a:avLst>
          </a:prstGeom>
          <a:solidFill>
            <a:srgbClr val="EEF2F7"/>
          </a:solidFill>
          <a:ln w="12700">
            <a:solidFill>
              <a:srgbClr val="3A7D8C"/>
            </a:solidFill>
            <a:prstDash val="solid"/>
          </a:ln>
        </p:spPr>
      </p:sp>
      <p:sp>
        <p:nvSpPr>
          <p:cNvPr id="31" name="Text 29"/>
          <p:cNvSpPr/>
          <p:nvPr/>
        </p:nvSpPr>
        <p:spPr>
          <a:xfrm>
            <a:off x="4892040" y="1078992"/>
            <a:ext cx="3840480" cy="256032"/>
          </a:xfrm>
          <a:prstGeom prst="rect">
            <a:avLst/>
          </a:prstGeom>
          <a:noFill/>
          <a:ln/>
        </p:spPr>
        <p:txBody>
          <a:bodyPr wrap="square" rtlCol="0" anchor="ctr"/>
          <a:lstStyle/>
          <a:p>
            <a:pPr marL="0" indent="0">
              <a:buNone/>
            </a:pPr>
            <a:r>
              <a:rPr lang="en-US" sz="1200" b="1" dirty="0">
                <a:solidFill>
                  <a:srgbClr val="3A7D8C"/>
                </a:solidFill>
                <a:latin typeface="Calibri" pitchFamily="34" charset="0"/>
                <a:ea typeface="Calibri" pitchFamily="34" charset="-122"/>
                <a:cs typeface="Calibri" pitchFamily="34" charset="-120"/>
              </a:rPr>
              <a:t>Node.js</a:t>
            </a:r>
            <a:endParaRPr lang="en-US" sz="1200" dirty="0"/>
          </a:p>
        </p:txBody>
      </p:sp>
      <p:sp>
        <p:nvSpPr>
          <p:cNvPr id="32" name="Text 30"/>
          <p:cNvSpPr/>
          <p:nvPr/>
        </p:nvSpPr>
        <p:spPr>
          <a:xfrm>
            <a:off x="4892040" y="1353312"/>
            <a:ext cx="3840480" cy="256032"/>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Async I/O perfect for real-time Docker events; same language as frontend</a:t>
            </a:r>
            <a:endParaRPr lang="en-US" sz="850" dirty="0"/>
          </a:p>
        </p:txBody>
      </p:sp>
      <p:sp>
        <p:nvSpPr>
          <p:cNvPr id="33" name="Shape 31"/>
          <p:cNvSpPr/>
          <p:nvPr/>
        </p:nvSpPr>
        <p:spPr>
          <a:xfrm>
            <a:off x="4754880" y="1810512"/>
            <a:ext cx="4114800" cy="685800"/>
          </a:xfrm>
          <a:prstGeom prst="roundRect">
            <a:avLst>
              <a:gd name="adj" fmla="val 13333"/>
            </a:avLst>
          </a:prstGeom>
          <a:solidFill>
            <a:srgbClr val="EEF2F7"/>
          </a:solidFill>
          <a:ln w="12700">
            <a:solidFill>
              <a:srgbClr val="2E6DA4"/>
            </a:solidFill>
            <a:prstDash val="solid"/>
          </a:ln>
        </p:spPr>
      </p:sp>
      <p:sp>
        <p:nvSpPr>
          <p:cNvPr id="34" name="Text 32"/>
          <p:cNvSpPr/>
          <p:nvPr/>
        </p:nvSpPr>
        <p:spPr>
          <a:xfrm>
            <a:off x="4892040" y="1883664"/>
            <a:ext cx="3840480" cy="256032"/>
          </a:xfrm>
          <a:prstGeom prst="rect">
            <a:avLst/>
          </a:prstGeom>
          <a:noFill/>
          <a:ln/>
        </p:spPr>
        <p:txBody>
          <a:bodyPr wrap="square" rtlCol="0" anchor="ctr"/>
          <a:lstStyle/>
          <a:p>
            <a:pPr marL="0" indent="0">
              <a:buNone/>
            </a:pPr>
            <a:r>
              <a:rPr lang="en-US" sz="1200" b="1" dirty="0">
                <a:solidFill>
                  <a:srgbClr val="2E6DA4"/>
                </a:solidFill>
                <a:latin typeface="Calibri" pitchFamily="34" charset="0"/>
                <a:ea typeface="Calibri" pitchFamily="34" charset="-122"/>
                <a:cs typeface="Calibri" pitchFamily="34" charset="-120"/>
              </a:rPr>
              <a:t>Express.js</a:t>
            </a:r>
            <a:endParaRPr lang="en-US" sz="1200" dirty="0"/>
          </a:p>
        </p:txBody>
      </p:sp>
      <p:sp>
        <p:nvSpPr>
          <p:cNvPr id="35" name="Text 33"/>
          <p:cNvSpPr/>
          <p:nvPr/>
        </p:nvSpPr>
        <p:spPr>
          <a:xfrm>
            <a:off x="4892040" y="2157984"/>
            <a:ext cx="3840480" cy="256032"/>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Lightweight, minimal overhead vs heavy frameworks like NestJS</a:t>
            </a:r>
            <a:endParaRPr lang="en-US" sz="850" dirty="0"/>
          </a:p>
        </p:txBody>
      </p:sp>
      <p:sp>
        <p:nvSpPr>
          <p:cNvPr id="36" name="Shape 34"/>
          <p:cNvSpPr/>
          <p:nvPr/>
        </p:nvSpPr>
        <p:spPr>
          <a:xfrm>
            <a:off x="4754880" y="2615184"/>
            <a:ext cx="4114800" cy="685800"/>
          </a:xfrm>
          <a:prstGeom prst="roundRect">
            <a:avLst>
              <a:gd name="adj" fmla="val 13333"/>
            </a:avLst>
          </a:prstGeom>
          <a:solidFill>
            <a:srgbClr val="EEF2F7"/>
          </a:solidFill>
          <a:ln w="12700">
            <a:solidFill>
              <a:srgbClr val="2E6DA4"/>
            </a:solidFill>
            <a:prstDash val="solid"/>
          </a:ln>
        </p:spPr>
      </p:sp>
      <p:sp>
        <p:nvSpPr>
          <p:cNvPr id="37" name="Text 35"/>
          <p:cNvSpPr/>
          <p:nvPr/>
        </p:nvSpPr>
        <p:spPr>
          <a:xfrm>
            <a:off x="4892040" y="2688336"/>
            <a:ext cx="3840480" cy="256032"/>
          </a:xfrm>
          <a:prstGeom prst="rect">
            <a:avLst/>
          </a:prstGeom>
          <a:noFill/>
          <a:ln/>
        </p:spPr>
        <p:txBody>
          <a:bodyPr wrap="square" rtlCol="0" anchor="ctr"/>
          <a:lstStyle/>
          <a:p>
            <a:pPr marL="0" indent="0">
              <a:buNone/>
            </a:pPr>
            <a:r>
              <a:rPr lang="en-US" sz="1200" b="1" dirty="0">
                <a:solidFill>
                  <a:srgbClr val="2E6DA4"/>
                </a:solidFill>
                <a:latin typeface="Calibri" pitchFamily="34" charset="0"/>
                <a:ea typeface="Calibri" pitchFamily="34" charset="-122"/>
                <a:cs typeface="Calibri" pitchFamily="34" charset="-120"/>
              </a:rPr>
              <a:t>Dockerode SDK</a:t>
            </a:r>
            <a:endParaRPr lang="en-US" sz="1200" dirty="0"/>
          </a:p>
        </p:txBody>
      </p:sp>
      <p:sp>
        <p:nvSpPr>
          <p:cNvPr id="38" name="Text 36"/>
          <p:cNvSpPr/>
          <p:nvPr/>
        </p:nvSpPr>
        <p:spPr>
          <a:xfrm>
            <a:off x="4892040" y="2962656"/>
            <a:ext cx="3840480" cy="256032"/>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Official Node.js Docker SDK — type-safe, maintained by Docker</a:t>
            </a:r>
            <a:endParaRPr lang="en-US" sz="850" dirty="0"/>
          </a:p>
        </p:txBody>
      </p:sp>
      <p:sp>
        <p:nvSpPr>
          <p:cNvPr id="39" name="Shape 37"/>
          <p:cNvSpPr/>
          <p:nvPr/>
        </p:nvSpPr>
        <p:spPr>
          <a:xfrm>
            <a:off x="4754880" y="3419856"/>
            <a:ext cx="4114800" cy="685800"/>
          </a:xfrm>
          <a:prstGeom prst="roundRect">
            <a:avLst>
              <a:gd name="adj" fmla="val 13333"/>
            </a:avLst>
          </a:prstGeom>
          <a:solidFill>
            <a:srgbClr val="EEF2F7"/>
          </a:solidFill>
          <a:ln w="12700">
            <a:solidFill>
              <a:srgbClr val="A07840"/>
            </a:solidFill>
            <a:prstDash val="solid"/>
          </a:ln>
        </p:spPr>
      </p:sp>
      <p:sp>
        <p:nvSpPr>
          <p:cNvPr id="40" name="Text 38"/>
          <p:cNvSpPr/>
          <p:nvPr/>
        </p:nvSpPr>
        <p:spPr>
          <a:xfrm>
            <a:off x="4892040" y="3493008"/>
            <a:ext cx="3840480" cy="256032"/>
          </a:xfrm>
          <a:prstGeom prst="rect">
            <a:avLst/>
          </a:prstGeom>
          <a:noFill/>
          <a:ln/>
        </p:spPr>
        <p:txBody>
          <a:bodyPr wrap="square" rtlCol="0" anchor="ctr"/>
          <a:lstStyle/>
          <a:p>
            <a:pPr marL="0" indent="0">
              <a:buNone/>
            </a:pPr>
            <a:r>
              <a:rPr lang="en-US" sz="1200" b="1" dirty="0">
                <a:solidFill>
                  <a:srgbClr val="A07840"/>
                </a:solidFill>
                <a:latin typeface="Calibri" pitchFamily="34" charset="0"/>
                <a:ea typeface="Calibri" pitchFamily="34" charset="-122"/>
                <a:cs typeface="Calibri" pitchFamily="34" charset="-120"/>
              </a:rPr>
              <a:t>ws (WebSocket)</a:t>
            </a:r>
            <a:endParaRPr lang="en-US" sz="1200" dirty="0"/>
          </a:p>
        </p:txBody>
      </p:sp>
      <p:sp>
        <p:nvSpPr>
          <p:cNvPr id="41" name="Text 39"/>
          <p:cNvSpPr/>
          <p:nvPr/>
        </p:nvSpPr>
        <p:spPr>
          <a:xfrm>
            <a:off x="4892040" y="3767328"/>
            <a:ext cx="3840480" cy="256032"/>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Native WebSocket library — pushes live container data every 3 seconds</a:t>
            </a:r>
            <a:endParaRPr lang="en-US" sz="850" dirty="0"/>
          </a:p>
        </p:txBody>
      </p:sp>
      <p:sp>
        <p:nvSpPr>
          <p:cNvPr id="42" name="Shape 40"/>
          <p:cNvSpPr/>
          <p:nvPr/>
        </p:nvSpPr>
        <p:spPr>
          <a:xfrm>
            <a:off x="4754880" y="4251960"/>
            <a:ext cx="4114800" cy="640080"/>
          </a:xfrm>
          <a:prstGeom prst="roundRect">
            <a:avLst>
              <a:gd name="adj" fmla="val 14286"/>
            </a:avLst>
          </a:prstGeom>
          <a:solidFill>
            <a:srgbClr val="EEF2F7"/>
          </a:solidFill>
          <a:ln w="12700">
            <a:solidFill>
              <a:srgbClr val="3A7D8C"/>
            </a:solidFill>
            <a:prstDash val="solid"/>
          </a:ln>
        </p:spPr>
      </p:sp>
      <p:sp>
        <p:nvSpPr>
          <p:cNvPr id="43" name="Text 41"/>
          <p:cNvSpPr/>
          <p:nvPr/>
        </p:nvSpPr>
        <p:spPr>
          <a:xfrm>
            <a:off x="4892040" y="4279392"/>
            <a:ext cx="3840480" cy="292608"/>
          </a:xfrm>
          <a:prstGeom prst="rect">
            <a:avLst/>
          </a:prstGeom>
          <a:noFill/>
          <a:ln/>
        </p:spPr>
        <p:txBody>
          <a:bodyPr wrap="square" rtlCol="0" anchor="ctr"/>
          <a:lstStyle/>
          <a:p>
            <a:pPr marL="0" indent="0">
              <a:buNone/>
            </a:pPr>
            <a:r>
              <a:rPr lang="en-US" sz="1100" b="1" dirty="0">
                <a:solidFill>
                  <a:srgbClr val="3A7D8C"/>
                </a:solidFill>
                <a:latin typeface="Calibri" pitchFamily="34" charset="0"/>
                <a:ea typeface="Calibri" pitchFamily="34" charset="-122"/>
                <a:cs typeface="Calibri" pitchFamily="34" charset="-120"/>
              </a:rPr>
              <a:t>🚫 No Database Needed — Why?</a:t>
            </a:r>
            <a:endParaRPr lang="en-US" sz="1100" dirty="0"/>
          </a:p>
        </p:txBody>
      </p:sp>
      <p:sp>
        <p:nvSpPr>
          <p:cNvPr id="44" name="Text 42"/>
          <p:cNvSpPr/>
          <p:nvPr/>
        </p:nvSpPr>
        <p:spPr>
          <a:xfrm>
            <a:off x="4892040" y="4553712"/>
            <a:ext cx="3840480" cy="274320"/>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Docker itself IS the data source. Container states are queried live from Docker Engine — no need to store them.</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System Architecture</a:t>
            </a:r>
            <a:endParaRPr lang="en-US" sz="2800" dirty="0"/>
          </a:p>
        </p:txBody>
      </p:sp>
      <p:sp>
        <p:nvSpPr>
          <p:cNvPr id="3" name="Text 1"/>
          <p:cNvSpPr/>
          <p:nvPr/>
        </p:nvSpPr>
        <p:spPr>
          <a:xfrm>
            <a:off x="457200" y="566928"/>
            <a:ext cx="8229600" cy="292608"/>
          </a:xfrm>
          <a:prstGeom prst="rect">
            <a:avLst/>
          </a:prstGeom>
          <a:noFill/>
          <a:ln/>
        </p:spPr>
        <p:txBody>
          <a:bodyPr wrap="square" rtlCol="0" anchor="ctr"/>
          <a:lstStyle/>
          <a:p>
            <a:pPr marL="0" indent="0">
              <a:buNone/>
            </a:pPr>
            <a:r>
              <a:rPr lang="en-US" sz="1200" dirty="0">
                <a:solidFill>
                  <a:srgbClr val="7B8FA1"/>
                </a:solidFill>
                <a:latin typeface="Calibri" pitchFamily="34" charset="0"/>
                <a:ea typeface="Calibri" pitchFamily="34" charset="-122"/>
                <a:cs typeface="Calibri" pitchFamily="34" charset="-120"/>
              </a:rPr>
              <a:t>Full-stack AI + Docker system — every layer justified</a:t>
            </a:r>
            <a:endParaRPr lang="en-US" sz="1200" dirty="0"/>
          </a:p>
        </p:txBody>
      </p:sp>
      <p:sp>
        <p:nvSpPr>
          <p:cNvPr id="4" name="Shape 2"/>
          <p:cNvSpPr/>
          <p:nvPr/>
        </p:nvSpPr>
        <p:spPr>
          <a:xfrm>
            <a:off x="914400" y="896112"/>
            <a:ext cx="3657600" cy="530352"/>
          </a:xfrm>
          <a:prstGeom prst="roundRect">
            <a:avLst>
              <a:gd name="adj" fmla="val 13793"/>
            </a:avLst>
          </a:prstGeom>
          <a:solidFill>
            <a:srgbClr val="2E6DA4">
              <a:alpha val="82000"/>
            </a:srgbClr>
          </a:solidFill>
          <a:ln w="19050">
            <a:solidFill>
              <a:srgbClr val="2E6DA4"/>
            </a:solidFill>
            <a:prstDash val="solid"/>
          </a:ln>
        </p:spPr>
      </p:sp>
      <p:sp>
        <p:nvSpPr>
          <p:cNvPr id="5" name="Text 3"/>
          <p:cNvSpPr/>
          <p:nvPr/>
        </p:nvSpPr>
        <p:spPr>
          <a:xfrm>
            <a:off x="1005840" y="896112"/>
            <a:ext cx="1828800" cy="53035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USER</a:t>
            </a:r>
            <a:endParaRPr lang="en-US" sz="1100" dirty="0"/>
          </a:p>
        </p:txBody>
      </p:sp>
      <p:sp>
        <p:nvSpPr>
          <p:cNvPr id="6" name="Text 4"/>
          <p:cNvSpPr/>
          <p:nvPr/>
        </p:nvSpPr>
        <p:spPr>
          <a:xfrm>
            <a:off x="2834640" y="896112"/>
            <a:ext cx="1691640" cy="53035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Browser / Web Client</a:t>
            </a:r>
            <a:endParaRPr lang="en-US" sz="800" dirty="0"/>
          </a:p>
        </p:txBody>
      </p:sp>
      <p:sp>
        <p:nvSpPr>
          <p:cNvPr id="7" name="Shape 5"/>
          <p:cNvSpPr/>
          <p:nvPr/>
        </p:nvSpPr>
        <p:spPr>
          <a:xfrm>
            <a:off x="2724912" y="1426464"/>
            <a:ext cx="36576" cy="128016"/>
          </a:xfrm>
          <a:prstGeom prst="rect">
            <a:avLst/>
          </a:prstGeom>
          <a:solidFill>
            <a:srgbClr val="2E6DA4"/>
          </a:solidFill>
          <a:ln w="12700">
            <a:solidFill>
              <a:srgbClr val="2E6DA4"/>
            </a:solidFill>
            <a:prstDash val="solid"/>
          </a:ln>
        </p:spPr>
      </p:sp>
      <p:sp>
        <p:nvSpPr>
          <p:cNvPr id="8" name="Shape 6"/>
          <p:cNvSpPr/>
          <p:nvPr/>
        </p:nvSpPr>
        <p:spPr>
          <a:xfrm>
            <a:off x="4846320" y="941832"/>
            <a:ext cx="3977640" cy="420624"/>
          </a:xfrm>
          <a:prstGeom prst="roundRect">
            <a:avLst>
              <a:gd name="adj" fmla="val 15217"/>
            </a:avLst>
          </a:prstGeom>
          <a:solidFill>
            <a:srgbClr val="EEF2F7"/>
          </a:solidFill>
          <a:ln w="6350">
            <a:solidFill>
              <a:srgbClr val="DDE6F0"/>
            </a:solidFill>
            <a:prstDash val="solid"/>
          </a:ln>
        </p:spPr>
      </p:sp>
      <p:sp>
        <p:nvSpPr>
          <p:cNvPr id="9" name="Text 7"/>
          <p:cNvSpPr/>
          <p:nvPr/>
        </p:nvSpPr>
        <p:spPr>
          <a:xfrm>
            <a:off x="4919472" y="941832"/>
            <a:ext cx="3840480" cy="420624"/>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Simple, accessible interface for any user</a:t>
            </a:r>
            <a:endParaRPr lang="en-US" sz="900" dirty="0"/>
          </a:p>
        </p:txBody>
      </p:sp>
      <p:sp>
        <p:nvSpPr>
          <p:cNvPr id="10" name="Shape 8"/>
          <p:cNvSpPr/>
          <p:nvPr/>
        </p:nvSpPr>
        <p:spPr>
          <a:xfrm>
            <a:off x="914400" y="1563624"/>
            <a:ext cx="3657600" cy="530352"/>
          </a:xfrm>
          <a:prstGeom prst="roundRect">
            <a:avLst>
              <a:gd name="adj" fmla="val 13793"/>
            </a:avLst>
          </a:prstGeom>
          <a:solidFill>
            <a:srgbClr val="5B6E7C">
              <a:alpha val="82000"/>
            </a:srgbClr>
          </a:solidFill>
          <a:ln w="19050">
            <a:solidFill>
              <a:srgbClr val="5B6E7C"/>
            </a:solidFill>
            <a:prstDash val="solid"/>
          </a:ln>
        </p:spPr>
      </p:sp>
      <p:sp>
        <p:nvSpPr>
          <p:cNvPr id="11" name="Text 9"/>
          <p:cNvSpPr/>
          <p:nvPr/>
        </p:nvSpPr>
        <p:spPr>
          <a:xfrm>
            <a:off x="1005840" y="1563624"/>
            <a:ext cx="1828800" cy="53035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FRONTEND</a:t>
            </a:r>
            <a:endParaRPr lang="en-US" sz="1100" dirty="0"/>
          </a:p>
        </p:txBody>
      </p:sp>
      <p:sp>
        <p:nvSpPr>
          <p:cNvPr id="12" name="Text 10"/>
          <p:cNvSpPr/>
          <p:nvPr/>
        </p:nvSpPr>
        <p:spPr>
          <a:xfrm>
            <a:off x="2834640" y="1563624"/>
            <a:ext cx="1691640" cy="53035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React + TypeScript + Tailwind CSS</a:t>
            </a:r>
            <a:endParaRPr lang="en-US" sz="800" dirty="0"/>
          </a:p>
        </p:txBody>
      </p:sp>
      <p:sp>
        <p:nvSpPr>
          <p:cNvPr id="13" name="Shape 11"/>
          <p:cNvSpPr/>
          <p:nvPr/>
        </p:nvSpPr>
        <p:spPr>
          <a:xfrm>
            <a:off x="2724912" y="2093976"/>
            <a:ext cx="36576" cy="128016"/>
          </a:xfrm>
          <a:prstGeom prst="rect">
            <a:avLst/>
          </a:prstGeom>
          <a:solidFill>
            <a:srgbClr val="5B6E7C"/>
          </a:solidFill>
          <a:ln w="12700">
            <a:solidFill>
              <a:srgbClr val="5B6E7C"/>
            </a:solidFill>
            <a:prstDash val="solid"/>
          </a:ln>
        </p:spPr>
      </p:sp>
      <p:sp>
        <p:nvSpPr>
          <p:cNvPr id="14" name="Shape 12"/>
          <p:cNvSpPr/>
          <p:nvPr/>
        </p:nvSpPr>
        <p:spPr>
          <a:xfrm>
            <a:off x="4846320" y="1609344"/>
            <a:ext cx="3977640" cy="420624"/>
          </a:xfrm>
          <a:prstGeom prst="roundRect">
            <a:avLst>
              <a:gd name="adj" fmla="val 15217"/>
            </a:avLst>
          </a:prstGeom>
          <a:solidFill>
            <a:srgbClr val="EEF2F7"/>
          </a:solidFill>
          <a:ln w="6350">
            <a:solidFill>
              <a:srgbClr val="DDE6F0"/>
            </a:solidFill>
            <a:prstDash val="solid"/>
          </a:ln>
        </p:spPr>
      </p:sp>
      <p:sp>
        <p:nvSpPr>
          <p:cNvPr id="15" name="Text 13"/>
          <p:cNvSpPr/>
          <p:nvPr/>
        </p:nvSpPr>
        <p:spPr>
          <a:xfrm>
            <a:off x="4919472" y="1609344"/>
            <a:ext cx="3840480" cy="420624"/>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Fast, responsive, type-safe UI</a:t>
            </a:r>
            <a:endParaRPr lang="en-US" sz="900" dirty="0"/>
          </a:p>
        </p:txBody>
      </p:sp>
      <p:sp>
        <p:nvSpPr>
          <p:cNvPr id="16" name="Shape 14"/>
          <p:cNvSpPr/>
          <p:nvPr/>
        </p:nvSpPr>
        <p:spPr>
          <a:xfrm>
            <a:off x="914400" y="2231136"/>
            <a:ext cx="3657600" cy="530352"/>
          </a:xfrm>
          <a:prstGeom prst="roundRect">
            <a:avLst>
              <a:gd name="adj" fmla="val 13793"/>
            </a:avLst>
          </a:prstGeom>
          <a:solidFill>
            <a:srgbClr val="3A7D8C">
              <a:alpha val="82000"/>
            </a:srgbClr>
          </a:solidFill>
          <a:ln w="19050">
            <a:solidFill>
              <a:srgbClr val="3A7D8C"/>
            </a:solidFill>
            <a:prstDash val="solid"/>
          </a:ln>
        </p:spPr>
      </p:sp>
      <p:sp>
        <p:nvSpPr>
          <p:cNvPr id="17" name="Text 15"/>
          <p:cNvSpPr/>
          <p:nvPr/>
        </p:nvSpPr>
        <p:spPr>
          <a:xfrm>
            <a:off x="1005840" y="2231136"/>
            <a:ext cx="1828800" cy="53035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BACKEND API</a:t>
            </a:r>
            <a:endParaRPr lang="en-US" sz="1100" dirty="0"/>
          </a:p>
        </p:txBody>
      </p:sp>
      <p:sp>
        <p:nvSpPr>
          <p:cNvPr id="18" name="Text 16"/>
          <p:cNvSpPr/>
          <p:nvPr/>
        </p:nvSpPr>
        <p:spPr>
          <a:xfrm>
            <a:off x="2834640" y="2231136"/>
            <a:ext cx="1691640" cy="53035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Node.js + Express.js</a:t>
            </a:r>
            <a:endParaRPr lang="en-US" sz="800" dirty="0"/>
          </a:p>
        </p:txBody>
      </p:sp>
      <p:sp>
        <p:nvSpPr>
          <p:cNvPr id="19" name="Shape 17"/>
          <p:cNvSpPr/>
          <p:nvPr/>
        </p:nvSpPr>
        <p:spPr>
          <a:xfrm>
            <a:off x="2724912" y="2761488"/>
            <a:ext cx="36576" cy="128016"/>
          </a:xfrm>
          <a:prstGeom prst="rect">
            <a:avLst/>
          </a:prstGeom>
          <a:solidFill>
            <a:srgbClr val="3A7D8C"/>
          </a:solidFill>
          <a:ln w="12700">
            <a:solidFill>
              <a:srgbClr val="3A7D8C"/>
            </a:solidFill>
            <a:prstDash val="solid"/>
          </a:ln>
        </p:spPr>
      </p:sp>
      <p:sp>
        <p:nvSpPr>
          <p:cNvPr id="20" name="Shape 18"/>
          <p:cNvSpPr/>
          <p:nvPr/>
        </p:nvSpPr>
        <p:spPr>
          <a:xfrm>
            <a:off x="4846320" y="2276856"/>
            <a:ext cx="3977640" cy="420624"/>
          </a:xfrm>
          <a:prstGeom prst="roundRect">
            <a:avLst>
              <a:gd name="adj" fmla="val 15217"/>
            </a:avLst>
          </a:prstGeom>
          <a:solidFill>
            <a:srgbClr val="EEF2F7"/>
          </a:solidFill>
          <a:ln w="6350">
            <a:solidFill>
              <a:srgbClr val="DDE6F0"/>
            </a:solidFill>
            <a:prstDash val="solid"/>
          </a:ln>
        </p:spPr>
      </p:sp>
      <p:sp>
        <p:nvSpPr>
          <p:cNvPr id="21" name="Text 19"/>
          <p:cNvSpPr/>
          <p:nvPr/>
        </p:nvSpPr>
        <p:spPr>
          <a:xfrm>
            <a:off x="4919472" y="2276856"/>
            <a:ext cx="3840480" cy="420624"/>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Scalable, async, non-blocking server</a:t>
            </a:r>
            <a:endParaRPr lang="en-US" sz="900" dirty="0"/>
          </a:p>
        </p:txBody>
      </p:sp>
      <p:sp>
        <p:nvSpPr>
          <p:cNvPr id="22" name="Shape 20"/>
          <p:cNvSpPr/>
          <p:nvPr/>
        </p:nvSpPr>
        <p:spPr>
          <a:xfrm>
            <a:off x="914400" y="2898648"/>
            <a:ext cx="3657600" cy="530352"/>
          </a:xfrm>
          <a:prstGeom prst="roundRect">
            <a:avLst>
              <a:gd name="adj" fmla="val 13793"/>
            </a:avLst>
          </a:prstGeom>
          <a:solidFill>
            <a:srgbClr val="A07840">
              <a:alpha val="82000"/>
            </a:srgbClr>
          </a:solidFill>
          <a:ln w="19050">
            <a:solidFill>
              <a:srgbClr val="A07840"/>
            </a:solidFill>
            <a:prstDash val="solid"/>
          </a:ln>
        </p:spPr>
      </p:sp>
      <p:sp>
        <p:nvSpPr>
          <p:cNvPr id="23" name="Text 21"/>
          <p:cNvSpPr/>
          <p:nvPr/>
        </p:nvSpPr>
        <p:spPr>
          <a:xfrm>
            <a:off x="1005840" y="2898648"/>
            <a:ext cx="1828800" cy="53035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AI ENGINE</a:t>
            </a:r>
            <a:endParaRPr lang="en-US" sz="1100" dirty="0"/>
          </a:p>
        </p:txBody>
      </p:sp>
      <p:sp>
        <p:nvSpPr>
          <p:cNvPr id="24" name="Text 22"/>
          <p:cNvSpPr/>
          <p:nvPr/>
        </p:nvSpPr>
        <p:spPr>
          <a:xfrm>
            <a:off x="2834640" y="2898648"/>
            <a:ext cx="1691640" cy="53035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Gemini AI / Ollama LLM</a:t>
            </a:r>
            <a:endParaRPr lang="en-US" sz="800" dirty="0"/>
          </a:p>
        </p:txBody>
      </p:sp>
      <p:sp>
        <p:nvSpPr>
          <p:cNvPr id="25" name="Shape 23"/>
          <p:cNvSpPr/>
          <p:nvPr/>
        </p:nvSpPr>
        <p:spPr>
          <a:xfrm>
            <a:off x="2724912" y="3429000"/>
            <a:ext cx="36576" cy="128016"/>
          </a:xfrm>
          <a:prstGeom prst="rect">
            <a:avLst/>
          </a:prstGeom>
          <a:solidFill>
            <a:srgbClr val="A07840"/>
          </a:solidFill>
          <a:ln w="12700">
            <a:solidFill>
              <a:srgbClr val="A07840"/>
            </a:solidFill>
            <a:prstDash val="solid"/>
          </a:ln>
        </p:spPr>
      </p:sp>
      <p:sp>
        <p:nvSpPr>
          <p:cNvPr id="26" name="Shape 24"/>
          <p:cNvSpPr/>
          <p:nvPr/>
        </p:nvSpPr>
        <p:spPr>
          <a:xfrm>
            <a:off x="4846320" y="2944368"/>
            <a:ext cx="3977640" cy="420624"/>
          </a:xfrm>
          <a:prstGeom prst="roundRect">
            <a:avLst>
              <a:gd name="adj" fmla="val 15217"/>
            </a:avLst>
          </a:prstGeom>
          <a:solidFill>
            <a:srgbClr val="EEF2F7"/>
          </a:solidFill>
          <a:ln w="6350">
            <a:solidFill>
              <a:srgbClr val="DDE6F0"/>
            </a:solidFill>
            <a:prstDash val="solid"/>
          </a:ln>
        </p:spPr>
      </p:sp>
      <p:sp>
        <p:nvSpPr>
          <p:cNvPr id="27" name="Text 25"/>
          <p:cNvSpPr/>
          <p:nvPr/>
        </p:nvSpPr>
        <p:spPr>
          <a:xfrm>
            <a:off x="4919472" y="2944368"/>
            <a:ext cx="3840480" cy="420624"/>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Natural language to Docker command mapping</a:t>
            </a:r>
            <a:endParaRPr lang="en-US" sz="900" dirty="0"/>
          </a:p>
        </p:txBody>
      </p:sp>
      <p:sp>
        <p:nvSpPr>
          <p:cNvPr id="28" name="Shape 26"/>
          <p:cNvSpPr/>
          <p:nvPr/>
        </p:nvSpPr>
        <p:spPr>
          <a:xfrm>
            <a:off x="914400" y="3566160"/>
            <a:ext cx="3657600" cy="530352"/>
          </a:xfrm>
          <a:prstGeom prst="roundRect">
            <a:avLst>
              <a:gd name="adj" fmla="val 13793"/>
            </a:avLst>
          </a:prstGeom>
          <a:solidFill>
            <a:srgbClr val="2E6DA4">
              <a:alpha val="82000"/>
            </a:srgbClr>
          </a:solidFill>
          <a:ln w="19050">
            <a:solidFill>
              <a:srgbClr val="2E6DA4"/>
            </a:solidFill>
            <a:prstDash val="solid"/>
          </a:ln>
        </p:spPr>
      </p:sp>
      <p:sp>
        <p:nvSpPr>
          <p:cNvPr id="29" name="Text 27"/>
          <p:cNvSpPr/>
          <p:nvPr/>
        </p:nvSpPr>
        <p:spPr>
          <a:xfrm>
            <a:off x="1005840" y="3566160"/>
            <a:ext cx="1828800" cy="53035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DOCKER SDK</a:t>
            </a:r>
            <a:endParaRPr lang="en-US" sz="1100" dirty="0"/>
          </a:p>
        </p:txBody>
      </p:sp>
      <p:sp>
        <p:nvSpPr>
          <p:cNvPr id="30" name="Text 28"/>
          <p:cNvSpPr/>
          <p:nvPr/>
        </p:nvSpPr>
        <p:spPr>
          <a:xfrm>
            <a:off x="2834640" y="3566160"/>
            <a:ext cx="1691640" cy="53035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Dockerode — official Node.js SDK</a:t>
            </a:r>
            <a:endParaRPr lang="en-US" sz="800" dirty="0"/>
          </a:p>
        </p:txBody>
      </p:sp>
      <p:sp>
        <p:nvSpPr>
          <p:cNvPr id="31" name="Shape 29"/>
          <p:cNvSpPr/>
          <p:nvPr/>
        </p:nvSpPr>
        <p:spPr>
          <a:xfrm>
            <a:off x="2724912" y="4096512"/>
            <a:ext cx="36576" cy="128016"/>
          </a:xfrm>
          <a:prstGeom prst="rect">
            <a:avLst/>
          </a:prstGeom>
          <a:solidFill>
            <a:srgbClr val="2E6DA4"/>
          </a:solidFill>
          <a:ln w="12700">
            <a:solidFill>
              <a:srgbClr val="2E6DA4"/>
            </a:solidFill>
            <a:prstDash val="solid"/>
          </a:ln>
        </p:spPr>
      </p:sp>
      <p:sp>
        <p:nvSpPr>
          <p:cNvPr id="32" name="Shape 30"/>
          <p:cNvSpPr/>
          <p:nvPr/>
        </p:nvSpPr>
        <p:spPr>
          <a:xfrm>
            <a:off x="4846320" y="3611880"/>
            <a:ext cx="3977640" cy="420624"/>
          </a:xfrm>
          <a:prstGeom prst="roundRect">
            <a:avLst>
              <a:gd name="adj" fmla="val 15217"/>
            </a:avLst>
          </a:prstGeom>
          <a:solidFill>
            <a:srgbClr val="EEF2F7"/>
          </a:solidFill>
          <a:ln w="6350">
            <a:solidFill>
              <a:srgbClr val="DDE6F0"/>
            </a:solidFill>
            <a:prstDash val="solid"/>
          </a:ln>
        </p:spPr>
      </p:sp>
      <p:sp>
        <p:nvSpPr>
          <p:cNvPr id="33" name="Text 31"/>
          <p:cNvSpPr/>
          <p:nvPr/>
        </p:nvSpPr>
        <p:spPr>
          <a:xfrm>
            <a:off x="4919472" y="3611880"/>
            <a:ext cx="3840480" cy="420624"/>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Safe, official Docker integration</a:t>
            </a:r>
            <a:endParaRPr lang="en-US" sz="900" dirty="0"/>
          </a:p>
        </p:txBody>
      </p:sp>
      <p:sp>
        <p:nvSpPr>
          <p:cNvPr id="34" name="Shape 32"/>
          <p:cNvSpPr/>
          <p:nvPr/>
        </p:nvSpPr>
        <p:spPr>
          <a:xfrm>
            <a:off x="914400" y="4233672"/>
            <a:ext cx="3657600" cy="530352"/>
          </a:xfrm>
          <a:prstGeom prst="roundRect">
            <a:avLst>
              <a:gd name="adj" fmla="val 13793"/>
            </a:avLst>
          </a:prstGeom>
          <a:solidFill>
            <a:srgbClr val="9B3A3A">
              <a:alpha val="82000"/>
            </a:srgbClr>
          </a:solidFill>
          <a:ln w="19050">
            <a:solidFill>
              <a:srgbClr val="9B3A3A"/>
            </a:solidFill>
            <a:prstDash val="solid"/>
          </a:ln>
        </p:spPr>
      </p:sp>
      <p:sp>
        <p:nvSpPr>
          <p:cNvPr id="35" name="Text 33"/>
          <p:cNvSpPr/>
          <p:nvPr/>
        </p:nvSpPr>
        <p:spPr>
          <a:xfrm>
            <a:off x="1005840" y="4233672"/>
            <a:ext cx="1828800" cy="53035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DOCKER ENGINE</a:t>
            </a:r>
            <a:endParaRPr lang="en-US" sz="1100" dirty="0"/>
          </a:p>
        </p:txBody>
      </p:sp>
      <p:sp>
        <p:nvSpPr>
          <p:cNvPr id="36" name="Text 34"/>
          <p:cNvSpPr/>
          <p:nvPr/>
        </p:nvSpPr>
        <p:spPr>
          <a:xfrm>
            <a:off x="2834640" y="4233672"/>
            <a:ext cx="1691640" cy="530352"/>
          </a:xfrm>
          <a:prstGeom prst="rect">
            <a:avLst/>
          </a:prstGeom>
          <a:noFill/>
          <a:ln/>
        </p:spPr>
        <p:txBody>
          <a:bodyPr wrap="square" rtlCol="0" anchor="ctr"/>
          <a:lstStyle/>
          <a:p>
            <a:pPr marL="0" indent="0">
              <a:buNone/>
            </a:pPr>
            <a:r>
              <a:rPr lang="en-US" sz="800" dirty="0">
                <a:solidFill>
                  <a:srgbClr val="7B8FA1"/>
                </a:solidFill>
                <a:latin typeface="Calibri" pitchFamily="34" charset="0"/>
                <a:ea typeface="Calibri" pitchFamily="34" charset="-122"/>
                <a:cs typeface="Calibri" pitchFamily="34" charset="-120"/>
              </a:rPr>
              <a:t>Containers, Images, Networks</a:t>
            </a:r>
            <a:endParaRPr lang="en-US" sz="800" dirty="0"/>
          </a:p>
        </p:txBody>
      </p:sp>
      <p:sp>
        <p:nvSpPr>
          <p:cNvPr id="37" name="Shape 35"/>
          <p:cNvSpPr/>
          <p:nvPr/>
        </p:nvSpPr>
        <p:spPr>
          <a:xfrm>
            <a:off x="4846320" y="4279392"/>
            <a:ext cx="3977640" cy="420624"/>
          </a:xfrm>
          <a:prstGeom prst="roundRect">
            <a:avLst>
              <a:gd name="adj" fmla="val 15217"/>
            </a:avLst>
          </a:prstGeom>
          <a:solidFill>
            <a:srgbClr val="EEF2F7"/>
          </a:solidFill>
          <a:ln w="6350">
            <a:solidFill>
              <a:srgbClr val="DDE6F0"/>
            </a:solidFill>
            <a:prstDash val="solid"/>
          </a:ln>
        </p:spPr>
      </p:sp>
      <p:sp>
        <p:nvSpPr>
          <p:cNvPr id="38" name="Text 36"/>
          <p:cNvSpPr/>
          <p:nvPr/>
        </p:nvSpPr>
        <p:spPr>
          <a:xfrm>
            <a:off x="4919472" y="4279392"/>
            <a:ext cx="3840480" cy="420624"/>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 Actual container execution runtime</a:t>
            </a:r>
            <a:endParaRPr lang="en-US" sz="900" dirty="0"/>
          </a:p>
        </p:txBody>
      </p:sp>
      <p:sp>
        <p:nvSpPr>
          <p:cNvPr id="39" name="Shape 37"/>
          <p:cNvSpPr/>
          <p:nvPr/>
        </p:nvSpPr>
        <p:spPr>
          <a:xfrm>
            <a:off x="4663440" y="914400"/>
            <a:ext cx="0" cy="3977640"/>
          </a:xfrm>
          <a:prstGeom prst="line">
            <a:avLst/>
          </a:prstGeom>
          <a:noFill/>
          <a:ln w="6350">
            <a:solidFill>
              <a:srgbClr val="6B7F8E"/>
            </a:solidFill>
            <a:prstDash val="dash"/>
          </a:ln>
        </p:spPr>
      </p:sp>
      <p:sp>
        <p:nvSpPr>
          <p:cNvPr id="40" name="Text 38"/>
          <p:cNvSpPr/>
          <p:nvPr/>
        </p:nvSpPr>
        <p:spPr>
          <a:xfrm>
            <a:off x="4892040" y="640080"/>
            <a:ext cx="2286000" cy="256032"/>
          </a:xfrm>
          <a:prstGeom prst="rect">
            <a:avLst/>
          </a:prstGeom>
          <a:noFill/>
          <a:ln/>
        </p:spPr>
        <p:txBody>
          <a:bodyPr wrap="square" rtlCol="0" anchor="ctr"/>
          <a:lstStyle/>
          <a:p>
            <a:pPr marL="0" indent="0">
              <a:buNone/>
            </a:pPr>
            <a:r>
              <a:rPr lang="en-US" sz="900" i="1" dirty="0">
                <a:solidFill>
                  <a:srgbClr val="6B7F8E"/>
                </a:solidFill>
                <a:latin typeface="Calibri" pitchFamily="34" charset="0"/>
                <a:ea typeface="Calibri" pitchFamily="34" charset="-122"/>
                <a:cs typeface="Calibri" pitchFamily="34" charset="-120"/>
              </a:rPr>
              <a:t>Layer Justification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How It Works</a:t>
            </a:r>
            <a:endParaRPr lang="en-US" sz="2800" dirty="0"/>
          </a:p>
        </p:txBody>
      </p:sp>
      <p:sp>
        <p:nvSpPr>
          <p:cNvPr id="3" name="Text 1"/>
          <p:cNvSpPr/>
          <p:nvPr/>
        </p:nvSpPr>
        <p:spPr>
          <a:xfrm>
            <a:off x="457200" y="566928"/>
            <a:ext cx="8229600" cy="292608"/>
          </a:xfrm>
          <a:prstGeom prst="rect">
            <a:avLst/>
          </a:prstGeom>
          <a:noFill/>
          <a:ln/>
        </p:spPr>
        <p:txBody>
          <a:bodyPr wrap="square" rtlCol="0" anchor="ctr"/>
          <a:lstStyle/>
          <a:p>
            <a:pPr marL="0" indent="0">
              <a:buNone/>
            </a:pPr>
            <a:r>
              <a:rPr lang="en-US" sz="1200" dirty="0">
                <a:solidFill>
                  <a:srgbClr val="7B8FA1"/>
                </a:solidFill>
                <a:latin typeface="Calibri" pitchFamily="34" charset="0"/>
                <a:ea typeface="Calibri" pitchFamily="34" charset="-122"/>
                <a:cs typeface="Calibri" pitchFamily="34" charset="-120"/>
              </a:rPr>
              <a:t>Step-by-step: from your words to container action</a:t>
            </a:r>
            <a:endParaRPr lang="en-US" sz="1200" dirty="0"/>
          </a:p>
        </p:txBody>
      </p:sp>
      <p:sp>
        <p:nvSpPr>
          <p:cNvPr id="4" name="Shape 2"/>
          <p:cNvSpPr/>
          <p:nvPr/>
        </p:nvSpPr>
        <p:spPr>
          <a:xfrm>
            <a:off x="365760" y="960120"/>
            <a:ext cx="1554480" cy="1828800"/>
          </a:xfrm>
          <a:prstGeom prst="roundRect">
            <a:avLst>
              <a:gd name="adj" fmla="val 7059"/>
            </a:avLst>
          </a:prstGeom>
          <a:solidFill>
            <a:srgbClr val="EEF2F7"/>
          </a:solidFill>
          <a:ln w="19050">
            <a:solidFill>
              <a:srgbClr val="2E6DA4"/>
            </a:solidFill>
            <a:prstDash val="solid"/>
          </a:ln>
          <a:effectLst>
            <a:outerShdw blurRad="101600" dist="25400" dir="2700000" algn="bl" rotWithShape="0">
              <a:srgbClr val="1A2B3C">
                <a:alpha val="25000"/>
              </a:srgbClr>
            </a:outerShdw>
          </a:effectLst>
        </p:spPr>
      </p:sp>
      <p:sp>
        <p:nvSpPr>
          <p:cNvPr id="5" name="Shape 3"/>
          <p:cNvSpPr/>
          <p:nvPr/>
        </p:nvSpPr>
        <p:spPr>
          <a:xfrm>
            <a:off x="914400" y="1051560"/>
            <a:ext cx="457200" cy="457200"/>
          </a:xfrm>
          <a:prstGeom prst="ellipse">
            <a:avLst/>
          </a:prstGeom>
          <a:solidFill>
            <a:srgbClr val="2E6DA4"/>
          </a:solidFill>
          <a:ln w="12700">
            <a:solidFill>
              <a:srgbClr val="2E6DA4"/>
            </a:solidFill>
            <a:prstDash val="solid"/>
          </a:ln>
        </p:spPr>
      </p:sp>
      <p:sp>
        <p:nvSpPr>
          <p:cNvPr id="6" name="Text 4"/>
          <p:cNvSpPr/>
          <p:nvPr/>
        </p:nvSpPr>
        <p:spPr>
          <a:xfrm>
            <a:off x="914400" y="1051560"/>
            <a:ext cx="457200" cy="457200"/>
          </a:xfrm>
          <a:prstGeom prst="rect">
            <a:avLst/>
          </a:prstGeom>
          <a:noFill/>
          <a:ln/>
        </p:spPr>
        <p:txBody>
          <a:bodyPr wrap="square" lIns="0" tIns="0" rIns="0" bIns="0" rtlCol="0" anchor="ctr"/>
          <a:lstStyle/>
          <a:p>
            <a:pPr marL="0" indent="0" algn="ctr">
              <a:buNone/>
            </a:pPr>
            <a:r>
              <a:rPr lang="en-US" sz="1400" b="1" dirty="0">
                <a:solidFill>
                  <a:srgbClr val="1E3A5F"/>
                </a:solidFill>
              </a:rPr>
              <a:t>1</a:t>
            </a:r>
            <a:endParaRPr lang="en-US" sz="1400" dirty="0"/>
          </a:p>
        </p:txBody>
      </p:sp>
      <p:sp>
        <p:nvSpPr>
          <p:cNvPr id="7" name="Text 5"/>
          <p:cNvSpPr/>
          <p:nvPr/>
        </p:nvSpPr>
        <p:spPr>
          <a:xfrm>
            <a:off x="365760" y="1581912"/>
            <a:ext cx="1554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8" name="Text 6"/>
          <p:cNvSpPr/>
          <p:nvPr/>
        </p:nvSpPr>
        <p:spPr>
          <a:xfrm>
            <a:off x="365760" y="2075688"/>
            <a:ext cx="1554480" cy="292608"/>
          </a:xfrm>
          <a:prstGeom prst="rect">
            <a:avLst/>
          </a:prstGeom>
          <a:noFill/>
          <a:ln/>
        </p:spPr>
        <p:txBody>
          <a:bodyPr wrap="square" rtlCol="0" anchor="ctr"/>
          <a:lstStyle/>
          <a:p>
            <a:pPr marL="0" indent="0" algn="ctr">
              <a:buNone/>
            </a:pPr>
            <a:r>
              <a:rPr lang="en-US" sz="1100" b="1" dirty="0">
                <a:solidFill>
                  <a:srgbClr val="2E6DA4"/>
                </a:solidFill>
                <a:latin typeface="Calibri" pitchFamily="34" charset="0"/>
                <a:ea typeface="Calibri" pitchFamily="34" charset="-122"/>
                <a:cs typeface="Calibri" pitchFamily="34" charset="-120"/>
              </a:rPr>
              <a:t>User Prompt</a:t>
            </a:r>
            <a:endParaRPr lang="en-US" sz="1100" dirty="0"/>
          </a:p>
        </p:txBody>
      </p:sp>
      <p:sp>
        <p:nvSpPr>
          <p:cNvPr id="9" name="Text 7"/>
          <p:cNvSpPr/>
          <p:nvPr/>
        </p:nvSpPr>
        <p:spPr>
          <a:xfrm>
            <a:off x="365760" y="2350008"/>
            <a:ext cx="1554480" cy="3657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"Show unhealthy</a:t>
            </a:r>
            <a:endParaRPr lang="en-US" sz="850" dirty="0"/>
          </a:p>
          <a:p>
            <a:pPr marL="0" indent="0" algn="ctr">
              <a:buNone/>
            </a:pPr>
            <a:r>
              <a:rPr lang="en-US" sz="850" dirty="0">
                <a:solidFill>
                  <a:srgbClr val="7B8FA1"/>
                </a:solidFill>
                <a:latin typeface="Calibri" pitchFamily="34" charset="0"/>
                <a:ea typeface="Calibri" pitchFamily="34" charset="-122"/>
                <a:cs typeface="Calibri" pitchFamily="34" charset="-120"/>
              </a:rPr>
              <a:t>containers"</a:t>
            </a:r>
            <a:endParaRPr lang="en-US" sz="850" dirty="0"/>
          </a:p>
        </p:txBody>
      </p:sp>
      <p:sp>
        <p:nvSpPr>
          <p:cNvPr id="10" name="Shape 8"/>
          <p:cNvSpPr/>
          <p:nvPr/>
        </p:nvSpPr>
        <p:spPr>
          <a:xfrm>
            <a:off x="1920240" y="1783080"/>
            <a:ext cx="182880" cy="73152"/>
          </a:xfrm>
          <a:prstGeom prst="rect">
            <a:avLst/>
          </a:prstGeom>
          <a:solidFill>
            <a:srgbClr val="2E6DA4"/>
          </a:solidFill>
          <a:ln w="12700">
            <a:solidFill>
              <a:srgbClr val="2E6DA4"/>
            </a:solidFill>
            <a:prstDash val="solid"/>
          </a:ln>
        </p:spPr>
      </p:sp>
      <p:sp>
        <p:nvSpPr>
          <p:cNvPr id="11" name="Text 9"/>
          <p:cNvSpPr/>
          <p:nvPr/>
        </p:nvSpPr>
        <p:spPr>
          <a:xfrm>
            <a:off x="1938528" y="1618488"/>
            <a:ext cx="228600" cy="384048"/>
          </a:xfrm>
          <a:prstGeom prst="rect">
            <a:avLst/>
          </a:prstGeom>
          <a:noFill/>
          <a:ln/>
        </p:spPr>
        <p:txBody>
          <a:bodyPr wrap="square" rtlCol="0" anchor="ctr"/>
          <a:lstStyle/>
          <a:p>
            <a:pPr marL="0" indent="0" algn="ctr">
              <a:buNone/>
            </a:pPr>
            <a:r>
              <a:rPr lang="en-US" sz="1800" dirty="0">
                <a:solidFill>
                  <a:srgbClr val="2E6DA4"/>
                </a:solidFill>
              </a:rPr>
              <a:t>→</a:t>
            </a:r>
            <a:endParaRPr lang="en-US" sz="1800" dirty="0"/>
          </a:p>
        </p:txBody>
      </p:sp>
      <p:sp>
        <p:nvSpPr>
          <p:cNvPr id="12" name="Shape 10"/>
          <p:cNvSpPr/>
          <p:nvPr/>
        </p:nvSpPr>
        <p:spPr>
          <a:xfrm>
            <a:off x="2103120" y="960120"/>
            <a:ext cx="1554480" cy="1828800"/>
          </a:xfrm>
          <a:prstGeom prst="roundRect">
            <a:avLst>
              <a:gd name="adj" fmla="val 7059"/>
            </a:avLst>
          </a:prstGeom>
          <a:solidFill>
            <a:srgbClr val="EEF2F7"/>
          </a:solidFill>
          <a:ln w="19050">
            <a:solidFill>
              <a:srgbClr val="5B6E7C"/>
            </a:solidFill>
            <a:prstDash val="solid"/>
          </a:ln>
          <a:effectLst>
            <a:outerShdw blurRad="101600" dist="25400" dir="2700000" algn="bl" rotWithShape="0">
              <a:srgbClr val="1A2B3C">
                <a:alpha val="25000"/>
              </a:srgbClr>
            </a:outerShdw>
          </a:effectLst>
        </p:spPr>
      </p:sp>
      <p:sp>
        <p:nvSpPr>
          <p:cNvPr id="13" name="Shape 11"/>
          <p:cNvSpPr/>
          <p:nvPr/>
        </p:nvSpPr>
        <p:spPr>
          <a:xfrm>
            <a:off x="2651760" y="1051560"/>
            <a:ext cx="457200" cy="457200"/>
          </a:xfrm>
          <a:prstGeom prst="ellipse">
            <a:avLst/>
          </a:prstGeom>
          <a:solidFill>
            <a:srgbClr val="5B6E7C"/>
          </a:solidFill>
          <a:ln w="12700">
            <a:solidFill>
              <a:srgbClr val="5B6E7C"/>
            </a:solidFill>
            <a:prstDash val="solid"/>
          </a:ln>
        </p:spPr>
      </p:sp>
      <p:sp>
        <p:nvSpPr>
          <p:cNvPr id="14" name="Text 12"/>
          <p:cNvSpPr/>
          <p:nvPr/>
        </p:nvSpPr>
        <p:spPr>
          <a:xfrm>
            <a:off x="2651760" y="1051560"/>
            <a:ext cx="457200" cy="457200"/>
          </a:xfrm>
          <a:prstGeom prst="rect">
            <a:avLst/>
          </a:prstGeom>
          <a:noFill/>
          <a:ln/>
        </p:spPr>
        <p:txBody>
          <a:bodyPr wrap="square" lIns="0" tIns="0" rIns="0" bIns="0" rtlCol="0" anchor="ctr"/>
          <a:lstStyle/>
          <a:p>
            <a:pPr marL="0" indent="0" algn="ctr">
              <a:buNone/>
            </a:pPr>
            <a:r>
              <a:rPr lang="en-US" sz="1400" b="1" dirty="0">
                <a:solidFill>
                  <a:srgbClr val="1E3A5F"/>
                </a:solidFill>
              </a:rPr>
              <a:t>2</a:t>
            </a:r>
            <a:endParaRPr lang="en-US" sz="1400" dirty="0"/>
          </a:p>
        </p:txBody>
      </p:sp>
      <p:sp>
        <p:nvSpPr>
          <p:cNvPr id="15" name="Text 13"/>
          <p:cNvSpPr/>
          <p:nvPr/>
        </p:nvSpPr>
        <p:spPr>
          <a:xfrm>
            <a:off x="2103120" y="1581912"/>
            <a:ext cx="1554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16" name="Text 14"/>
          <p:cNvSpPr/>
          <p:nvPr/>
        </p:nvSpPr>
        <p:spPr>
          <a:xfrm>
            <a:off x="2103120" y="2075688"/>
            <a:ext cx="1554480" cy="292608"/>
          </a:xfrm>
          <a:prstGeom prst="rect">
            <a:avLst/>
          </a:prstGeom>
          <a:noFill/>
          <a:ln/>
        </p:spPr>
        <p:txBody>
          <a:bodyPr wrap="square" rtlCol="0" anchor="ctr"/>
          <a:lstStyle/>
          <a:p>
            <a:pPr marL="0" indent="0" algn="ctr">
              <a:buNone/>
            </a:pPr>
            <a:r>
              <a:rPr lang="en-US" sz="1100" b="1" dirty="0">
                <a:solidFill>
                  <a:srgbClr val="5B6E7C"/>
                </a:solidFill>
                <a:latin typeface="Calibri" pitchFamily="34" charset="0"/>
                <a:ea typeface="Calibri" pitchFamily="34" charset="-122"/>
                <a:cs typeface="Calibri" pitchFamily="34" charset="-120"/>
              </a:rPr>
              <a:t>AI Intent</a:t>
            </a:r>
            <a:endParaRPr lang="en-US" sz="1100" dirty="0"/>
          </a:p>
        </p:txBody>
      </p:sp>
      <p:sp>
        <p:nvSpPr>
          <p:cNvPr id="17" name="Text 15"/>
          <p:cNvSpPr/>
          <p:nvPr/>
        </p:nvSpPr>
        <p:spPr>
          <a:xfrm>
            <a:off x="2103120" y="2350008"/>
            <a:ext cx="1554480" cy="3657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Detect action:</a:t>
            </a:r>
            <a:endParaRPr lang="en-US" sz="850" dirty="0"/>
          </a:p>
          <a:p>
            <a:pPr marL="0" indent="0" algn="ctr">
              <a:buNone/>
            </a:pPr>
            <a:r>
              <a:rPr lang="en-US" sz="850" dirty="0">
                <a:solidFill>
                  <a:srgbClr val="7B8FA1"/>
                </a:solidFill>
                <a:latin typeface="Calibri" pitchFamily="34" charset="0"/>
                <a:ea typeface="Calibri" pitchFamily="34" charset="-122"/>
                <a:cs typeface="Calibri" pitchFamily="34" charset="-120"/>
              </a:rPr>
              <a:t>heath check</a:t>
            </a:r>
            <a:endParaRPr lang="en-US" sz="850" dirty="0"/>
          </a:p>
        </p:txBody>
      </p:sp>
      <p:sp>
        <p:nvSpPr>
          <p:cNvPr id="18" name="Shape 16"/>
          <p:cNvSpPr/>
          <p:nvPr/>
        </p:nvSpPr>
        <p:spPr>
          <a:xfrm>
            <a:off x="3657600" y="1783080"/>
            <a:ext cx="182880" cy="73152"/>
          </a:xfrm>
          <a:prstGeom prst="rect">
            <a:avLst/>
          </a:prstGeom>
          <a:solidFill>
            <a:srgbClr val="5B6E7C"/>
          </a:solidFill>
          <a:ln w="12700">
            <a:solidFill>
              <a:srgbClr val="5B6E7C"/>
            </a:solidFill>
            <a:prstDash val="solid"/>
          </a:ln>
        </p:spPr>
      </p:sp>
      <p:sp>
        <p:nvSpPr>
          <p:cNvPr id="19" name="Text 17"/>
          <p:cNvSpPr/>
          <p:nvPr/>
        </p:nvSpPr>
        <p:spPr>
          <a:xfrm>
            <a:off x="3675888" y="1618488"/>
            <a:ext cx="228600" cy="384048"/>
          </a:xfrm>
          <a:prstGeom prst="rect">
            <a:avLst/>
          </a:prstGeom>
          <a:noFill/>
          <a:ln/>
        </p:spPr>
        <p:txBody>
          <a:bodyPr wrap="square" rtlCol="0" anchor="ctr"/>
          <a:lstStyle/>
          <a:p>
            <a:pPr marL="0" indent="0" algn="ctr">
              <a:buNone/>
            </a:pPr>
            <a:r>
              <a:rPr lang="en-US" sz="1800" dirty="0">
                <a:solidFill>
                  <a:srgbClr val="5B6E7C"/>
                </a:solidFill>
              </a:rPr>
              <a:t>→</a:t>
            </a:r>
            <a:endParaRPr lang="en-US" sz="1800" dirty="0"/>
          </a:p>
        </p:txBody>
      </p:sp>
      <p:sp>
        <p:nvSpPr>
          <p:cNvPr id="20" name="Shape 18"/>
          <p:cNvSpPr/>
          <p:nvPr/>
        </p:nvSpPr>
        <p:spPr>
          <a:xfrm>
            <a:off x="3840480" y="960120"/>
            <a:ext cx="1554480" cy="1828800"/>
          </a:xfrm>
          <a:prstGeom prst="roundRect">
            <a:avLst>
              <a:gd name="adj" fmla="val 7059"/>
            </a:avLst>
          </a:prstGeom>
          <a:solidFill>
            <a:srgbClr val="EEF2F7"/>
          </a:solidFill>
          <a:ln w="19050">
            <a:solidFill>
              <a:srgbClr val="3A7D8C"/>
            </a:solidFill>
            <a:prstDash val="solid"/>
          </a:ln>
          <a:effectLst>
            <a:outerShdw blurRad="101600" dist="25400" dir="2700000" algn="bl" rotWithShape="0">
              <a:srgbClr val="1A2B3C">
                <a:alpha val="25000"/>
              </a:srgbClr>
            </a:outerShdw>
          </a:effectLst>
        </p:spPr>
      </p:sp>
      <p:sp>
        <p:nvSpPr>
          <p:cNvPr id="21" name="Shape 19"/>
          <p:cNvSpPr/>
          <p:nvPr/>
        </p:nvSpPr>
        <p:spPr>
          <a:xfrm>
            <a:off x="4389120" y="1051560"/>
            <a:ext cx="457200" cy="457200"/>
          </a:xfrm>
          <a:prstGeom prst="ellipse">
            <a:avLst/>
          </a:prstGeom>
          <a:solidFill>
            <a:srgbClr val="3A7D8C"/>
          </a:solidFill>
          <a:ln w="12700">
            <a:solidFill>
              <a:srgbClr val="3A7D8C"/>
            </a:solidFill>
            <a:prstDash val="solid"/>
          </a:ln>
        </p:spPr>
      </p:sp>
      <p:sp>
        <p:nvSpPr>
          <p:cNvPr id="22" name="Text 20"/>
          <p:cNvSpPr/>
          <p:nvPr/>
        </p:nvSpPr>
        <p:spPr>
          <a:xfrm>
            <a:off x="4389120" y="1051560"/>
            <a:ext cx="457200" cy="457200"/>
          </a:xfrm>
          <a:prstGeom prst="rect">
            <a:avLst/>
          </a:prstGeom>
          <a:noFill/>
          <a:ln/>
        </p:spPr>
        <p:txBody>
          <a:bodyPr wrap="square" lIns="0" tIns="0" rIns="0" bIns="0" rtlCol="0" anchor="ctr"/>
          <a:lstStyle/>
          <a:p>
            <a:pPr marL="0" indent="0" algn="ctr">
              <a:buNone/>
            </a:pPr>
            <a:r>
              <a:rPr lang="en-US" sz="1400" b="1" dirty="0">
                <a:solidFill>
                  <a:srgbClr val="1E3A5F"/>
                </a:solidFill>
              </a:rPr>
              <a:t>3</a:t>
            </a:r>
            <a:endParaRPr lang="en-US" sz="1400" dirty="0"/>
          </a:p>
        </p:txBody>
      </p:sp>
      <p:sp>
        <p:nvSpPr>
          <p:cNvPr id="23" name="Text 21"/>
          <p:cNvSpPr/>
          <p:nvPr/>
        </p:nvSpPr>
        <p:spPr>
          <a:xfrm>
            <a:off x="3840480" y="1581912"/>
            <a:ext cx="1554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24" name="Text 22"/>
          <p:cNvSpPr/>
          <p:nvPr/>
        </p:nvSpPr>
        <p:spPr>
          <a:xfrm>
            <a:off x="3840480" y="2075688"/>
            <a:ext cx="1554480" cy="292608"/>
          </a:xfrm>
          <a:prstGeom prst="rect">
            <a:avLst/>
          </a:prstGeom>
          <a:noFill/>
          <a:ln/>
        </p:spPr>
        <p:txBody>
          <a:bodyPr wrap="square" rtlCol="0" anchor="ctr"/>
          <a:lstStyle/>
          <a:p>
            <a:pPr marL="0" indent="0" algn="ctr">
              <a:buNone/>
            </a:pPr>
            <a:r>
              <a:rPr lang="en-US" sz="1100" b="1" dirty="0">
                <a:solidFill>
                  <a:srgbClr val="3A7D8C"/>
                </a:solidFill>
                <a:latin typeface="Calibri" pitchFamily="34" charset="0"/>
                <a:ea typeface="Calibri" pitchFamily="34" charset="-122"/>
                <a:cs typeface="Calibri" pitchFamily="34" charset="-120"/>
              </a:rPr>
              <a:t>API Route</a:t>
            </a:r>
            <a:endParaRPr lang="en-US" sz="1100" dirty="0"/>
          </a:p>
        </p:txBody>
      </p:sp>
      <p:sp>
        <p:nvSpPr>
          <p:cNvPr id="25" name="Text 23"/>
          <p:cNvSpPr/>
          <p:nvPr/>
        </p:nvSpPr>
        <p:spPr>
          <a:xfrm>
            <a:off x="3840480" y="2350008"/>
            <a:ext cx="1554480" cy="3657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POST /api/</a:t>
            </a:r>
            <a:endParaRPr lang="en-US" sz="850" dirty="0"/>
          </a:p>
          <a:p>
            <a:pPr marL="0" indent="0" algn="ctr">
              <a:buNone/>
            </a:pPr>
            <a:r>
              <a:rPr lang="en-US" sz="850" dirty="0">
                <a:solidFill>
                  <a:srgbClr val="7B8FA1"/>
                </a:solidFill>
                <a:latin typeface="Calibri" pitchFamily="34" charset="0"/>
                <a:ea typeface="Calibri" pitchFamily="34" charset="-122"/>
                <a:cs typeface="Calibri" pitchFamily="34" charset="-120"/>
              </a:rPr>
              <a:t>docker/query</a:t>
            </a:r>
            <a:endParaRPr lang="en-US" sz="850" dirty="0"/>
          </a:p>
        </p:txBody>
      </p:sp>
      <p:sp>
        <p:nvSpPr>
          <p:cNvPr id="26" name="Shape 24"/>
          <p:cNvSpPr/>
          <p:nvPr/>
        </p:nvSpPr>
        <p:spPr>
          <a:xfrm>
            <a:off x="5394960" y="1783080"/>
            <a:ext cx="182880" cy="73152"/>
          </a:xfrm>
          <a:prstGeom prst="rect">
            <a:avLst/>
          </a:prstGeom>
          <a:solidFill>
            <a:srgbClr val="3A7D8C"/>
          </a:solidFill>
          <a:ln w="12700">
            <a:solidFill>
              <a:srgbClr val="3A7D8C"/>
            </a:solidFill>
            <a:prstDash val="solid"/>
          </a:ln>
        </p:spPr>
      </p:sp>
      <p:sp>
        <p:nvSpPr>
          <p:cNvPr id="27" name="Text 25"/>
          <p:cNvSpPr/>
          <p:nvPr/>
        </p:nvSpPr>
        <p:spPr>
          <a:xfrm>
            <a:off x="5413248" y="1618488"/>
            <a:ext cx="228600" cy="384048"/>
          </a:xfrm>
          <a:prstGeom prst="rect">
            <a:avLst/>
          </a:prstGeom>
          <a:noFill/>
          <a:ln/>
        </p:spPr>
        <p:txBody>
          <a:bodyPr wrap="square" rtlCol="0" anchor="ctr"/>
          <a:lstStyle/>
          <a:p>
            <a:pPr marL="0" indent="0" algn="ctr">
              <a:buNone/>
            </a:pPr>
            <a:r>
              <a:rPr lang="en-US" sz="1800" dirty="0">
                <a:solidFill>
                  <a:srgbClr val="3A7D8C"/>
                </a:solidFill>
              </a:rPr>
              <a:t>→</a:t>
            </a:r>
            <a:endParaRPr lang="en-US" sz="1800" dirty="0"/>
          </a:p>
        </p:txBody>
      </p:sp>
      <p:sp>
        <p:nvSpPr>
          <p:cNvPr id="28" name="Shape 26"/>
          <p:cNvSpPr/>
          <p:nvPr/>
        </p:nvSpPr>
        <p:spPr>
          <a:xfrm>
            <a:off x="5577840" y="960120"/>
            <a:ext cx="1554480" cy="1828800"/>
          </a:xfrm>
          <a:prstGeom prst="roundRect">
            <a:avLst>
              <a:gd name="adj" fmla="val 7059"/>
            </a:avLst>
          </a:prstGeom>
          <a:solidFill>
            <a:srgbClr val="EEF2F7"/>
          </a:solidFill>
          <a:ln w="19050">
            <a:solidFill>
              <a:srgbClr val="2E6DA4"/>
            </a:solidFill>
            <a:prstDash val="solid"/>
          </a:ln>
          <a:effectLst>
            <a:outerShdw blurRad="101600" dist="25400" dir="2700000" algn="bl" rotWithShape="0">
              <a:srgbClr val="1A2B3C">
                <a:alpha val="25000"/>
              </a:srgbClr>
            </a:outerShdw>
          </a:effectLst>
        </p:spPr>
      </p:sp>
      <p:sp>
        <p:nvSpPr>
          <p:cNvPr id="29" name="Shape 27"/>
          <p:cNvSpPr/>
          <p:nvPr/>
        </p:nvSpPr>
        <p:spPr>
          <a:xfrm>
            <a:off x="6126480" y="1051560"/>
            <a:ext cx="457200" cy="457200"/>
          </a:xfrm>
          <a:prstGeom prst="ellipse">
            <a:avLst/>
          </a:prstGeom>
          <a:solidFill>
            <a:srgbClr val="2E6DA4"/>
          </a:solidFill>
          <a:ln w="12700">
            <a:solidFill>
              <a:srgbClr val="2E6DA4"/>
            </a:solidFill>
            <a:prstDash val="solid"/>
          </a:ln>
        </p:spPr>
      </p:sp>
      <p:sp>
        <p:nvSpPr>
          <p:cNvPr id="30" name="Text 28"/>
          <p:cNvSpPr/>
          <p:nvPr/>
        </p:nvSpPr>
        <p:spPr>
          <a:xfrm>
            <a:off x="6126480" y="1051560"/>
            <a:ext cx="457200" cy="457200"/>
          </a:xfrm>
          <a:prstGeom prst="rect">
            <a:avLst/>
          </a:prstGeom>
          <a:noFill/>
          <a:ln/>
        </p:spPr>
        <p:txBody>
          <a:bodyPr wrap="square" lIns="0" tIns="0" rIns="0" bIns="0" rtlCol="0" anchor="ctr"/>
          <a:lstStyle/>
          <a:p>
            <a:pPr marL="0" indent="0" algn="ctr">
              <a:buNone/>
            </a:pPr>
            <a:r>
              <a:rPr lang="en-US" sz="1400" b="1" dirty="0">
                <a:solidFill>
                  <a:srgbClr val="1E3A5F"/>
                </a:solidFill>
              </a:rPr>
              <a:t>4</a:t>
            </a:r>
            <a:endParaRPr lang="en-US" sz="1400" dirty="0"/>
          </a:p>
        </p:txBody>
      </p:sp>
      <p:sp>
        <p:nvSpPr>
          <p:cNvPr id="31" name="Text 29"/>
          <p:cNvSpPr/>
          <p:nvPr/>
        </p:nvSpPr>
        <p:spPr>
          <a:xfrm>
            <a:off x="5577840" y="1581912"/>
            <a:ext cx="1554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32" name="Text 30"/>
          <p:cNvSpPr/>
          <p:nvPr/>
        </p:nvSpPr>
        <p:spPr>
          <a:xfrm>
            <a:off x="5577840" y="2075688"/>
            <a:ext cx="1554480" cy="292608"/>
          </a:xfrm>
          <a:prstGeom prst="rect">
            <a:avLst/>
          </a:prstGeom>
          <a:noFill/>
          <a:ln/>
        </p:spPr>
        <p:txBody>
          <a:bodyPr wrap="square" rtlCol="0" anchor="ctr"/>
          <a:lstStyle/>
          <a:p>
            <a:pPr marL="0" indent="0" algn="ctr">
              <a:buNone/>
            </a:pPr>
            <a:r>
              <a:rPr lang="en-US" sz="1100" b="1" dirty="0">
                <a:solidFill>
                  <a:srgbClr val="2E6DA4"/>
                </a:solidFill>
                <a:latin typeface="Calibri" pitchFamily="34" charset="0"/>
                <a:ea typeface="Calibri" pitchFamily="34" charset="-122"/>
                <a:cs typeface="Calibri" pitchFamily="34" charset="-120"/>
              </a:rPr>
              <a:t>Docker SDK</a:t>
            </a:r>
            <a:endParaRPr lang="en-US" sz="1100" dirty="0"/>
          </a:p>
        </p:txBody>
      </p:sp>
      <p:sp>
        <p:nvSpPr>
          <p:cNvPr id="33" name="Text 31"/>
          <p:cNvSpPr/>
          <p:nvPr/>
        </p:nvSpPr>
        <p:spPr>
          <a:xfrm>
            <a:off x="5577840" y="2350008"/>
            <a:ext cx="1554480" cy="3657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Execute Docker</a:t>
            </a:r>
            <a:endParaRPr lang="en-US" sz="850" dirty="0"/>
          </a:p>
          <a:p>
            <a:pPr marL="0" indent="0" algn="ctr">
              <a:buNone/>
            </a:pPr>
            <a:r>
              <a:rPr lang="en-US" sz="850" dirty="0">
                <a:solidFill>
                  <a:srgbClr val="7B8FA1"/>
                </a:solidFill>
                <a:latin typeface="Calibri" pitchFamily="34" charset="0"/>
                <a:ea typeface="Calibri" pitchFamily="34" charset="-122"/>
                <a:cs typeface="Calibri" pitchFamily="34" charset="-120"/>
              </a:rPr>
              <a:t>commands</a:t>
            </a:r>
            <a:endParaRPr lang="en-US" sz="850" dirty="0"/>
          </a:p>
        </p:txBody>
      </p:sp>
      <p:sp>
        <p:nvSpPr>
          <p:cNvPr id="34" name="Shape 32"/>
          <p:cNvSpPr/>
          <p:nvPr/>
        </p:nvSpPr>
        <p:spPr>
          <a:xfrm>
            <a:off x="7132320" y="1783080"/>
            <a:ext cx="182880" cy="73152"/>
          </a:xfrm>
          <a:prstGeom prst="rect">
            <a:avLst/>
          </a:prstGeom>
          <a:solidFill>
            <a:srgbClr val="2E6DA4"/>
          </a:solidFill>
          <a:ln w="12700">
            <a:solidFill>
              <a:srgbClr val="2E6DA4"/>
            </a:solidFill>
            <a:prstDash val="solid"/>
          </a:ln>
        </p:spPr>
      </p:sp>
      <p:sp>
        <p:nvSpPr>
          <p:cNvPr id="35" name="Text 33"/>
          <p:cNvSpPr/>
          <p:nvPr/>
        </p:nvSpPr>
        <p:spPr>
          <a:xfrm>
            <a:off x="7150608" y="1618488"/>
            <a:ext cx="228600" cy="384048"/>
          </a:xfrm>
          <a:prstGeom prst="rect">
            <a:avLst/>
          </a:prstGeom>
          <a:noFill/>
          <a:ln/>
        </p:spPr>
        <p:txBody>
          <a:bodyPr wrap="square" rtlCol="0" anchor="ctr"/>
          <a:lstStyle/>
          <a:p>
            <a:pPr marL="0" indent="0" algn="ctr">
              <a:buNone/>
            </a:pPr>
            <a:r>
              <a:rPr lang="en-US" sz="1800" dirty="0">
                <a:solidFill>
                  <a:srgbClr val="2E6DA4"/>
                </a:solidFill>
              </a:rPr>
              <a:t>→</a:t>
            </a:r>
            <a:endParaRPr lang="en-US" sz="1800" dirty="0"/>
          </a:p>
        </p:txBody>
      </p:sp>
      <p:sp>
        <p:nvSpPr>
          <p:cNvPr id="36" name="Shape 34"/>
          <p:cNvSpPr/>
          <p:nvPr/>
        </p:nvSpPr>
        <p:spPr>
          <a:xfrm>
            <a:off x="7315200" y="960120"/>
            <a:ext cx="1554480" cy="1828800"/>
          </a:xfrm>
          <a:prstGeom prst="roundRect">
            <a:avLst>
              <a:gd name="adj" fmla="val 7059"/>
            </a:avLst>
          </a:prstGeom>
          <a:solidFill>
            <a:srgbClr val="EEF2F7"/>
          </a:solidFill>
          <a:ln w="19050">
            <a:solidFill>
              <a:srgbClr val="A07840"/>
            </a:solidFill>
            <a:prstDash val="solid"/>
          </a:ln>
          <a:effectLst>
            <a:outerShdw blurRad="101600" dist="25400" dir="2700000" algn="bl" rotWithShape="0">
              <a:srgbClr val="1A2B3C">
                <a:alpha val="25000"/>
              </a:srgbClr>
            </a:outerShdw>
          </a:effectLst>
        </p:spPr>
      </p:sp>
      <p:sp>
        <p:nvSpPr>
          <p:cNvPr id="37" name="Shape 35"/>
          <p:cNvSpPr/>
          <p:nvPr/>
        </p:nvSpPr>
        <p:spPr>
          <a:xfrm>
            <a:off x="7863840" y="1051560"/>
            <a:ext cx="457200" cy="457200"/>
          </a:xfrm>
          <a:prstGeom prst="ellipse">
            <a:avLst/>
          </a:prstGeom>
          <a:solidFill>
            <a:srgbClr val="A07840"/>
          </a:solidFill>
          <a:ln w="12700">
            <a:solidFill>
              <a:srgbClr val="A07840"/>
            </a:solidFill>
            <a:prstDash val="solid"/>
          </a:ln>
        </p:spPr>
      </p:sp>
      <p:sp>
        <p:nvSpPr>
          <p:cNvPr id="38" name="Text 36"/>
          <p:cNvSpPr/>
          <p:nvPr/>
        </p:nvSpPr>
        <p:spPr>
          <a:xfrm>
            <a:off x="7863840" y="1051560"/>
            <a:ext cx="457200" cy="457200"/>
          </a:xfrm>
          <a:prstGeom prst="rect">
            <a:avLst/>
          </a:prstGeom>
          <a:noFill/>
          <a:ln/>
        </p:spPr>
        <p:txBody>
          <a:bodyPr wrap="square" lIns="0" tIns="0" rIns="0" bIns="0" rtlCol="0" anchor="ctr"/>
          <a:lstStyle/>
          <a:p>
            <a:pPr marL="0" indent="0" algn="ctr">
              <a:buNone/>
            </a:pPr>
            <a:r>
              <a:rPr lang="en-US" sz="1400" b="1" dirty="0">
                <a:solidFill>
                  <a:srgbClr val="1E3A5F"/>
                </a:solidFill>
              </a:rPr>
              <a:t>5</a:t>
            </a:r>
            <a:endParaRPr lang="en-US" sz="1400" dirty="0"/>
          </a:p>
        </p:txBody>
      </p:sp>
      <p:sp>
        <p:nvSpPr>
          <p:cNvPr id="39" name="Text 37"/>
          <p:cNvSpPr/>
          <p:nvPr/>
        </p:nvSpPr>
        <p:spPr>
          <a:xfrm>
            <a:off x="7315200" y="1581912"/>
            <a:ext cx="1554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40" name="Text 38"/>
          <p:cNvSpPr/>
          <p:nvPr/>
        </p:nvSpPr>
        <p:spPr>
          <a:xfrm>
            <a:off x="7315200" y="2075688"/>
            <a:ext cx="1554480" cy="292608"/>
          </a:xfrm>
          <a:prstGeom prst="rect">
            <a:avLst/>
          </a:prstGeom>
          <a:noFill/>
          <a:ln/>
        </p:spPr>
        <p:txBody>
          <a:bodyPr wrap="square" rtlCol="0" anchor="ctr"/>
          <a:lstStyle/>
          <a:p>
            <a:pPr marL="0" indent="0" algn="ctr">
              <a:buNone/>
            </a:pPr>
            <a:r>
              <a:rPr lang="en-US" sz="1100" b="1" dirty="0">
                <a:solidFill>
                  <a:srgbClr val="A07840"/>
                </a:solidFill>
                <a:latin typeface="Calibri" pitchFamily="34" charset="0"/>
                <a:ea typeface="Calibri" pitchFamily="34" charset="-122"/>
                <a:cs typeface="Calibri" pitchFamily="34" charset="-120"/>
              </a:rPr>
              <a:t>Container Data</a:t>
            </a:r>
            <a:endParaRPr lang="en-US" sz="1100" dirty="0"/>
          </a:p>
        </p:txBody>
      </p:sp>
      <p:sp>
        <p:nvSpPr>
          <p:cNvPr id="41" name="Text 39"/>
          <p:cNvSpPr/>
          <p:nvPr/>
        </p:nvSpPr>
        <p:spPr>
          <a:xfrm>
            <a:off x="7315200" y="2350008"/>
            <a:ext cx="1554480" cy="3657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Live health &amp;</a:t>
            </a:r>
            <a:endParaRPr lang="en-US" sz="850" dirty="0"/>
          </a:p>
          <a:p>
            <a:pPr marL="0" indent="0" algn="ctr">
              <a:buNone/>
            </a:pPr>
            <a:r>
              <a:rPr lang="en-US" sz="850" dirty="0">
                <a:solidFill>
                  <a:srgbClr val="7B8FA1"/>
                </a:solidFill>
                <a:latin typeface="Calibri" pitchFamily="34" charset="0"/>
                <a:ea typeface="Calibri" pitchFamily="34" charset="-122"/>
                <a:cs typeface="Calibri" pitchFamily="34" charset="-120"/>
              </a:rPr>
              <a:t>status fetched</a:t>
            </a:r>
            <a:endParaRPr lang="en-US" sz="850" dirty="0"/>
          </a:p>
        </p:txBody>
      </p:sp>
      <p:sp>
        <p:nvSpPr>
          <p:cNvPr id="42" name="Shape 40"/>
          <p:cNvSpPr/>
          <p:nvPr/>
        </p:nvSpPr>
        <p:spPr>
          <a:xfrm>
            <a:off x="365760" y="3063240"/>
            <a:ext cx="1920240" cy="1600200"/>
          </a:xfrm>
          <a:prstGeom prst="roundRect">
            <a:avLst>
              <a:gd name="adj" fmla="val 6857"/>
            </a:avLst>
          </a:prstGeom>
          <a:solidFill>
            <a:srgbClr val="EEF2F7"/>
          </a:solidFill>
          <a:ln w="19050">
            <a:solidFill>
              <a:srgbClr val="9B3A3A"/>
            </a:solidFill>
            <a:prstDash val="solid"/>
          </a:ln>
        </p:spPr>
      </p:sp>
      <p:sp>
        <p:nvSpPr>
          <p:cNvPr id="43" name="Shape 41"/>
          <p:cNvSpPr/>
          <p:nvPr/>
        </p:nvSpPr>
        <p:spPr>
          <a:xfrm>
            <a:off x="1097280" y="3154680"/>
            <a:ext cx="457200" cy="457200"/>
          </a:xfrm>
          <a:prstGeom prst="ellipse">
            <a:avLst/>
          </a:prstGeom>
          <a:solidFill>
            <a:srgbClr val="9B3A3A"/>
          </a:solidFill>
          <a:ln w="12700">
            <a:solidFill>
              <a:srgbClr val="9B3A3A"/>
            </a:solidFill>
            <a:prstDash val="solid"/>
          </a:ln>
        </p:spPr>
      </p:sp>
      <p:sp>
        <p:nvSpPr>
          <p:cNvPr id="44" name="Text 42"/>
          <p:cNvSpPr/>
          <p:nvPr/>
        </p:nvSpPr>
        <p:spPr>
          <a:xfrm>
            <a:off x="1097280" y="3154680"/>
            <a:ext cx="457200" cy="457200"/>
          </a:xfrm>
          <a:prstGeom prst="rect">
            <a:avLst/>
          </a:prstGeom>
          <a:noFill/>
          <a:ln/>
        </p:spPr>
        <p:txBody>
          <a:bodyPr wrap="square" lIns="0" tIns="0" rIns="0" bIns="0" rtlCol="0" anchor="ctr"/>
          <a:lstStyle/>
          <a:p>
            <a:pPr marL="0" indent="0" algn="ctr">
              <a:buNone/>
            </a:pPr>
            <a:r>
              <a:rPr lang="en-US" sz="1400" b="1" dirty="0">
                <a:solidFill>
                  <a:srgbClr val="1E3A5F"/>
                </a:solidFill>
              </a:rPr>
              <a:t>6</a:t>
            </a:r>
            <a:endParaRPr lang="en-US" sz="1400" dirty="0"/>
          </a:p>
        </p:txBody>
      </p:sp>
      <p:sp>
        <p:nvSpPr>
          <p:cNvPr id="45" name="Text 43"/>
          <p:cNvSpPr/>
          <p:nvPr/>
        </p:nvSpPr>
        <p:spPr>
          <a:xfrm>
            <a:off x="365760" y="3648456"/>
            <a:ext cx="1920240" cy="438912"/>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46" name="Text 44"/>
          <p:cNvSpPr/>
          <p:nvPr/>
        </p:nvSpPr>
        <p:spPr>
          <a:xfrm>
            <a:off x="365760" y="4114800"/>
            <a:ext cx="1920240" cy="274320"/>
          </a:xfrm>
          <a:prstGeom prst="rect">
            <a:avLst/>
          </a:prstGeom>
          <a:noFill/>
          <a:ln/>
        </p:spPr>
        <p:txBody>
          <a:bodyPr wrap="square" rtlCol="0" anchor="ctr"/>
          <a:lstStyle/>
          <a:p>
            <a:pPr marL="0" indent="0" algn="ctr">
              <a:buNone/>
            </a:pPr>
            <a:r>
              <a:rPr lang="en-US" sz="1100" b="1" dirty="0">
                <a:solidFill>
                  <a:srgbClr val="9B3A3A"/>
                </a:solidFill>
                <a:latin typeface="Calibri" pitchFamily="34" charset="0"/>
                <a:ea typeface="Calibri" pitchFamily="34" charset="-122"/>
                <a:cs typeface="Calibri" pitchFamily="34" charset="-120"/>
              </a:rPr>
              <a:t>Monitoring</a:t>
            </a:r>
            <a:endParaRPr lang="en-US" sz="1100" dirty="0"/>
          </a:p>
        </p:txBody>
      </p:sp>
      <p:sp>
        <p:nvSpPr>
          <p:cNvPr id="47" name="Text 45"/>
          <p:cNvSpPr/>
          <p:nvPr/>
        </p:nvSpPr>
        <p:spPr>
          <a:xfrm>
            <a:off x="365760" y="4379976"/>
            <a:ext cx="1920240" cy="256032"/>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Health status</a:t>
            </a:r>
            <a:endParaRPr lang="en-US" sz="850" dirty="0"/>
          </a:p>
          <a:p>
            <a:pPr marL="0" indent="0" algn="ctr">
              <a:buNone/>
            </a:pPr>
            <a:r>
              <a:rPr lang="en-US" sz="850" dirty="0">
                <a:solidFill>
                  <a:srgbClr val="7B8FA1"/>
                </a:solidFill>
                <a:latin typeface="Calibri" pitchFamily="34" charset="0"/>
                <a:ea typeface="Calibri" pitchFamily="34" charset="-122"/>
                <a:cs typeface="Calibri" pitchFamily="34" charset="-120"/>
              </a:rPr>
              <a:t>output computed</a:t>
            </a:r>
            <a:endParaRPr lang="en-US" sz="850" dirty="0"/>
          </a:p>
        </p:txBody>
      </p:sp>
      <p:sp>
        <p:nvSpPr>
          <p:cNvPr id="48" name="Text 46"/>
          <p:cNvSpPr/>
          <p:nvPr/>
        </p:nvSpPr>
        <p:spPr>
          <a:xfrm>
            <a:off x="2304288" y="3630168"/>
            <a:ext cx="347472" cy="384048"/>
          </a:xfrm>
          <a:prstGeom prst="rect">
            <a:avLst/>
          </a:prstGeom>
          <a:noFill/>
          <a:ln/>
        </p:spPr>
        <p:txBody>
          <a:bodyPr wrap="square" rtlCol="0" anchor="ctr"/>
          <a:lstStyle/>
          <a:p>
            <a:pPr marL="0" indent="0" algn="ctr">
              <a:buNone/>
            </a:pPr>
            <a:r>
              <a:rPr lang="en-US" sz="1800" dirty="0">
                <a:solidFill>
                  <a:srgbClr val="9B3A3A"/>
                </a:solidFill>
              </a:rPr>
              <a:t>→</a:t>
            </a:r>
            <a:endParaRPr lang="en-US" sz="1800" dirty="0"/>
          </a:p>
        </p:txBody>
      </p:sp>
      <p:sp>
        <p:nvSpPr>
          <p:cNvPr id="49" name="Shape 47"/>
          <p:cNvSpPr/>
          <p:nvPr/>
        </p:nvSpPr>
        <p:spPr>
          <a:xfrm>
            <a:off x="2651760" y="3063240"/>
            <a:ext cx="1920240" cy="1600200"/>
          </a:xfrm>
          <a:prstGeom prst="roundRect">
            <a:avLst>
              <a:gd name="adj" fmla="val 6857"/>
            </a:avLst>
          </a:prstGeom>
          <a:solidFill>
            <a:srgbClr val="EEF2F7"/>
          </a:solidFill>
          <a:ln w="19050">
            <a:solidFill>
              <a:srgbClr val="A07840"/>
            </a:solidFill>
            <a:prstDash val="solid"/>
          </a:ln>
        </p:spPr>
      </p:sp>
      <p:sp>
        <p:nvSpPr>
          <p:cNvPr id="50" name="Shape 48"/>
          <p:cNvSpPr/>
          <p:nvPr/>
        </p:nvSpPr>
        <p:spPr>
          <a:xfrm>
            <a:off x="3383280" y="3154680"/>
            <a:ext cx="457200" cy="457200"/>
          </a:xfrm>
          <a:prstGeom prst="ellipse">
            <a:avLst/>
          </a:prstGeom>
          <a:solidFill>
            <a:srgbClr val="A07840"/>
          </a:solidFill>
          <a:ln w="12700">
            <a:solidFill>
              <a:srgbClr val="A07840"/>
            </a:solidFill>
            <a:prstDash val="solid"/>
          </a:ln>
        </p:spPr>
      </p:sp>
      <p:sp>
        <p:nvSpPr>
          <p:cNvPr id="51" name="Text 49"/>
          <p:cNvSpPr/>
          <p:nvPr/>
        </p:nvSpPr>
        <p:spPr>
          <a:xfrm>
            <a:off x="3383280" y="3154680"/>
            <a:ext cx="457200" cy="457200"/>
          </a:xfrm>
          <a:prstGeom prst="rect">
            <a:avLst/>
          </a:prstGeom>
          <a:noFill/>
          <a:ln/>
        </p:spPr>
        <p:txBody>
          <a:bodyPr wrap="square" lIns="0" tIns="0" rIns="0" bIns="0" rtlCol="0" anchor="ctr"/>
          <a:lstStyle/>
          <a:p>
            <a:pPr marL="0" indent="0" algn="ctr">
              <a:buNone/>
            </a:pPr>
            <a:r>
              <a:rPr lang="en-US" sz="1400" b="1" dirty="0">
                <a:solidFill>
                  <a:srgbClr val="1E3A5F"/>
                </a:solidFill>
              </a:rPr>
              <a:t>7</a:t>
            </a:r>
            <a:endParaRPr lang="en-US" sz="1400" dirty="0"/>
          </a:p>
        </p:txBody>
      </p:sp>
      <p:sp>
        <p:nvSpPr>
          <p:cNvPr id="52" name="Text 50"/>
          <p:cNvSpPr/>
          <p:nvPr/>
        </p:nvSpPr>
        <p:spPr>
          <a:xfrm>
            <a:off x="2651760" y="3648456"/>
            <a:ext cx="1920240" cy="438912"/>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53" name="Text 51"/>
          <p:cNvSpPr/>
          <p:nvPr/>
        </p:nvSpPr>
        <p:spPr>
          <a:xfrm>
            <a:off x="2651760" y="4114800"/>
            <a:ext cx="1920240" cy="274320"/>
          </a:xfrm>
          <a:prstGeom prst="rect">
            <a:avLst/>
          </a:prstGeom>
          <a:noFill/>
          <a:ln/>
        </p:spPr>
        <p:txBody>
          <a:bodyPr wrap="square" rtlCol="0" anchor="ctr"/>
          <a:lstStyle/>
          <a:p>
            <a:pPr marL="0" indent="0" algn="ctr">
              <a:buNone/>
            </a:pPr>
            <a:r>
              <a:rPr lang="en-US" sz="1100" b="1" dirty="0">
                <a:solidFill>
                  <a:srgbClr val="A07840"/>
                </a:solidFill>
                <a:latin typeface="Calibri" pitchFamily="34" charset="0"/>
                <a:ea typeface="Calibri" pitchFamily="34" charset="-122"/>
                <a:cs typeface="Calibri" pitchFamily="34" charset="-120"/>
              </a:rPr>
              <a:t>WebSocket Push</a:t>
            </a:r>
            <a:endParaRPr lang="en-US" sz="1100" dirty="0"/>
          </a:p>
        </p:txBody>
      </p:sp>
      <p:sp>
        <p:nvSpPr>
          <p:cNvPr id="54" name="Text 52"/>
          <p:cNvSpPr/>
          <p:nvPr/>
        </p:nvSpPr>
        <p:spPr>
          <a:xfrm>
            <a:off x="2651760" y="4379976"/>
            <a:ext cx="1920240" cy="256032"/>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Real-time</a:t>
            </a:r>
            <a:endParaRPr lang="en-US" sz="850" dirty="0"/>
          </a:p>
          <a:p>
            <a:pPr marL="0" indent="0" algn="ctr">
              <a:buNone/>
            </a:pPr>
            <a:r>
              <a:rPr lang="en-US" sz="850" dirty="0">
                <a:solidFill>
                  <a:srgbClr val="7B8FA1"/>
                </a:solidFill>
                <a:latin typeface="Calibri" pitchFamily="34" charset="0"/>
                <a:ea typeface="Calibri" pitchFamily="34" charset="-122"/>
                <a:cs typeface="Calibri" pitchFamily="34" charset="-120"/>
              </a:rPr>
              <a:t>3s refresh cycle</a:t>
            </a:r>
            <a:endParaRPr lang="en-US" sz="850" dirty="0"/>
          </a:p>
        </p:txBody>
      </p:sp>
      <p:sp>
        <p:nvSpPr>
          <p:cNvPr id="55" name="Text 53"/>
          <p:cNvSpPr/>
          <p:nvPr/>
        </p:nvSpPr>
        <p:spPr>
          <a:xfrm>
            <a:off x="4590288" y="3630168"/>
            <a:ext cx="347472" cy="384048"/>
          </a:xfrm>
          <a:prstGeom prst="rect">
            <a:avLst/>
          </a:prstGeom>
          <a:noFill/>
          <a:ln/>
        </p:spPr>
        <p:txBody>
          <a:bodyPr wrap="square" rtlCol="0" anchor="ctr"/>
          <a:lstStyle/>
          <a:p>
            <a:pPr marL="0" indent="0" algn="ctr">
              <a:buNone/>
            </a:pPr>
            <a:r>
              <a:rPr lang="en-US" sz="1800" dirty="0">
                <a:solidFill>
                  <a:srgbClr val="A07840"/>
                </a:solidFill>
              </a:rPr>
              <a:t>→</a:t>
            </a:r>
            <a:endParaRPr lang="en-US" sz="1800" dirty="0"/>
          </a:p>
        </p:txBody>
      </p:sp>
      <p:sp>
        <p:nvSpPr>
          <p:cNvPr id="56" name="Shape 54"/>
          <p:cNvSpPr/>
          <p:nvPr/>
        </p:nvSpPr>
        <p:spPr>
          <a:xfrm>
            <a:off x="4937760" y="3063240"/>
            <a:ext cx="1920240" cy="1600200"/>
          </a:xfrm>
          <a:prstGeom prst="roundRect">
            <a:avLst>
              <a:gd name="adj" fmla="val 6857"/>
            </a:avLst>
          </a:prstGeom>
          <a:solidFill>
            <a:srgbClr val="EEF2F7"/>
          </a:solidFill>
          <a:ln w="19050">
            <a:solidFill>
              <a:srgbClr val="5B6E7C"/>
            </a:solidFill>
            <a:prstDash val="solid"/>
          </a:ln>
        </p:spPr>
      </p:sp>
      <p:sp>
        <p:nvSpPr>
          <p:cNvPr id="57" name="Shape 55"/>
          <p:cNvSpPr/>
          <p:nvPr/>
        </p:nvSpPr>
        <p:spPr>
          <a:xfrm>
            <a:off x="5669280" y="3154680"/>
            <a:ext cx="457200" cy="457200"/>
          </a:xfrm>
          <a:prstGeom prst="ellipse">
            <a:avLst/>
          </a:prstGeom>
          <a:solidFill>
            <a:srgbClr val="5B6E7C"/>
          </a:solidFill>
          <a:ln w="12700">
            <a:solidFill>
              <a:srgbClr val="5B6E7C"/>
            </a:solidFill>
            <a:prstDash val="solid"/>
          </a:ln>
        </p:spPr>
      </p:sp>
      <p:sp>
        <p:nvSpPr>
          <p:cNvPr id="58" name="Text 56"/>
          <p:cNvSpPr/>
          <p:nvPr/>
        </p:nvSpPr>
        <p:spPr>
          <a:xfrm>
            <a:off x="5669280" y="3154680"/>
            <a:ext cx="457200" cy="457200"/>
          </a:xfrm>
          <a:prstGeom prst="rect">
            <a:avLst/>
          </a:prstGeom>
          <a:noFill/>
          <a:ln/>
        </p:spPr>
        <p:txBody>
          <a:bodyPr wrap="square" lIns="0" tIns="0" rIns="0" bIns="0" rtlCol="0" anchor="ctr"/>
          <a:lstStyle/>
          <a:p>
            <a:pPr marL="0" indent="0" algn="ctr">
              <a:buNone/>
            </a:pPr>
            <a:r>
              <a:rPr lang="en-US" sz="1400" b="1" dirty="0">
                <a:solidFill>
                  <a:srgbClr val="1E3A5F"/>
                </a:solidFill>
              </a:rPr>
              <a:t>8</a:t>
            </a:r>
            <a:endParaRPr lang="en-US" sz="1400" dirty="0"/>
          </a:p>
        </p:txBody>
      </p:sp>
      <p:sp>
        <p:nvSpPr>
          <p:cNvPr id="59" name="Text 57"/>
          <p:cNvSpPr/>
          <p:nvPr/>
        </p:nvSpPr>
        <p:spPr>
          <a:xfrm>
            <a:off x="4937760" y="3648456"/>
            <a:ext cx="1920240" cy="438912"/>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60" name="Text 58"/>
          <p:cNvSpPr/>
          <p:nvPr/>
        </p:nvSpPr>
        <p:spPr>
          <a:xfrm>
            <a:off x="4937760" y="4114800"/>
            <a:ext cx="1920240" cy="274320"/>
          </a:xfrm>
          <a:prstGeom prst="rect">
            <a:avLst/>
          </a:prstGeom>
          <a:noFill/>
          <a:ln/>
        </p:spPr>
        <p:txBody>
          <a:bodyPr wrap="square" rtlCol="0" anchor="ctr"/>
          <a:lstStyle/>
          <a:p>
            <a:pPr marL="0" indent="0" algn="ctr">
              <a:buNone/>
            </a:pPr>
            <a:r>
              <a:rPr lang="en-US" sz="1100" b="1" dirty="0">
                <a:solidFill>
                  <a:srgbClr val="5B6E7C"/>
                </a:solidFill>
                <a:latin typeface="Calibri" pitchFamily="34" charset="0"/>
                <a:ea typeface="Calibri" pitchFamily="34" charset="-122"/>
                <a:cs typeface="Calibri" pitchFamily="34" charset="-120"/>
              </a:rPr>
              <a:t>Dashboard</a:t>
            </a:r>
            <a:endParaRPr lang="en-US" sz="1100" dirty="0"/>
          </a:p>
        </p:txBody>
      </p:sp>
      <p:sp>
        <p:nvSpPr>
          <p:cNvPr id="61" name="Text 59"/>
          <p:cNvSpPr/>
          <p:nvPr/>
        </p:nvSpPr>
        <p:spPr>
          <a:xfrm>
            <a:off x="4937760" y="4379976"/>
            <a:ext cx="1920240" cy="256032"/>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Markdown result</a:t>
            </a:r>
            <a:endParaRPr lang="en-US" sz="850" dirty="0"/>
          </a:p>
          <a:p>
            <a:pPr marL="0" indent="0" algn="ctr">
              <a:buNone/>
            </a:pPr>
            <a:r>
              <a:rPr lang="en-US" sz="850" dirty="0">
                <a:solidFill>
                  <a:srgbClr val="7B8FA1"/>
                </a:solidFill>
                <a:latin typeface="Calibri" pitchFamily="34" charset="0"/>
                <a:ea typeface="Calibri" pitchFamily="34" charset="-122"/>
                <a:cs typeface="Calibri" pitchFamily="34" charset="-120"/>
              </a:rPr>
              <a:t>displayed in UI</a:t>
            </a:r>
            <a:endParaRPr lang="en-US" sz="850" dirty="0"/>
          </a:p>
        </p:txBody>
      </p:sp>
      <p:sp>
        <p:nvSpPr>
          <p:cNvPr id="62" name="Text 60"/>
          <p:cNvSpPr/>
          <p:nvPr/>
        </p:nvSpPr>
        <p:spPr>
          <a:xfrm>
            <a:off x="365760" y="4736592"/>
            <a:ext cx="8412480" cy="274320"/>
          </a:xfrm>
          <a:prstGeom prst="rect">
            <a:avLst/>
          </a:prstGeom>
          <a:noFill/>
          <a:ln/>
        </p:spPr>
        <p:txBody>
          <a:bodyPr wrap="square" rtlCol="0" anchor="ctr"/>
          <a:lstStyle/>
          <a:p>
            <a:pPr marL="0" indent="0" algn="ctr">
              <a:buNone/>
            </a:pPr>
            <a:r>
              <a:rPr lang="en-US" sz="1000" i="1" dirty="0">
                <a:solidFill>
                  <a:srgbClr val="6B7F8E"/>
                </a:solidFill>
                <a:latin typeface="Calibri" pitchFamily="34" charset="0"/>
                <a:ea typeface="Calibri" pitchFamily="34" charset="-122"/>
                <a:cs typeface="Calibri" pitchFamily="34" charset="-120"/>
              </a:rPr>
              <a:t>↲ Continuous loop — live data refresh every 3 seconds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438912"/>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Key Features</a:t>
            </a:r>
            <a:endParaRPr lang="en-US" sz="2800" dirty="0"/>
          </a:p>
        </p:txBody>
      </p:sp>
      <p:sp>
        <p:nvSpPr>
          <p:cNvPr id="3" name="Shape 1"/>
          <p:cNvSpPr/>
          <p:nvPr/>
        </p:nvSpPr>
        <p:spPr>
          <a:xfrm>
            <a:off x="365760" y="685800"/>
            <a:ext cx="8412480" cy="914400"/>
          </a:xfrm>
          <a:prstGeom prst="roundRect">
            <a:avLst>
              <a:gd name="adj" fmla="val 12000"/>
            </a:avLst>
          </a:prstGeom>
          <a:solidFill>
            <a:srgbClr val="5B6E7C">
              <a:alpha val="88000"/>
            </a:srgbClr>
          </a:solidFill>
          <a:ln w="25400">
            <a:solidFill>
              <a:srgbClr val="5B6E7C"/>
            </a:solidFill>
            <a:prstDash val="solid"/>
          </a:ln>
          <a:effectLst>
            <a:outerShdw blurRad="152400" dist="38100" dir="2700000" algn="bl" rotWithShape="0">
              <a:srgbClr val="5B6E7C">
                <a:alpha val="40000"/>
              </a:srgbClr>
            </a:outerShdw>
          </a:effectLst>
        </p:spPr>
      </p:sp>
      <p:sp>
        <p:nvSpPr>
          <p:cNvPr id="4" name="Shape 2"/>
          <p:cNvSpPr/>
          <p:nvPr/>
        </p:nvSpPr>
        <p:spPr>
          <a:xfrm>
            <a:off x="411480" y="731520"/>
            <a:ext cx="1097280" cy="320040"/>
          </a:xfrm>
          <a:prstGeom prst="roundRect">
            <a:avLst>
              <a:gd name="adj" fmla="val 22857"/>
            </a:avLst>
          </a:prstGeom>
          <a:solidFill>
            <a:srgbClr val="5B6E7C"/>
          </a:solidFill>
          <a:ln w="12700">
            <a:solidFill>
              <a:srgbClr val="5B6E7C"/>
            </a:solidFill>
            <a:prstDash val="solid"/>
          </a:ln>
        </p:spPr>
      </p:sp>
      <p:sp>
        <p:nvSpPr>
          <p:cNvPr id="5" name="Text 3"/>
          <p:cNvSpPr/>
          <p:nvPr/>
        </p:nvSpPr>
        <p:spPr>
          <a:xfrm>
            <a:off x="411480" y="731520"/>
            <a:ext cx="1097280" cy="320040"/>
          </a:xfrm>
          <a:prstGeom prst="rect">
            <a:avLst/>
          </a:prstGeom>
          <a:noFill/>
          <a:ln/>
        </p:spPr>
        <p:txBody>
          <a:bodyPr wrap="square" lIns="0" tIns="0" rIns="0" bIns="0" rtlCol="0" anchor="ctr"/>
          <a:lstStyle/>
          <a:p>
            <a:pPr marL="0" indent="0" algn="ctr">
              <a:buNone/>
            </a:pPr>
            <a:r>
              <a:rPr lang="en-US" sz="750" b="1" dirty="0">
                <a:solidFill>
                  <a:srgbClr val="1E3A5F"/>
                </a:solidFill>
              </a:rPr>
              <a:t>⭐ STAR FEATURE</a:t>
            </a:r>
            <a:endParaRPr lang="en-US" sz="750" dirty="0"/>
          </a:p>
        </p:txBody>
      </p:sp>
      <p:sp>
        <p:nvSpPr>
          <p:cNvPr id="6" name="Text 4"/>
          <p:cNvSpPr/>
          <p:nvPr/>
        </p:nvSpPr>
        <p:spPr>
          <a:xfrm>
            <a:off x="1554480" y="734568"/>
            <a:ext cx="5943600" cy="347472"/>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  Globally Deployed Live Demo — Connect Any Docker Device Instantly</a:t>
            </a:r>
            <a:endParaRPr lang="en-US" sz="1300" dirty="0"/>
          </a:p>
        </p:txBody>
      </p:sp>
      <p:sp>
        <p:nvSpPr>
          <p:cNvPr id="8" name="Shape 6"/>
          <p:cNvSpPr/>
          <p:nvPr/>
        </p:nvSpPr>
        <p:spPr>
          <a:xfrm>
            <a:off x="365760" y="1810512"/>
            <a:ext cx="1965960" cy="1170432"/>
          </a:xfrm>
          <a:prstGeom prst="roundRect">
            <a:avLst>
              <a:gd name="adj" fmla="val 7813"/>
            </a:avLst>
          </a:prstGeom>
          <a:solidFill>
            <a:srgbClr val="EEF2F7"/>
          </a:solidFill>
          <a:ln w="12700">
            <a:solidFill>
              <a:srgbClr val="2E6DA4"/>
            </a:solidFill>
            <a:prstDash val="solid"/>
          </a:ln>
        </p:spPr>
      </p:sp>
      <p:sp>
        <p:nvSpPr>
          <p:cNvPr id="9" name="Text 7"/>
          <p:cNvSpPr/>
          <p:nvPr/>
        </p:nvSpPr>
        <p:spPr>
          <a:xfrm>
            <a:off x="365760" y="1883664"/>
            <a:ext cx="1965960" cy="384048"/>
          </a:xfrm>
          <a:prstGeom prst="rect">
            <a:avLst/>
          </a:prstGeom>
          <a:noFill/>
          <a:ln/>
        </p:spPr>
        <p:txBody>
          <a:bodyPr wrap="square" rtlCol="0" anchor="ctr"/>
          <a:lstStyle/>
          <a:p>
            <a:pPr marL="0" indent="0" algn="ctr">
              <a:buNone/>
            </a:pPr>
            <a:r>
              <a:rPr lang="en-US" sz="1800" dirty="0">
                <a:solidFill>
                  <a:srgbClr val="1A2B3C"/>
                </a:solidFill>
              </a:rPr>
              <a:t>🤖</a:t>
            </a:r>
            <a:endParaRPr lang="en-US" sz="1800" dirty="0"/>
          </a:p>
        </p:txBody>
      </p:sp>
      <p:sp>
        <p:nvSpPr>
          <p:cNvPr id="10" name="Text 8"/>
          <p:cNvSpPr/>
          <p:nvPr/>
        </p:nvSpPr>
        <p:spPr>
          <a:xfrm>
            <a:off x="457200" y="2267712"/>
            <a:ext cx="1783080" cy="274320"/>
          </a:xfrm>
          <a:prstGeom prst="rect">
            <a:avLst/>
          </a:prstGeom>
          <a:noFill/>
          <a:ln/>
        </p:spPr>
        <p:txBody>
          <a:bodyPr wrap="square" rtlCol="0" anchor="ctr"/>
          <a:lstStyle/>
          <a:p>
            <a:pPr marL="0" indent="0" algn="ctr">
              <a:buNone/>
            </a:pPr>
            <a:r>
              <a:rPr lang="en-US" sz="1000" b="1" dirty="0">
                <a:solidFill>
                  <a:srgbClr val="2E6DA4"/>
                </a:solidFill>
                <a:latin typeface="Calibri" pitchFamily="34" charset="0"/>
                <a:ea typeface="Calibri" pitchFamily="34" charset="-122"/>
                <a:cs typeface="Calibri" pitchFamily="34" charset="-120"/>
              </a:rPr>
              <a:t>AI Command Execution</a:t>
            </a:r>
            <a:endParaRPr lang="en-US" sz="1000" dirty="0"/>
          </a:p>
        </p:txBody>
      </p:sp>
      <p:sp>
        <p:nvSpPr>
          <p:cNvPr id="11" name="Text 9"/>
          <p:cNvSpPr/>
          <p:nvPr/>
        </p:nvSpPr>
        <p:spPr>
          <a:xfrm>
            <a:off x="457200" y="2542032"/>
            <a:ext cx="1783080" cy="384048"/>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Natural language → Docker action in milliseconds</a:t>
            </a:r>
            <a:endParaRPr lang="en-US" sz="800" dirty="0"/>
          </a:p>
        </p:txBody>
      </p:sp>
      <p:sp>
        <p:nvSpPr>
          <p:cNvPr id="12" name="Shape 10"/>
          <p:cNvSpPr/>
          <p:nvPr/>
        </p:nvSpPr>
        <p:spPr>
          <a:xfrm>
            <a:off x="2514600" y="1810512"/>
            <a:ext cx="1965960" cy="1170432"/>
          </a:xfrm>
          <a:prstGeom prst="roundRect">
            <a:avLst>
              <a:gd name="adj" fmla="val 7813"/>
            </a:avLst>
          </a:prstGeom>
          <a:solidFill>
            <a:srgbClr val="EEF2F7"/>
          </a:solidFill>
          <a:ln w="12700">
            <a:solidFill>
              <a:srgbClr val="5B6E7C"/>
            </a:solidFill>
            <a:prstDash val="solid"/>
          </a:ln>
        </p:spPr>
      </p:sp>
      <p:sp>
        <p:nvSpPr>
          <p:cNvPr id="13" name="Text 11"/>
          <p:cNvSpPr/>
          <p:nvPr/>
        </p:nvSpPr>
        <p:spPr>
          <a:xfrm>
            <a:off x="2514600" y="1883664"/>
            <a:ext cx="1965960" cy="384048"/>
          </a:xfrm>
          <a:prstGeom prst="rect">
            <a:avLst/>
          </a:prstGeom>
          <a:noFill/>
          <a:ln/>
        </p:spPr>
        <p:txBody>
          <a:bodyPr wrap="square" rtlCol="0" anchor="ctr"/>
          <a:lstStyle/>
          <a:p>
            <a:pPr marL="0" indent="0" algn="ctr">
              <a:buNone/>
            </a:pPr>
            <a:r>
              <a:rPr lang="en-US" sz="1800" dirty="0">
                <a:solidFill>
                  <a:srgbClr val="1A2B3C"/>
                </a:solidFill>
              </a:rPr>
              <a:t>📡</a:t>
            </a:r>
            <a:endParaRPr lang="en-US" sz="1800" dirty="0"/>
          </a:p>
        </p:txBody>
      </p:sp>
      <p:sp>
        <p:nvSpPr>
          <p:cNvPr id="14" name="Text 12"/>
          <p:cNvSpPr/>
          <p:nvPr/>
        </p:nvSpPr>
        <p:spPr>
          <a:xfrm>
            <a:off x="2606040" y="2267712"/>
            <a:ext cx="1783080" cy="274320"/>
          </a:xfrm>
          <a:prstGeom prst="rect">
            <a:avLst/>
          </a:prstGeom>
          <a:noFill/>
          <a:ln/>
        </p:spPr>
        <p:txBody>
          <a:bodyPr wrap="square" rtlCol="0" anchor="ctr"/>
          <a:lstStyle/>
          <a:p>
            <a:pPr marL="0" indent="0" algn="ctr">
              <a:buNone/>
            </a:pPr>
            <a:r>
              <a:rPr lang="en-US" sz="1000" b="1" dirty="0">
                <a:solidFill>
                  <a:srgbClr val="5B6E7C"/>
                </a:solidFill>
                <a:latin typeface="Calibri" pitchFamily="34" charset="0"/>
                <a:ea typeface="Calibri" pitchFamily="34" charset="-122"/>
                <a:cs typeface="Calibri" pitchFamily="34" charset="-120"/>
              </a:rPr>
              <a:t>Real-Time Monitoring</a:t>
            </a:r>
            <a:endParaRPr lang="en-US" sz="1000" dirty="0"/>
          </a:p>
        </p:txBody>
      </p:sp>
      <p:sp>
        <p:nvSpPr>
          <p:cNvPr id="15" name="Text 13"/>
          <p:cNvSpPr/>
          <p:nvPr/>
        </p:nvSpPr>
        <p:spPr>
          <a:xfrm>
            <a:off x="2606040" y="2542032"/>
            <a:ext cx="1783080" cy="384048"/>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WebSocket updates every 3 seconds, no refresh needed</a:t>
            </a:r>
            <a:endParaRPr lang="en-US" sz="800" dirty="0"/>
          </a:p>
        </p:txBody>
      </p:sp>
      <p:sp>
        <p:nvSpPr>
          <p:cNvPr id="16" name="Shape 14"/>
          <p:cNvSpPr/>
          <p:nvPr/>
        </p:nvSpPr>
        <p:spPr>
          <a:xfrm>
            <a:off x="4663440" y="1810512"/>
            <a:ext cx="1965960" cy="1170432"/>
          </a:xfrm>
          <a:prstGeom prst="roundRect">
            <a:avLst>
              <a:gd name="adj" fmla="val 7813"/>
            </a:avLst>
          </a:prstGeom>
          <a:solidFill>
            <a:srgbClr val="EEF2F7"/>
          </a:solidFill>
          <a:ln w="12700">
            <a:solidFill>
              <a:srgbClr val="3A7D8C"/>
            </a:solidFill>
            <a:prstDash val="solid"/>
          </a:ln>
        </p:spPr>
      </p:sp>
      <p:sp>
        <p:nvSpPr>
          <p:cNvPr id="17" name="Text 15"/>
          <p:cNvSpPr/>
          <p:nvPr/>
        </p:nvSpPr>
        <p:spPr>
          <a:xfrm>
            <a:off x="4663440" y="1883664"/>
            <a:ext cx="1965960" cy="384048"/>
          </a:xfrm>
          <a:prstGeom prst="rect">
            <a:avLst/>
          </a:prstGeom>
          <a:noFill/>
          <a:ln/>
        </p:spPr>
        <p:txBody>
          <a:bodyPr wrap="square" rtlCol="0" anchor="ctr"/>
          <a:lstStyle/>
          <a:p>
            <a:pPr marL="0" indent="0" algn="ctr">
              <a:buNone/>
            </a:pPr>
            <a:r>
              <a:rPr lang="en-US" sz="1800" dirty="0">
                <a:solidFill>
                  <a:srgbClr val="1A2B3C"/>
                </a:solidFill>
              </a:rPr>
              <a:t>🎛️</a:t>
            </a:r>
            <a:endParaRPr lang="en-US" sz="1800" dirty="0"/>
          </a:p>
        </p:txBody>
      </p:sp>
      <p:sp>
        <p:nvSpPr>
          <p:cNvPr id="18" name="Text 16"/>
          <p:cNvSpPr/>
          <p:nvPr/>
        </p:nvSpPr>
        <p:spPr>
          <a:xfrm>
            <a:off x="4754880" y="2267712"/>
            <a:ext cx="1783080" cy="274320"/>
          </a:xfrm>
          <a:prstGeom prst="rect">
            <a:avLst/>
          </a:prstGeom>
          <a:noFill/>
          <a:ln/>
        </p:spPr>
        <p:txBody>
          <a:bodyPr wrap="square" rtlCol="0" anchor="ctr"/>
          <a:lstStyle/>
          <a:p>
            <a:pPr marL="0" indent="0" algn="ctr">
              <a:buNone/>
            </a:pPr>
            <a:r>
              <a:rPr lang="en-US" sz="1000" b="1" dirty="0">
                <a:solidFill>
                  <a:srgbClr val="3A7D8C"/>
                </a:solidFill>
                <a:latin typeface="Calibri" pitchFamily="34" charset="0"/>
                <a:ea typeface="Calibri" pitchFamily="34" charset="-122"/>
                <a:cs typeface="Calibri" pitchFamily="34" charset="-120"/>
              </a:rPr>
              <a:t>Container Controls</a:t>
            </a:r>
            <a:endParaRPr lang="en-US" sz="1000" dirty="0"/>
          </a:p>
        </p:txBody>
      </p:sp>
      <p:sp>
        <p:nvSpPr>
          <p:cNvPr id="19" name="Text 17"/>
          <p:cNvSpPr/>
          <p:nvPr/>
        </p:nvSpPr>
        <p:spPr>
          <a:xfrm>
            <a:off x="4754880" y="2542032"/>
            <a:ext cx="1783080" cy="384048"/>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Start, Stop, Restart containers from the UI</a:t>
            </a:r>
            <a:endParaRPr lang="en-US" sz="800" dirty="0"/>
          </a:p>
        </p:txBody>
      </p:sp>
      <p:sp>
        <p:nvSpPr>
          <p:cNvPr id="20" name="Shape 18"/>
          <p:cNvSpPr/>
          <p:nvPr/>
        </p:nvSpPr>
        <p:spPr>
          <a:xfrm>
            <a:off x="6812280" y="1810512"/>
            <a:ext cx="1965960" cy="1170432"/>
          </a:xfrm>
          <a:prstGeom prst="roundRect">
            <a:avLst>
              <a:gd name="adj" fmla="val 7813"/>
            </a:avLst>
          </a:prstGeom>
          <a:solidFill>
            <a:srgbClr val="EEF2F7"/>
          </a:solidFill>
          <a:ln w="12700">
            <a:solidFill>
              <a:srgbClr val="A07840"/>
            </a:solidFill>
            <a:prstDash val="solid"/>
          </a:ln>
        </p:spPr>
      </p:sp>
      <p:sp>
        <p:nvSpPr>
          <p:cNvPr id="21" name="Text 19"/>
          <p:cNvSpPr/>
          <p:nvPr/>
        </p:nvSpPr>
        <p:spPr>
          <a:xfrm>
            <a:off x="6812280" y="1883664"/>
            <a:ext cx="1965960" cy="384048"/>
          </a:xfrm>
          <a:prstGeom prst="rect">
            <a:avLst/>
          </a:prstGeom>
          <a:noFill/>
          <a:ln/>
        </p:spPr>
        <p:txBody>
          <a:bodyPr wrap="square" rtlCol="0" anchor="ctr"/>
          <a:lstStyle/>
          <a:p>
            <a:pPr marL="0" indent="0" algn="ctr">
              <a:buNone/>
            </a:pPr>
            <a:r>
              <a:rPr lang="en-US" sz="1800" dirty="0">
                <a:solidFill>
                  <a:srgbClr val="1A2B3C"/>
                </a:solidFill>
              </a:rPr>
              <a:t>❤️</a:t>
            </a:r>
            <a:endParaRPr lang="en-US" sz="1800" dirty="0"/>
          </a:p>
        </p:txBody>
      </p:sp>
      <p:sp>
        <p:nvSpPr>
          <p:cNvPr id="22" name="Text 20"/>
          <p:cNvSpPr/>
          <p:nvPr/>
        </p:nvSpPr>
        <p:spPr>
          <a:xfrm>
            <a:off x="6903720" y="2267712"/>
            <a:ext cx="1783080" cy="274320"/>
          </a:xfrm>
          <a:prstGeom prst="rect">
            <a:avLst/>
          </a:prstGeom>
          <a:noFill/>
          <a:ln/>
        </p:spPr>
        <p:txBody>
          <a:bodyPr wrap="square" rtlCol="0" anchor="ctr"/>
          <a:lstStyle/>
          <a:p>
            <a:pPr marL="0" indent="0" algn="ctr">
              <a:buNone/>
            </a:pPr>
            <a:r>
              <a:rPr lang="en-US" sz="1000" b="1" dirty="0">
                <a:solidFill>
                  <a:srgbClr val="A07840"/>
                </a:solidFill>
                <a:latin typeface="Calibri" pitchFamily="34" charset="0"/>
                <a:ea typeface="Calibri" pitchFamily="34" charset="-122"/>
                <a:cs typeface="Calibri" pitchFamily="34" charset="-120"/>
              </a:rPr>
              <a:t>Health Tracking</a:t>
            </a:r>
            <a:endParaRPr lang="en-US" sz="1000" dirty="0"/>
          </a:p>
        </p:txBody>
      </p:sp>
      <p:sp>
        <p:nvSpPr>
          <p:cNvPr id="23" name="Text 21"/>
          <p:cNvSpPr/>
          <p:nvPr/>
        </p:nvSpPr>
        <p:spPr>
          <a:xfrm>
            <a:off x="6903720" y="2542032"/>
            <a:ext cx="1783080" cy="384048"/>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CPU, Memory, Uptime, Health status per container</a:t>
            </a:r>
            <a:endParaRPr lang="en-US" sz="800" dirty="0"/>
          </a:p>
        </p:txBody>
      </p:sp>
      <p:sp>
        <p:nvSpPr>
          <p:cNvPr id="24" name="Shape 22"/>
          <p:cNvSpPr/>
          <p:nvPr/>
        </p:nvSpPr>
        <p:spPr>
          <a:xfrm>
            <a:off x="365760" y="3136392"/>
            <a:ext cx="1965960" cy="1170432"/>
          </a:xfrm>
          <a:prstGeom prst="roundRect">
            <a:avLst>
              <a:gd name="adj" fmla="val 7813"/>
            </a:avLst>
          </a:prstGeom>
          <a:solidFill>
            <a:srgbClr val="EEF2F7"/>
          </a:solidFill>
          <a:ln w="12700">
            <a:solidFill>
              <a:srgbClr val="9B3A3A"/>
            </a:solidFill>
            <a:prstDash val="solid"/>
          </a:ln>
        </p:spPr>
      </p:sp>
      <p:sp>
        <p:nvSpPr>
          <p:cNvPr id="25" name="Text 23"/>
          <p:cNvSpPr/>
          <p:nvPr/>
        </p:nvSpPr>
        <p:spPr>
          <a:xfrm>
            <a:off x="365760" y="3209544"/>
            <a:ext cx="1965960" cy="384048"/>
          </a:xfrm>
          <a:prstGeom prst="rect">
            <a:avLst/>
          </a:prstGeom>
          <a:noFill/>
          <a:ln/>
        </p:spPr>
        <p:txBody>
          <a:bodyPr wrap="square" rtlCol="0" anchor="ctr"/>
          <a:lstStyle/>
          <a:p>
            <a:pPr marL="0" indent="0" algn="ctr">
              <a:buNone/>
            </a:pPr>
            <a:r>
              <a:rPr lang="en-US" sz="1800" dirty="0">
                <a:solidFill>
                  <a:srgbClr val="1A2B3C"/>
                </a:solidFill>
              </a:rPr>
              <a:t>📋</a:t>
            </a:r>
            <a:endParaRPr lang="en-US" sz="1800" dirty="0"/>
          </a:p>
        </p:txBody>
      </p:sp>
      <p:sp>
        <p:nvSpPr>
          <p:cNvPr id="26" name="Text 24"/>
          <p:cNvSpPr/>
          <p:nvPr/>
        </p:nvSpPr>
        <p:spPr>
          <a:xfrm>
            <a:off x="457200" y="3593592"/>
            <a:ext cx="1783080" cy="274320"/>
          </a:xfrm>
          <a:prstGeom prst="rect">
            <a:avLst/>
          </a:prstGeom>
          <a:noFill/>
          <a:ln/>
        </p:spPr>
        <p:txBody>
          <a:bodyPr wrap="square" rtlCol="0" anchor="ctr"/>
          <a:lstStyle/>
          <a:p>
            <a:pPr marL="0" indent="0" algn="ctr">
              <a:buNone/>
            </a:pPr>
            <a:r>
              <a:rPr lang="en-US" sz="1000" b="1" dirty="0">
                <a:solidFill>
                  <a:srgbClr val="9B3A3A"/>
                </a:solidFill>
                <a:latin typeface="Calibri" pitchFamily="34" charset="0"/>
                <a:ea typeface="Calibri" pitchFamily="34" charset="-122"/>
                <a:cs typeface="Calibri" pitchFamily="34" charset="-120"/>
              </a:rPr>
              <a:t>Live Log Viewer</a:t>
            </a:r>
            <a:endParaRPr lang="en-US" sz="1000" dirty="0"/>
          </a:p>
        </p:txBody>
      </p:sp>
      <p:sp>
        <p:nvSpPr>
          <p:cNvPr id="27" name="Text 25"/>
          <p:cNvSpPr/>
          <p:nvPr/>
        </p:nvSpPr>
        <p:spPr>
          <a:xfrm>
            <a:off x="457200" y="3867912"/>
            <a:ext cx="1783080" cy="384048"/>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Real-time stdout/stderr log streaming per container</a:t>
            </a:r>
            <a:endParaRPr lang="en-US" sz="800" dirty="0"/>
          </a:p>
        </p:txBody>
      </p:sp>
      <p:sp>
        <p:nvSpPr>
          <p:cNvPr id="28" name="Shape 26"/>
          <p:cNvSpPr/>
          <p:nvPr/>
        </p:nvSpPr>
        <p:spPr>
          <a:xfrm>
            <a:off x="2514600" y="3136392"/>
            <a:ext cx="1965960" cy="1170432"/>
          </a:xfrm>
          <a:prstGeom prst="roundRect">
            <a:avLst>
              <a:gd name="adj" fmla="val 7813"/>
            </a:avLst>
          </a:prstGeom>
          <a:solidFill>
            <a:srgbClr val="EEF2F7"/>
          </a:solidFill>
          <a:ln w="12700">
            <a:solidFill>
              <a:srgbClr val="8B6355"/>
            </a:solidFill>
            <a:prstDash val="solid"/>
          </a:ln>
        </p:spPr>
      </p:sp>
      <p:sp>
        <p:nvSpPr>
          <p:cNvPr id="29" name="Text 27"/>
          <p:cNvSpPr/>
          <p:nvPr/>
        </p:nvSpPr>
        <p:spPr>
          <a:xfrm>
            <a:off x="2514600" y="3209544"/>
            <a:ext cx="1965960" cy="384048"/>
          </a:xfrm>
          <a:prstGeom prst="rect">
            <a:avLst/>
          </a:prstGeom>
          <a:noFill/>
          <a:ln/>
        </p:spPr>
        <p:txBody>
          <a:bodyPr wrap="square" rtlCol="0" anchor="ctr"/>
          <a:lstStyle/>
          <a:p>
            <a:pPr marL="0" indent="0" algn="ctr">
              <a:buNone/>
            </a:pPr>
            <a:r>
              <a:rPr lang="en-US" sz="1800" dirty="0">
                <a:solidFill>
                  <a:srgbClr val="1A2B3C"/>
                </a:solidFill>
              </a:rPr>
              <a:t>🔍</a:t>
            </a:r>
            <a:endParaRPr lang="en-US" sz="1800" dirty="0"/>
          </a:p>
        </p:txBody>
      </p:sp>
      <p:sp>
        <p:nvSpPr>
          <p:cNvPr id="30" name="Text 28"/>
          <p:cNvSpPr/>
          <p:nvPr/>
        </p:nvSpPr>
        <p:spPr>
          <a:xfrm>
            <a:off x="2606040" y="3593592"/>
            <a:ext cx="1783080" cy="274320"/>
          </a:xfrm>
          <a:prstGeom prst="rect">
            <a:avLst/>
          </a:prstGeom>
          <a:noFill/>
          <a:ln/>
        </p:spPr>
        <p:txBody>
          <a:bodyPr wrap="square" rtlCol="0" anchor="ctr"/>
          <a:lstStyle/>
          <a:p>
            <a:pPr marL="0" indent="0" algn="ctr">
              <a:buNone/>
            </a:pPr>
            <a:r>
              <a:rPr lang="en-US" sz="1000" b="1" dirty="0">
                <a:solidFill>
                  <a:srgbClr val="8B6355"/>
                </a:solidFill>
                <a:latin typeface="Calibri" pitchFamily="34" charset="0"/>
                <a:ea typeface="Calibri" pitchFamily="34" charset="-122"/>
                <a:cs typeface="Calibri" pitchFamily="34" charset="-120"/>
              </a:rPr>
              <a:t>Error Detection</a:t>
            </a:r>
            <a:endParaRPr lang="en-US" sz="1000" dirty="0"/>
          </a:p>
        </p:txBody>
      </p:sp>
      <p:sp>
        <p:nvSpPr>
          <p:cNvPr id="31" name="Text 29"/>
          <p:cNvSpPr/>
          <p:nvPr/>
        </p:nvSpPr>
        <p:spPr>
          <a:xfrm>
            <a:off x="2606040" y="3867912"/>
            <a:ext cx="1783080" cy="384048"/>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AI identifies crashes and suggests fixes automatically</a:t>
            </a:r>
            <a:endParaRPr lang="en-US" sz="800" dirty="0"/>
          </a:p>
        </p:txBody>
      </p:sp>
      <p:sp>
        <p:nvSpPr>
          <p:cNvPr id="32" name="Shape 30"/>
          <p:cNvSpPr/>
          <p:nvPr/>
        </p:nvSpPr>
        <p:spPr>
          <a:xfrm>
            <a:off x="4663440" y="3136392"/>
            <a:ext cx="1965960" cy="1170432"/>
          </a:xfrm>
          <a:prstGeom prst="roundRect">
            <a:avLst>
              <a:gd name="adj" fmla="val 7813"/>
            </a:avLst>
          </a:prstGeom>
          <a:solidFill>
            <a:srgbClr val="EEF2F7"/>
          </a:solidFill>
          <a:ln w="12700">
            <a:solidFill>
              <a:srgbClr val="2E6DA4"/>
            </a:solidFill>
            <a:prstDash val="solid"/>
          </a:ln>
        </p:spPr>
      </p:sp>
      <p:sp>
        <p:nvSpPr>
          <p:cNvPr id="33" name="Text 31"/>
          <p:cNvSpPr/>
          <p:nvPr/>
        </p:nvSpPr>
        <p:spPr>
          <a:xfrm>
            <a:off x="4663440" y="3209544"/>
            <a:ext cx="1965960" cy="384048"/>
          </a:xfrm>
          <a:prstGeom prst="rect">
            <a:avLst/>
          </a:prstGeom>
          <a:noFill/>
          <a:ln/>
        </p:spPr>
        <p:txBody>
          <a:bodyPr wrap="square" rtlCol="0" anchor="ctr"/>
          <a:lstStyle/>
          <a:p>
            <a:pPr marL="0" indent="0" algn="ctr">
              <a:buNone/>
            </a:pPr>
            <a:r>
              <a:rPr lang="en-US" sz="1800" dirty="0">
                <a:solidFill>
                  <a:srgbClr val="1A2B3C"/>
                </a:solidFill>
              </a:rPr>
              <a:t>📊</a:t>
            </a:r>
            <a:endParaRPr lang="en-US" sz="1800" dirty="0"/>
          </a:p>
        </p:txBody>
      </p:sp>
      <p:sp>
        <p:nvSpPr>
          <p:cNvPr id="34" name="Text 32"/>
          <p:cNvSpPr/>
          <p:nvPr/>
        </p:nvSpPr>
        <p:spPr>
          <a:xfrm>
            <a:off x="4754880" y="3593592"/>
            <a:ext cx="1783080" cy="274320"/>
          </a:xfrm>
          <a:prstGeom prst="rect">
            <a:avLst/>
          </a:prstGeom>
          <a:noFill/>
          <a:ln/>
        </p:spPr>
        <p:txBody>
          <a:bodyPr wrap="square" rtlCol="0" anchor="ctr"/>
          <a:lstStyle/>
          <a:p>
            <a:pPr marL="0" indent="0" algn="ctr">
              <a:buNone/>
            </a:pPr>
            <a:r>
              <a:rPr lang="en-US" sz="1000" b="1" dirty="0">
                <a:solidFill>
                  <a:srgbClr val="2E6DA4"/>
                </a:solidFill>
                <a:latin typeface="Calibri" pitchFamily="34" charset="0"/>
                <a:ea typeface="Calibri" pitchFamily="34" charset="-122"/>
                <a:cs typeface="Calibri" pitchFamily="34" charset="-120"/>
              </a:rPr>
              <a:t>Markdown Reports</a:t>
            </a:r>
            <a:endParaRPr lang="en-US" sz="1000" dirty="0"/>
          </a:p>
        </p:txBody>
      </p:sp>
      <p:sp>
        <p:nvSpPr>
          <p:cNvPr id="35" name="Text 33"/>
          <p:cNvSpPr/>
          <p:nvPr/>
        </p:nvSpPr>
        <p:spPr>
          <a:xfrm>
            <a:off x="4754880" y="3867912"/>
            <a:ext cx="1783080" cy="384048"/>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AI generates colored, formatted diagnostic reports</a:t>
            </a:r>
            <a:endParaRPr lang="en-US" sz="800" dirty="0"/>
          </a:p>
        </p:txBody>
      </p:sp>
      <p:sp>
        <p:nvSpPr>
          <p:cNvPr id="36" name="Shape 34"/>
          <p:cNvSpPr/>
          <p:nvPr/>
        </p:nvSpPr>
        <p:spPr>
          <a:xfrm>
            <a:off x="6812280" y="3136392"/>
            <a:ext cx="1965960" cy="1170432"/>
          </a:xfrm>
          <a:prstGeom prst="roundRect">
            <a:avLst>
              <a:gd name="adj" fmla="val 7813"/>
            </a:avLst>
          </a:prstGeom>
          <a:solidFill>
            <a:srgbClr val="EEF2F7"/>
          </a:solidFill>
          <a:ln w="12700">
            <a:solidFill>
              <a:srgbClr val="3A7D8C"/>
            </a:solidFill>
            <a:prstDash val="solid"/>
          </a:ln>
        </p:spPr>
      </p:sp>
      <p:sp>
        <p:nvSpPr>
          <p:cNvPr id="37" name="Text 35"/>
          <p:cNvSpPr/>
          <p:nvPr/>
        </p:nvSpPr>
        <p:spPr>
          <a:xfrm>
            <a:off x="6812280" y="3209544"/>
            <a:ext cx="1965960" cy="384048"/>
          </a:xfrm>
          <a:prstGeom prst="rect">
            <a:avLst/>
          </a:prstGeom>
          <a:noFill/>
          <a:ln/>
        </p:spPr>
        <p:txBody>
          <a:bodyPr wrap="square" rtlCol="0" anchor="ctr"/>
          <a:lstStyle/>
          <a:p>
            <a:pPr marL="0" indent="0" algn="ctr">
              <a:buNone/>
            </a:pPr>
            <a:r>
              <a:rPr lang="en-US" sz="1800" dirty="0">
                <a:solidFill>
                  <a:srgbClr val="1A2B3C"/>
                </a:solidFill>
              </a:rPr>
              <a:t>🔒</a:t>
            </a:r>
            <a:endParaRPr lang="en-US" sz="1800" dirty="0"/>
          </a:p>
        </p:txBody>
      </p:sp>
      <p:sp>
        <p:nvSpPr>
          <p:cNvPr id="38" name="Text 36"/>
          <p:cNvSpPr/>
          <p:nvPr/>
        </p:nvSpPr>
        <p:spPr>
          <a:xfrm>
            <a:off x="6903720" y="3593592"/>
            <a:ext cx="1783080" cy="274320"/>
          </a:xfrm>
          <a:prstGeom prst="rect">
            <a:avLst/>
          </a:prstGeom>
          <a:noFill/>
          <a:ln/>
        </p:spPr>
        <p:txBody>
          <a:bodyPr wrap="square" rtlCol="0" anchor="ctr"/>
          <a:lstStyle/>
          <a:p>
            <a:pPr marL="0" indent="0" algn="ctr">
              <a:buNone/>
            </a:pPr>
            <a:r>
              <a:rPr lang="en-US" sz="1000" b="1" dirty="0">
                <a:solidFill>
                  <a:srgbClr val="3A7D8C"/>
                </a:solidFill>
                <a:latin typeface="Calibri" pitchFamily="34" charset="0"/>
                <a:ea typeface="Calibri" pitchFamily="34" charset="-122"/>
                <a:cs typeface="Calibri" pitchFamily="34" charset="-120"/>
              </a:rPr>
              <a:t>Token Auth Security</a:t>
            </a:r>
            <a:endParaRPr lang="en-US" sz="1000" dirty="0"/>
          </a:p>
        </p:txBody>
      </p:sp>
      <p:sp>
        <p:nvSpPr>
          <p:cNvPr id="39" name="Text 37"/>
          <p:cNvSpPr/>
          <p:nvPr/>
        </p:nvSpPr>
        <p:spPr>
          <a:xfrm>
            <a:off x="6903720" y="3867912"/>
            <a:ext cx="1783080" cy="384048"/>
          </a:xfrm>
          <a:prstGeom prst="rect">
            <a:avLst/>
          </a:prstGeom>
          <a:noFill/>
          <a:ln/>
        </p:spPr>
        <p:txBody>
          <a:bodyPr wrap="square" rtlCol="0" anchor="ctr"/>
          <a:lstStyle/>
          <a:p>
            <a:pPr marL="0" indent="0" algn="ctr">
              <a:buNone/>
            </a:pPr>
            <a:r>
              <a:rPr lang="en-US" sz="800" dirty="0">
                <a:solidFill>
                  <a:srgbClr val="7B8FA1"/>
                </a:solidFill>
                <a:latin typeface="Calibri" pitchFamily="34" charset="0"/>
                <a:ea typeface="Calibri" pitchFamily="34" charset="-122"/>
                <a:cs typeface="Calibri" pitchFamily="34" charset="-120"/>
              </a:rPr>
              <a:t>Dashboard token protects write operations in production</a:t>
            </a:r>
            <a:endParaRPr lang="en-US" sz="800" dirty="0"/>
          </a:p>
        </p:txBody>
      </p:sp>
      <p:sp>
        <p:nvSpPr>
          <p:cNvPr id="43" name="Text 5">
            <a:extLst>
              <a:ext uri="{FF2B5EF4-FFF2-40B4-BE49-F238E27FC236}">
                <a16:creationId xmlns:a16="http://schemas.microsoft.com/office/drawing/2014/main" id="{F7406C3E-D30F-15BE-6044-621A0141DC6C}"/>
              </a:ext>
            </a:extLst>
          </p:cNvPr>
          <p:cNvSpPr/>
          <p:nvPr/>
        </p:nvSpPr>
        <p:spPr>
          <a:xfrm>
            <a:off x="457200" y="1115568"/>
            <a:ext cx="7772400" cy="347472"/>
          </a:xfrm>
          <a:prstGeom prst="rect">
            <a:avLst/>
          </a:prstGeom>
          <a:noFill/>
          <a:ln/>
        </p:spPr>
        <p:txBody>
          <a:bodyPr wrap="square" rtlCol="0" anchor="ctr"/>
          <a:lstStyle/>
          <a:p>
            <a:pPr marL="0" indent="0">
              <a:buNone/>
            </a:pPr>
            <a:r>
              <a:rPr lang="en-US" sz="950" dirty="0">
                <a:solidFill>
                  <a:schemeClr val="bg1"/>
                </a:solidFill>
                <a:latin typeface="Calibri" pitchFamily="34" charset="0"/>
                <a:ea typeface="Calibri" pitchFamily="34" charset="-122"/>
                <a:cs typeface="Calibri" pitchFamily="34" charset="-120"/>
              </a:rPr>
              <a:t>Visit the hosted website → connect your Docker → copy ONE command → paste in terminal → your containers appear live. Works on any OS, any device, anywhere in the world.</a:t>
            </a:r>
            <a:endParaRPr lang="en-US" sz="95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Markdown Integration</a:t>
            </a:r>
            <a:endParaRPr lang="en-US" sz="2800" dirty="0"/>
          </a:p>
        </p:txBody>
      </p:sp>
      <p:sp>
        <p:nvSpPr>
          <p:cNvPr id="3" name="Text 1"/>
          <p:cNvSpPr/>
          <p:nvPr/>
        </p:nvSpPr>
        <p:spPr>
          <a:xfrm>
            <a:off x="457200" y="621792"/>
            <a:ext cx="8229600" cy="292608"/>
          </a:xfrm>
          <a:prstGeom prst="rect">
            <a:avLst/>
          </a:prstGeom>
          <a:noFill/>
          <a:ln/>
        </p:spPr>
        <p:txBody>
          <a:bodyPr wrap="square" rtlCol="0" anchor="ctr"/>
          <a:lstStyle/>
          <a:p>
            <a:pPr marL="0" indent="0">
              <a:buNone/>
            </a:pPr>
            <a:r>
              <a:rPr lang="en-US" sz="1200" dirty="0">
                <a:solidFill>
                  <a:srgbClr val="2E6DA4"/>
                </a:solidFill>
                <a:latin typeface="Calibri" pitchFamily="34" charset="0"/>
                <a:ea typeface="Calibri" pitchFamily="34" charset="-122"/>
                <a:cs typeface="Calibri" pitchFamily="34" charset="-120"/>
              </a:rPr>
              <a:t>How AI responses become beautiful, colored diagnostic reports</a:t>
            </a:r>
            <a:endParaRPr lang="en-US" sz="1200" dirty="0"/>
          </a:p>
        </p:txBody>
      </p:sp>
      <p:sp>
        <p:nvSpPr>
          <p:cNvPr id="4" name="Shape 2"/>
          <p:cNvSpPr/>
          <p:nvPr/>
        </p:nvSpPr>
        <p:spPr>
          <a:xfrm>
            <a:off x="365760" y="1005840"/>
            <a:ext cx="1920240" cy="1554480"/>
          </a:xfrm>
          <a:prstGeom prst="roundRect">
            <a:avLst>
              <a:gd name="adj" fmla="val 7059"/>
            </a:avLst>
          </a:prstGeom>
          <a:solidFill>
            <a:srgbClr val="EEF2F7"/>
          </a:solidFill>
          <a:ln w="19050">
            <a:solidFill>
              <a:srgbClr val="5B6E7C"/>
            </a:solidFill>
            <a:prstDash val="solid"/>
          </a:ln>
        </p:spPr>
      </p:sp>
      <p:sp>
        <p:nvSpPr>
          <p:cNvPr id="5" name="Text 3"/>
          <p:cNvSpPr/>
          <p:nvPr/>
        </p:nvSpPr>
        <p:spPr>
          <a:xfrm>
            <a:off x="365760" y="1078992"/>
            <a:ext cx="1920240" cy="475488"/>
          </a:xfrm>
          <a:prstGeom prst="rect">
            <a:avLst/>
          </a:prstGeom>
          <a:noFill/>
          <a:ln/>
        </p:spPr>
        <p:txBody>
          <a:bodyPr wrap="square" rtlCol="0" anchor="ctr"/>
          <a:lstStyle/>
          <a:p>
            <a:pPr marL="0" indent="0" algn="ctr">
              <a:buNone/>
            </a:pPr>
            <a:r>
              <a:rPr lang="en-US" sz="2400" dirty="0">
                <a:solidFill>
                  <a:srgbClr val="1A2B3C"/>
                </a:solidFill>
              </a:rPr>
              <a:t>🤖</a:t>
            </a:r>
            <a:endParaRPr lang="en-US" sz="2400" dirty="0"/>
          </a:p>
        </p:txBody>
      </p:sp>
      <p:sp>
        <p:nvSpPr>
          <p:cNvPr id="6" name="Text 4"/>
          <p:cNvSpPr/>
          <p:nvPr/>
        </p:nvSpPr>
        <p:spPr>
          <a:xfrm>
            <a:off x="457200" y="1572768"/>
            <a:ext cx="1737360" cy="292608"/>
          </a:xfrm>
          <a:prstGeom prst="rect">
            <a:avLst/>
          </a:prstGeom>
          <a:noFill/>
          <a:ln/>
        </p:spPr>
        <p:txBody>
          <a:bodyPr wrap="square" rtlCol="0" anchor="ctr"/>
          <a:lstStyle/>
          <a:p>
            <a:pPr marL="0" indent="0" algn="ctr">
              <a:buNone/>
            </a:pPr>
            <a:r>
              <a:rPr lang="en-US" sz="1100" b="1" dirty="0">
                <a:solidFill>
                  <a:srgbClr val="5B6E7C"/>
                </a:solidFill>
                <a:latin typeface="Calibri" pitchFamily="34" charset="0"/>
                <a:ea typeface="Calibri" pitchFamily="34" charset="-122"/>
                <a:cs typeface="Calibri" pitchFamily="34" charset="-120"/>
              </a:rPr>
              <a:t>AI Response</a:t>
            </a:r>
            <a:endParaRPr lang="en-US" sz="1100" dirty="0"/>
          </a:p>
        </p:txBody>
      </p:sp>
      <p:sp>
        <p:nvSpPr>
          <p:cNvPr id="7" name="Text 5"/>
          <p:cNvSpPr/>
          <p:nvPr/>
        </p:nvSpPr>
        <p:spPr>
          <a:xfrm>
            <a:off x="457200" y="1883664"/>
            <a:ext cx="17373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Plain text from Gemini/Ollama with markdown syntax</a:t>
            </a:r>
            <a:endParaRPr lang="en-US" sz="850" dirty="0"/>
          </a:p>
        </p:txBody>
      </p:sp>
      <p:sp>
        <p:nvSpPr>
          <p:cNvPr id="8" name="Text 6"/>
          <p:cNvSpPr/>
          <p:nvPr/>
        </p:nvSpPr>
        <p:spPr>
          <a:xfrm>
            <a:off x="2304288" y="1536192"/>
            <a:ext cx="210312" cy="384048"/>
          </a:xfrm>
          <a:prstGeom prst="rect">
            <a:avLst/>
          </a:prstGeom>
          <a:noFill/>
          <a:ln/>
        </p:spPr>
        <p:txBody>
          <a:bodyPr wrap="square" rtlCol="0" anchor="ctr"/>
          <a:lstStyle/>
          <a:p>
            <a:pPr marL="0" indent="0" algn="ctr">
              <a:buNone/>
            </a:pPr>
            <a:r>
              <a:rPr lang="en-US" sz="1800" dirty="0">
                <a:solidFill>
                  <a:srgbClr val="5B6E7C"/>
                </a:solidFill>
              </a:rPr>
              <a:t>→</a:t>
            </a:r>
            <a:endParaRPr lang="en-US" sz="1800" dirty="0"/>
          </a:p>
        </p:txBody>
      </p:sp>
      <p:sp>
        <p:nvSpPr>
          <p:cNvPr id="9" name="Shape 7"/>
          <p:cNvSpPr/>
          <p:nvPr/>
        </p:nvSpPr>
        <p:spPr>
          <a:xfrm>
            <a:off x="2514600" y="1005840"/>
            <a:ext cx="1920240" cy="1554480"/>
          </a:xfrm>
          <a:prstGeom prst="roundRect">
            <a:avLst>
              <a:gd name="adj" fmla="val 7059"/>
            </a:avLst>
          </a:prstGeom>
          <a:solidFill>
            <a:srgbClr val="EEF2F7"/>
          </a:solidFill>
          <a:ln w="19050">
            <a:solidFill>
              <a:srgbClr val="2E6DA4"/>
            </a:solidFill>
            <a:prstDash val="solid"/>
          </a:ln>
        </p:spPr>
      </p:sp>
      <p:sp>
        <p:nvSpPr>
          <p:cNvPr id="10" name="Text 8"/>
          <p:cNvSpPr/>
          <p:nvPr/>
        </p:nvSpPr>
        <p:spPr>
          <a:xfrm>
            <a:off x="2514600" y="1078992"/>
            <a:ext cx="1920240" cy="475488"/>
          </a:xfrm>
          <a:prstGeom prst="rect">
            <a:avLst/>
          </a:prstGeom>
          <a:noFill/>
          <a:ln/>
        </p:spPr>
        <p:txBody>
          <a:bodyPr wrap="square" rtlCol="0" anchor="ctr"/>
          <a:lstStyle/>
          <a:p>
            <a:pPr marL="0" indent="0" algn="ctr">
              <a:buNone/>
            </a:pPr>
            <a:r>
              <a:rPr lang="en-US" sz="2400" dirty="0">
                <a:solidFill>
                  <a:srgbClr val="1A2B3C"/>
                </a:solidFill>
              </a:rPr>
              <a:t>📝</a:t>
            </a:r>
            <a:endParaRPr lang="en-US" sz="2400" dirty="0"/>
          </a:p>
        </p:txBody>
      </p:sp>
      <p:sp>
        <p:nvSpPr>
          <p:cNvPr id="11" name="Text 9"/>
          <p:cNvSpPr/>
          <p:nvPr/>
        </p:nvSpPr>
        <p:spPr>
          <a:xfrm>
            <a:off x="2606040" y="1572768"/>
            <a:ext cx="1737360" cy="292608"/>
          </a:xfrm>
          <a:prstGeom prst="rect">
            <a:avLst/>
          </a:prstGeom>
          <a:noFill/>
          <a:ln/>
        </p:spPr>
        <p:txBody>
          <a:bodyPr wrap="square" rtlCol="0" anchor="ctr"/>
          <a:lstStyle/>
          <a:p>
            <a:pPr marL="0" indent="0" algn="ctr">
              <a:buNone/>
            </a:pPr>
            <a:r>
              <a:rPr lang="en-US" sz="1100" b="1" dirty="0">
                <a:solidFill>
                  <a:srgbClr val="2E6DA4"/>
                </a:solidFill>
                <a:latin typeface="Calibri" pitchFamily="34" charset="0"/>
                <a:ea typeface="Calibri" pitchFamily="34" charset="-122"/>
                <a:cs typeface="Calibri" pitchFamily="34" charset="-120"/>
              </a:rPr>
              <a:t>Markdown Format</a:t>
            </a:r>
            <a:endParaRPr lang="en-US" sz="1100" dirty="0"/>
          </a:p>
        </p:txBody>
      </p:sp>
      <p:sp>
        <p:nvSpPr>
          <p:cNvPr id="12" name="Text 10"/>
          <p:cNvSpPr/>
          <p:nvPr/>
        </p:nvSpPr>
        <p:spPr>
          <a:xfrm>
            <a:off x="2606040" y="1883664"/>
            <a:ext cx="17373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Tables, bullets, headers, bold text in MD syntax</a:t>
            </a:r>
            <a:endParaRPr lang="en-US" sz="850" dirty="0"/>
          </a:p>
        </p:txBody>
      </p:sp>
      <p:sp>
        <p:nvSpPr>
          <p:cNvPr id="13" name="Text 11"/>
          <p:cNvSpPr/>
          <p:nvPr/>
        </p:nvSpPr>
        <p:spPr>
          <a:xfrm>
            <a:off x="4453128" y="1536192"/>
            <a:ext cx="210312" cy="384048"/>
          </a:xfrm>
          <a:prstGeom prst="rect">
            <a:avLst/>
          </a:prstGeom>
          <a:noFill/>
          <a:ln/>
        </p:spPr>
        <p:txBody>
          <a:bodyPr wrap="square" rtlCol="0" anchor="ctr"/>
          <a:lstStyle/>
          <a:p>
            <a:pPr marL="0" indent="0" algn="ctr">
              <a:buNone/>
            </a:pPr>
            <a:r>
              <a:rPr lang="en-US" sz="1800" dirty="0">
                <a:solidFill>
                  <a:srgbClr val="2E6DA4"/>
                </a:solidFill>
              </a:rPr>
              <a:t>→</a:t>
            </a:r>
            <a:endParaRPr lang="en-US" sz="1800" dirty="0"/>
          </a:p>
        </p:txBody>
      </p:sp>
      <p:sp>
        <p:nvSpPr>
          <p:cNvPr id="14" name="Shape 12"/>
          <p:cNvSpPr/>
          <p:nvPr/>
        </p:nvSpPr>
        <p:spPr>
          <a:xfrm>
            <a:off x="4663440" y="1005840"/>
            <a:ext cx="1920240" cy="1554480"/>
          </a:xfrm>
          <a:prstGeom prst="roundRect">
            <a:avLst>
              <a:gd name="adj" fmla="val 7059"/>
            </a:avLst>
          </a:prstGeom>
          <a:solidFill>
            <a:srgbClr val="EEF2F7"/>
          </a:solidFill>
          <a:ln w="19050">
            <a:solidFill>
              <a:srgbClr val="3A7D8C"/>
            </a:solidFill>
            <a:prstDash val="solid"/>
          </a:ln>
        </p:spPr>
      </p:sp>
      <p:sp>
        <p:nvSpPr>
          <p:cNvPr id="15" name="Text 13"/>
          <p:cNvSpPr/>
          <p:nvPr/>
        </p:nvSpPr>
        <p:spPr>
          <a:xfrm>
            <a:off x="4663440" y="1078992"/>
            <a:ext cx="1920240" cy="475488"/>
          </a:xfrm>
          <a:prstGeom prst="rect">
            <a:avLst/>
          </a:prstGeom>
          <a:noFill/>
          <a:ln/>
        </p:spPr>
        <p:txBody>
          <a:bodyPr wrap="square" rtlCol="0" anchor="ctr"/>
          <a:lstStyle/>
          <a:p>
            <a:pPr marL="0" indent="0" algn="ctr">
              <a:buNone/>
            </a:pPr>
            <a:r>
              <a:rPr lang="en-US" sz="2400" dirty="0">
                <a:solidFill>
                  <a:srgbClr val="1A2B3C"/>
                </a:solidFill>
              </a:rPr>
              <a:t>⚙️</a:t>
            </a:r>
            <a:endParaRPr lang="en-US" sz="2400" dirty="0"/>
          </a:p>
        </p:txBody>
      </p:sp>
      <p:sp>
        <p:nvSpPr>
          <p:cNvPr id="16" name="Text 14"/>
          <p:cNvSpPr/>
          <p:nvPr/>
        </p:nvSpPr>
        <p:spPr>
          <a:xfrm>
            <a:off x="4754880" y="1572768"/>
            <a:ext cx="1737360" cy="292608"/>
          </a:xfrm>
          <a:prstGeom prst="rect">
            <a:avLst/>
          </a:prstGeom>
          <a:noFill/>
          <a:ln/>
        </p:spPr>
        <p:txBody>
          <a:bodyPr wrap="square" rtlCol="0" anchor="ctr"/>
          <a:lstStyle/>
          <a:p>
            <a:pPr marL="0" indent="0" algn="ctr">
              <a:buNone/>
            </a:pPr>
            <a:r>
              <a:rPr lang="en-US" sz="1100" b="1" dirty="0">
                <a:solidFill>
                  <a:srgbClr val="3A7D8C"/>
                </a:solidFill>
                <a:latin typeface="Calibri" pitchFamily="34" charset="0"/>
                <a:ea typeface="Calibri" pitchFamily="34" charset="-122"/>
                <a:cs typeface="Calibri" pitchFamily="34" charset="-120"/>
              </a:rPr>
              <a:t>Custom Parser</a:t>
            </a:r>
            <a:endParaRPr lang="en-US" sz="1100" dirty="0"/>
          </a:p>
        </p:txBody>
      </p:sp>
      <p:sp>
        <p:nvSpPr>
          <p:cNvPr id="17" name="Text 15"/>
          <p:cNvSpPr/>
          <p:nvPr/>
        </p:nvSpPr>
        <p:spPr>
          <a:xfrm>
            <a:off x="4754880" y="1883664"/>
            <a:ext cx="17373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formatMarkdown() function in React processes MD</a:t>
            </a:r>
            <a:endParaRPr lang="en-US" sz="850" dirty="0"/>
          </a:p>
        </p:txBody>
      </p:sp>
      <p:sp>
        <p:nvSpPr>
          <p:cNvPr id="18" name="Text 16"/>
          <p:cNvSpPr/>
          <p:nvPr/>
        </p:nvSpPr>
        <p:spPr>
          <a:xfrm>
            <a:off x="6601968" y="1536192"/>
            <a:ext cx="210312" cy="384048"/>
          </a:xfrm>
          <a:prstGeom prst="rect">
            <a:avLst/>
          </a:prstGeom>
          <a:noFill/>
          <a:ln/>
        </p:spPr>
        <p:txBody>
          <a:bodyPr wrap="square" rtlCol="0" anchor="ctr"/>
          <a:lstStyle/>
          <a:p>
            <a:pPr marL="0" indent="0" algn="ctr">
              <a:buNone/>
            </a:pPr>
            <a:r>
              <a:rPr lang="en-US" sz="1800" dirty="0">
                <a:solidFill>
                  <a:srgbClr val="3A7D8C"/>
                </a:solidFill>
              </a:rPr>
              <a:t>→</a:t>
            </a:r>
            <a:endParaRPr lang="en-US" sz="1800" dirty="0"/>
          </a:p>
        </p:txBody>
      </p:sp>
      <p:sp>
        <p:nvSpPr>
          <p:cNvPr id="19" name="Shape 17"/>
          <p:cNvSpPr/>
          <p:nvPr/>
        </p:nvSpPr>
        <p:spPr>
          <a:xfrm>
            <a:off x="6812280" y="1005840"/>
            <a:ext cx="1920240" cy="1554480"/>
          </a:xfrm>
          <a:prstGeom prst="roundRect">
            <a:avLst>
              <a:gd name="adj" fmla="val 7059"/>
            </a:avLst>
          </a:prstGeom>
          <a:solidFill>
            <a:srgbClr val="EEF2F7"/>
          </a:solidFill>
          <a:ln w="19050">
            <a:solidFill>
              <a:srgbClr val="A07840"/>
            </a:solidFill>
            <a:prstDash val="solid"/>
          </a:ln>
        </p:spPr>
      </p:sp>
      <p:sp>
        <p:nvSpPr>
          <p:cNvPr id="20" name="Text 18"/>
          <p:cNvSpPr/>
          <p:nvPr/>
        </p:nvSpPr>
        <p:spPr>
          <a:xfrm>
            <a:off x="6812280" y="1078992"/>
            <a:ext cx="1920240" cy="475488"/>
          </a:xfrm>
          <a:prstGeom prst="rect">
            <a:avLst/>
          </a:prstGeom>
          <a:noFill/>
          <a:ln/>
        </p:spPr>
        <p:txBody>
          <a:bodyPr wrap="square" rtlCol="0" anchor="ctr"/>
          <a:lstStyle/>
          <a:p>
            <a:pPr marL="0" indent="0" algn="ctr">
              <a:buNone/>
            </a:pPr>
            <a:r>
              <a:rPr lang="en-US" sz="2400" dirty="0">
                <a:solidFill>
                  <a:srgbClr val="1A2B3C"/>
                </a:solidFill>
              </a:rPr>
              <a:t>🎨</a:t>
            </a:r>
            <a:endParaRPr lang="en-US" sz="2400" dirty="0"/>
          </a:p>
        </p:txBody>
      </p:sp>
      <p:sp>
        <p:nvSpPr>
          <p:cNvPr id="21" name="Text 19"/>
          <p:cNvSpPr/>
          <p:nvPr/>
        </p:nvSpPr>
        <p:spPr>
          <a:xfrm>
            <a:off x="6903720" y="1572768"/>
            <a:ext cx="1737360" cy="292608"/>
          </a:xfrm>
          <a:prstGeom prst="rect">
            <a:avLst/>
          </a:prstGeom>
          <a:noFill/>
          <a:ln/>
        </p:spPr>
        <p:txBody>
          <a:bodyPr wrap="square" rtlCol="0" anchor="ctr"/>
          <a:lstStyle/>
          <a:p>
            <a:pPr marL="0" indent="0" algn="ctr">
              <a:buNone/>
            </a:pPr>
            <a:r>
              <a:rPr lang="en-US" sz="1100" b="1" dirty="0">
                <a:solidFill>
                  <a:srgbClr val="A07840"/>
                </a:solidFill>
                <a:latin typeface="Calibri" pitchFamily="34" charset="0"/>
                <a:ea typeface="Calibri" pitchFamily="34" charset="-122"/>
                <a:cs typeface="Calibri" pitchFamily="34" charset="-120"/>
              </a:rPr>
              <a:t>Colored HTML</a:t>
            </a:r>
            <a:endParaRPr lang="en-US" sz="1100" dirty="0"/>
          </a:p>
        </p:txBody>
      </p:sp>
      <p:sp>
        <p:nvSpPr>
          <p:cNvPr id="22" name="Text 20"/>
          <p:cNvSpPr/>
          <p:nvPr/>
        </p:nvSpPr>
        <p:spPr>
          <a:xfrm>
            <a:off x="6903720" y="1883664"/>
            <a:ext cx="1737360" cy="59436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Status badges: 🟢 healthy, 🔴 critical, 🟡 warning</a:t>
            </a:r>
            <a:endParaRPr lang="en-US" sz="850" dirty="0"/>
          </a:p>
        </p:txBody>
      </p:sp>
      <p:sp>
        <p:nvSpPr>
          <p:cNvPr id="23" name="Shape 21"/>
          <p:cNvSpPr/>
          <p:nvPr/>
        </p:nvSpPr>
        <p:spPr>
          <a:xfrm>
            <a:off x="365760" y="2743200"/>
            <a:ext cx="4114800" cy="2103120"/>
          </a:xfrm>
          <a:prstGeom prst="roundRect">
            <a:avLst>
              <a:gd name="adj" fmla="val 5217"/>
            </a:avLst>
          </a:prstGeom>
          <a:solidFill>
            <a:srgbClr val="EEF2F7"/>
          </a:solidFill>
          <a:ln w="12700">
            <a:solidFill>
              <a:srgbClr val="2E6DA4"/>
            </a:solidFill>
            <a:prstDash val="solid"/>
          </a:ln>
        </p:spPr>
      </p:sp>
      <p:sp>
        <p:nvSpPr>
          <p:cNvPr id="24" name="Text 22"/>
          <p:cNvSpPr/>
          <p:nvPr/>
        </p:nvSpPr>
        <p:spPr>
          <a:xfrm>
            <a:off x="502920" y="2816352"/>
            <a:ext cx="3840480" cy="347472"/>
          </a:xfrm>
          <a:prstGeom prst="rect">
            <a:avLst/>
          </a:prstGeom>
          <a:noFill/>
          <a:ln/>
        </p:spPr>
        <p:txBody>
          <a:bodyPr wrap="square" rtlCol="0" anchor="ctr"/>
          <a:lstStyle/>
          <a:p>
            <a:pPr marL="0" indent="0">
              <a:buNone/>
            </a:pPr>
            <a:r>
              <a:rPr lang="en-US" sz="1300" b="1" dirty="0">
                <a:solidFill>
                  <a:srgbClr val="2E6DA4"/>
                </a:solidFill>
                <a:latin typeface="Calibri" pitchFamily="34" charset="0"/>
                <a:ea typeface="Calibri" pitchFamily="34" charset="-122"/>
                <a:cs typeface="Calibri" pitchFamily="34" charset="-120"/>
              </a:rPr>
              <a:t>Why Markdown?</a:t>
            </a:r>
            <a:endParaRPr lang="en-US" sz="1300" dirty="0"/>
          </a:p>
        </p:txBody>
      </p:sp>
      <p:sp>
        <p:nvSpPr>
          <p:cNvPr id="25" name="Text 23"/>
          <p:cNvSpPr/>
          <p:nvPr/>
        </p:nvSpPr>
        <p:spPr>
          <a:xfrm>
            <a:off x="502920" y="3218688"/>
            <a:ext cx="3840480" cy="27432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Universal — every AI model outputs Markdown natively</a:t>
            </a:r>
            <a:endParaRPr lang="en-US" sz="950" dirty="0"/>
          </a:p>
        </p:txBody>
      </p:sp>
      <p:sp>
        <p:nvSpPr>
          <p:cNvPr id="26" name="Text 24"/>
          <p:cNvSpPr/>
          <p:nvPr/>
        </p:nvSpPr>
        <p:spPr>
          <a:xfrm>
            <a:off x="502920" y="3538728"/>
            <a:ext cx="3840480" cy="27432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Lightweight — no heavy HTML/XML parsing overhead</a:t>
            </a:r>
            <a:endParaRPr lang="en-US" sz="950" dirty="0"/>
          </a:p>
        </p:txBody>
      </p:sp>
      <p:sp>
        <p:nvSpPr>
          <p:cNvPr id="27" name="Text 25"/>
          <p:cNvSpPr/>
          <p:nvPr/>
        </p:nvSpPr>
        <p:spPr>
          <a:xfrm>
            <a:off x="502920" y="3858768"/>
            <a:ext cx="3840480" cy="27432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Structured — tables, bullets, headers map to UI elements</a:t>
            </a:r>
            <a:endParaRPr lang="en-US" sz="950" dirty="0"/>
          </a:p>
        </p:txBody>
      </p:sp>
      <p:sp>
        <p:nvSpPr>
          <p:cNvPr id="28" name="Text 26"/>
          <p:cNvSpPr/>
          <p:nvPr/>
        </p:nvSpPr>
        <p:spPr>
          <a:xfrm>
            <a:off x="502920" y="4178808"/>
            <a:ext cx="3840480" cy="27432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Color coding — status words trigger automatic badge colors</a:t>
            </a:r>
            <a:endParaRPr lang="en-US" sz="950" dirty="0"/>
          </a:p>
        </p:txBody>
      </p:sp>
      <p:sp>
        <p:nvSpPr>
          <p:cNvPr id="29" name="Text 27"/>
          <p:cNvSpPr/>
          <p:nvPr/>
        </p:nvSpPr>
        <p:spPr>
          <a:xfrm>
            <a:off x="502920" y="4498848"/>
            <a:ext cx="3840480" cy="27432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Accessible — renders well in any environment</a:t>
            </a:r>
            <a:endParaRPr lang="en-US" sz="950" dirty="0"/>
          </a:p>
        </p:txBody>
      </p:sp>
      <p:sp>
        <p:nvSpPr>
          <p:cNvPr id="30" name="Shape 28"/>
          <p:cNvSpPr/>
          <p:nvPr/>
        </p:nvSpPr>
        <p:spPr>
          <a:xfrm>
            <a:off x="4663440" y="2743200"/>
            <a:ext cx="4160520" cy="2103120"/>
          </a:xfrm>
          <a:prstGeom prst="roundRect">
            <a:avLst>
              <a:gd name="adj" fmla="val 5217"/>
            </a:avLst>
          </a:prstGeom>
          <a:solidFill>
            <a:srgbClr val="F5F7FA"/>
          </a:solidFill>
          <a:ln w="12700">
            <a:solidFill>
              <a:srgbClr val="3A7D8C"/>
            </a:solidFill>
            <a:prstDash val="solid"/>
          </a:ln>
        </p:spPr>
      </p:sp>
      <p:sp>
        <p:nvSpPr>
          <p:cNvPr id="31" name="Text 29"/>
          <p:cNvSpPr/>
          <p:nvPr/>
        </p:nvSpPr>
        <p:spPr>
          <a:xfrm>
            <a:off x="4800600" y="2816352"/>
            <a:ext cx="3840480" cy="292608"/>
          </a:xfrm>
          <a:prstGeom prst="rect">
            <a:avLst/>
          </a:prstGeom>
          <a:noFill/>
          <a:ln/>
        </p:spPr>
        <p:txBody>
          <a:bodyPr wrap="square" rtlCol="0" anchor="ctr"/>
          <a:lstStyle/>
          <a:p>
            <a:pPr marL="0" indent="0">
              <a:buNone/>
            </a:pPr>
            <a:r>
              <a:rPr lang="en-US" sz="1100" b="1" dirty="0">
                <a:solidFill>
                  <a:srgbClr val="3A7D8C"/>
                </a:solidFill>
                <a:latin typeface="Calibri" pitchFamily="34" charset="0"/>
                <a:ea typeface="Calibri" pitchFamily="34" charset="-122"/>
                <a:cs typeface="Calibri" pitchFamily="34" charset="-120"/>
              </a:rPr>
              <a:t>📊 Sample AI Output (Markdown)</a:t>
            </a:r>
            <a:endParaRPr lang="en-US" sz="1100" dirty="0"/>
          </a:p>
        </p:txBody>
      </p:sp>
      <p:sp>
        <p:nvSpPr>
          <p:cNvPr id="32" name="Text 30"/>
          <p:cNvSpPr/>
          <p:nvPr/>
        </p:nvSpPr>
        <p:spPr>
          <a:xfrm>
            <a:off x="4773168" y="3154680"/>
            <a:ext cx="3977640" cy="219456"/>
          </a:xfrm>
          <a:prstGeom prst="rect">
            <a:avLst/>
          </a:prstGeom>
          <a:noFill/>
          <a:ln/>
        </p:spPr>
        <p:txBody>
          <a:bodyPr wrap="square" rtlCol="0" anchor="ctr"/>
          <a:lstStyle/>
          <a:p>
            <a:pPr marL="0" indent="0">
              <a:buNone/>
            </a:pPr>
            <a:r>
              <a:rPr lang="en-US" sz="800" dirty="0">
                <a:solidFill>
                  <a:srgbClr val="7B8FA1"/>
                </a:solidFill>
                <a:latin typeface="Courier New" pitchFamily="34" charset="0"/>
                <a:ea typeface="Courier New" pitchFamily="34" charset="-122"/>
                <a:cs typeface="Courier New" pitchFamily="34" charset="-120"/>
              </a:rPr>
              <a:t>| Container | Status | Risk |</a:t>
            </a:r>
            <a:endParaRPr lang="en-US" sz="800" dirty="0"/>
          </a:p>
        </p:txBody>
      </p:sp>
      <p:sp>
        <p:nvSpPr>
          <p:cNvPr id="33" name="Text 31"/>
          <p:cNvSpPr/>
          <p:nvPr/>
        </p:nvSpPr>
        <p:spPr>
          <a:xfrm>
            <a:off x="4773168" y="3383280"/>
            <a:ext cx="3977640" cy="219456"/>
          </a:xfrm>
          <a:prstGeom prst="rect">
            <a:avLst/>
          </a:prstGeom>
          <a:noFill/>
          <a:ln/>
        </p:spPr>
        <p:txBody>
          <a:bodyPr wrap="square" rtlCol="0" anchor="ctr"/>
          <a:lstStyle/>
          <a:p>
            <a:pPr marL="0" indent="0">
              <a:buNone/>
            </a:pPr>
            <a:r>
              <a:rPr lang="en-US" sz="800" dirty="0">
                <a:solidFill>
                  <a:srgbClr val="9B3A3A"/>
                </a:solidFill>
                <a:latin typeface="Courier New" pitchFamily="34" charset="0"/>
                <a:ea typeface="Courier New" pitchFamily="34" charset="-122"/>
                <a:cs typeface="Courier New" pitchFamily="34" charset="-120"/>
              </a:rPr>
              <a:t>| auth-api | restarting | 🔴 Critical |</a:t>
            </a:r>
            <a:endParaRPr lang="en-US" sz="800" dirty="0"/>
          </a:p>
        </p:txBody>
      </p:sp>
      <p:sp>
        <p:nvSpPr>
          <p:cNvPr id="34" name="Text 32"/>
          <p:cNvSpPr/>
          <p:nvPr/>
        </p:nvSpPr>
        <p:spPr>
          <a:xfrm>
            <a:off x="4773168" y="3611880"/>
            <a:ext cx="3977640" cy="219456"/>
          </a:xfrm>
          <a:prstGeom prst="rect">
            <a:avLst/>
          </a:prstGeom>
          <a:noFill/>
          <a:ln/>
        </p:spPr>
        <p:txBody>
          <a:bodyPr wrap="square" rtlCol="0" anchor="ctr"/>
          <a:lstStyle/>
          <a:p>
            <a:pPr marL="0" indent="0">
              <a:buNone/>
            </a:pPr>
            <a:r>
              <a:rPr lang="en-US" sz="800" dirty="0">
                <a:solidFill>
                  <a:srgbClr val="3A7D8C"/>
                </a:solidFill>
                <a:latin typeface="Courier New" pitchFamily="34" charset="0"/>
                <a:ea typeface="Courier New" pitchFamily="34" charset="-122"/>
                <a:cs typeface="Courier New" pitchFamily="34" charset="-120"/>
              </a:rPr>
              <a:t>| postgres-db | running | 🟢 Healthy |</a:t>
            </a:r>
            <a:endParaRPr lang="en-US" sz="800" dirty="0"/>
          </a:p>
        </p:txBody>
      </p:sp>
      <p:sp>
        <p:nvSpPr>
          <p:cNvPr id="35" name="Text 33"/>
          <p:cNvSpPr/>
          <p:nvPr/>
        </p:nvSpPr>
        <p:spPr>
          <a:xfrm>
            <a:off x="4773168" y="3840480"/>
            <a:ext cx="3977640" cy="219456"/>
          </a:xfrm>
          <a:prstGeom prst="rect">
            <a:avLst/>
          </a:prstGeom>
          <a:noFill/>
          <a:ln/>
        </p:spPr>
        <p:txBody>
          <a:bodyPr wrap="square" rtlCol="0" anchor="ctr"/>
          <a:lstStyle/>
          <a:p>
            <a:pPr marL="0" indent="0">
              <a:buNone/>
            </a:pPr>
            <a:r>
              <a:rPr lang="en-US" sz="800" dirty="0">
                <a:solidFill>
                  <a:srgbClr val="7B8FA1"/>
                </a:solidFill>
                <a:latin typeface="Courier New" pitchFamily="34" charset="0"/>
                <a:ea typeface="Courier New" pitchFamily="34" charset="-122"/>
                <a:cs typeface="Courier New" pitchFamily="34" charset="-120"/>
              </a:rPr>
              <a:t>| billing | running | 🟡 High |</a:t>
            </a:r>
            <a:endParaRPr lang="en-US" sz="800" dirty="0"/>
          </a:p>
        </p:txBody>
      </p:sp>
      <p:sp>
        <p:nvSpPr>
          <p:cNvPr id="36" name="Text 34"/>
          <p:cNvSpPr/>
          <p:nvPr/>
        </p:nvSpPr>
        <p:spPr>
          <a:xfrm>
            <a:off x="4773168" y="4069080"/>
            <a:ext cx="3977640" cy="219456"/>
          </a:xfrm>
          <a:prstGeom prst="rect">
            <a:avLst/>
          </a:prstGeom>
          <a:noFill/>
          <a:ln/>
        </p:spPr>
        <p:txBody>
          <a:bodyPr wrap="square" rtlCol="0" anchor="ctr"/>
          <a:lstStyle/>
          <a:p>
            <a:pPr marL="0" indent="0">
              <a:buNone/>
            </a:pPr>
            <a:endParaRPr lang="en-US" sz="800" dirty="0"/>
          </a:p>
        </p:txBody>
      </p:sp>
      <p:sp>
        <p:nvSpPr>
          <p:cNvPr id="37" name="Text 35"/>
          <p:cNvSpPr/>
          <p:nvPr/>
        </p:nvSpPr>
        <p:spPr>
          <a:xfrm>
            <a:off x="4773168" y="4297680"/>
            <a:ext cx="3977640" cy="219456"/>
          </a:xfrm>
          <a:prstGeom prst="rect">
            <a:avLst/>
          </a:prstGeom>
          <a:noFill/>
          <a:ln/>
        </p:spPr>
        <p:txBody>
          <a:bodyPr wrap="square" rtlCol="0" anchor="ctr"/>
          <a:lstStyle/>
          <a:p>
            <a:pPr marL="0" indent="0">
              <a:buNone/>
            </a:pPr>
            <a:r>
              <a:rPr lang="en-US" sz="800" dirty="0">
                <a:solidFill>
                  <a:srgbClr val="2E6DA4"/>
                </a:solidFill>
                <a:latin typeface="Courier New" pitchFamily="34" charset="0"/>
                <a:ea typeface="Courier New" pitchFamily="34" charset="-122"/>
                <a:cs typeface="Courier New" pitchFamily="34" charset="-120"/>
              </a:rPr>
              <a:t>* Immediate: Restart auth-api container</a:t>
            </a:r>
            <a:endParaRPr lang="en-US" sz="800" dirty="0"/>
          </a:p>
        </p:txBody>
      </p:sp>
      <p:sp>
        <p:nvSpPr>
          <p:cNvPr id="38" name="Text 36"/>
          <p:cNvSpPr/>
          <p:nvPr/>
        </p:nvSpPr>
        <p:spPr>
          <a:xfrm>
            <a:off x="4773168" y="4526280"/>
            <a:ext cx="3977640" cy="219456"/>
          </a:xfrm>
          <a:prstGeom prst="rect">
            <a:avLst/>
          </a:prstGeom>
          <a:noFill/>
          <a:ln/>
        </p:spPr>
        <p:txBody>
          <a:bodyPr wrap="square" rtlCol="0" anchor="ctr"/>
          <a:lstStyle/>
          <a:p>
            <a:pPr marL="0" indent="0">
              <a:buNone/>
            </a:pPr>
            <a:r>
              <a:rPr lang="en-US" sz="800" dirty="0">
                <a:solidFill>
                  <a:srgbClr val="2E6DA4"/>
                </a:solidFill>
                <a:latin typeface="Courier New" pitchFamily="34" charset="0"/>
                <a:ea typeface="Courier New" pitchFamily="34" charset="-122"/>
                <a:cs typeface="Courier New" pitchFamily="34" charset="-120"/>
              </a:rPr>
              <a:t>* Recommend: Check DB connection strings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Who Uses This?</a:t>
            </a:r>
            <a:endParaRPr lang="en-US" sz="2800" dirty="0"/>
          </a:p>
        </p:txBody>
      </p:sp>
      <p:sp>
        <p:nvSpPr>
          <p:cNvPr id="3" name="Text 1"/>
          <p:cNvSpPr/>
          <p:nvPr/>
        </p:nvSpPr>
        <p:spPr>
          <a:xfrm>
            <a:off x="457200" y="621792"/>
            <a:ext cx="8229600" cy="292608"/>
          </a:xfrm>
          <a:prstGeom prst="rect">
            <a:avLst/>
          </a:prstGeom>
          <a:noFill/>
          <a:ln/>
        </p:spPr>
        <p:txBody>
          <a:bodyPr wrap="square" rtlCol="0" anchor="ctr"/>
          <a:lstStyle/>
          <a:p>
            <a:pPr marL="0" indent="0">
              <a:buNone/>
            </a:pPr>
            <a:r>
              <a:rPr lang="en-US" sz="1200" dirty="0">
                <a:solidFill>
                  <a:srgbClr val="7B8FA1"/>
                </a:solidFill>
                <a:latin typeface="Calibri" pitchFamily="34" charset="0"/>
                <a:ea typeface="Calibri" pitchFamily="34" charset="-122"/>
                <a:cs typeface="Calibri" pitchFamily="34" charset="-120"/>
              </a:rPr>
              <a:t>Our dashboard serves every level — from student to enterprise</a:t>
            </a:r>
            <a:endParaRPr lang="en-US" sz="1200" dirty="0"/>
          </a:p>
        </p:txBody>
      </p:sp>
      <p:sp>
        <p:nvSpPr>
          <p:cNvPr id="4" name="Shape 2"/>
          <p:cNvSpPr/>
          <p:nvPr/>
        </p:nvSpPr>
        <p:spPr>
          <a:xfrm>
            <a:off x="365760" y="1005840"/>
            <a:ext cx="2697480" cy="1664208"/>
          </a:xfrm>
          <a:prstGeom prst="roundRect">
            <a:avLst>
              <a:gd name="adj" fmla="val 6593"/>
            </a:avLst>
          </a:prstGeom>
          <a:solidFill>
            <a:srgbClr val="EEF2F7"/>
          </a:solidFill>
          <a:ln w="19050">
            <a:solidFill>
              <a:srgbClr val="3A7D8C"/>
            </a:solidFill>
            <a:prstDash val="solid"/>
          </a:ln>
          <a:effectLst>
            <a:outerShdw blurRad="101600" dist="25400" dir="2700000" algn="bl" rotWithShape="0">
              <a:srgbClr val="1A2B3C">
                <a:alpha val="20000"/>
              </a:srgbClr>
            </a:outerShdw>
          </a:effectLst>
        </p:spPr>
      </p:sp>
      <p:sp>
        <p:nvSpPr>
          <p:cNvPr id="5" name="Text 3"/>
          <p:cNvSpPr/>
          <p:nvPr/>
        </p:nvSpPr>
        <p:spPr>
          <a:xfrm>
            <a:off x="365760" y="1097280"/>
            <a:ext cx="2697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6" name="Text 4"/>
          <p:cNvSpPr/>
          <p:nvPr/>
        </p:nvSpPr>
        <p:spPr>
          <a:xfrm>
            <a:off x="457200" y="1572768"/>
            <a:ext cx="2514600" cy="274320"/>
          </a:xfrm>
          <a:prstGeom prst="rect">
            <a:avLst/>
          </a:prstGeom>
          <a:noFill/>
          <a:ln/>
        </p:spPr>
        <p:txBody>
          <a:bodyPr wrap="square" rtlCol="0" anchor="ctr"/>
          <a:lstStyle/>
          <a:p>
            <a:pPr marL="0" indent="0" algn="ctr">
              <a:buNone/>
            </a:pPr>
            <a:r>
              <a:rPr lang="en-US" sz="1300" b="1" dirty="0">
                <a:solidFill>
                  <a:srgbClr val="3A7D8C"/>
                </a:solidFill>
                <a:latin typeface="Calibri" pitchFamily="34" charset="0"/>
                <a:ea typeface="Calibri" pitchFamily="34" charset="-122"/>
                <a:cs typeface="Calibri" pitchFamily="34" charset="-120"/>
              </a:rPr>
              <a:t>Students</a:t>
            </a:r>
            <a:endParaRPr lang="en-US" sz="1300" dirty="0"/>
          </a:p>
        </p:txBody>
      </p:sp>
      <p:sp>
        <p:nvSpPr>
          <p:cNvPr id="7" name="Text 5"/>
          <p:cNvSpPr/>
          <p:nvPr/>
        </p:nvSpPr>
        <p:spPr>
          <a:xfrm>
            <a:off x="475488" y="1883664"/>
            <a:ext cx="2478024" cy="50292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Learning Docker without memorizing commands. Visual feedback accelerates understanding.</a:t>
            </a:r>
            <a:endParaRPr lang="en-US" sz="850" dirty="0"/>
          </a:p>
        </p:txBody>
      </p:sp>
      <p:sp>
        <p:nvSpPr>
          <p:cNvPr id="8" name="Shape 6"/>
          <p:cNvSpPr/>
          <p:nvPr/>
        </p:nvSpPr>
        <p:spPr>
          <a:xfrm>
            <a:off x="1024128" y="2414016"/>
            <a:ext cx="1380744" cy="182880"/>
          </a:xfrm>
          <a:prstGeom prst="roundRect">
            <a:avLst>
              <a:gd name="adj" fmla="val 25000"/>
            </a:avLst>
          </a:prstGeom>
          <a:solidFill>
            <a:srgbClr val="3A7D8C">
              <a:alpha val="35000"/>
            </a:srgbClr>
          </a:solidFill>
          <a:ln w="6350">
            <a:solidFill>
              <a:srgbClr val="3A7D8C"/>
            </a:solidFill>
            <a:prstDash val="solid"/>
          </a:ln>
        </p:spPr>
      </p:sp>
      <p:sp>
        <p:nvSpPr>
          <p:cNvPr id="9" name="Text 7"/>
          <p:cNvSpPr/>
          <p:nvPr/>
        </p:nvSpPr>
        <p:spPr>
          <a:xfrm>
            <a:off x="1024128" y="2414016"/>
            <a:ext cx="1380744" cy="182880"/>
          </a:xfrm>
          <a:prstGeom prst="rect">
            <a:avLst/>
          </a:prstGeom>
          <a:noFill/>
          <a:ln/>
        </p:spPr>
        <p:txBody>
          <a:bodyPr wrap="square" lIns="0" tIns="0" rIns="0" bIns="0" rtlCol="0" anchor="ctr"/>
          <a:lstStyle/>
          <a:p>
            <a:pPr marL="0" indent="0" algn="ctr">
              <a:buNone/>
            </a:pPr>
            <a:r>
              <a:rPr lang="en-US" sz="750" b="1" dirty="0">
                <a:solidFill>
                  <a:srgbClr val="1E3A5F"/>
                </a:solidFill>
              </a:rPr>
              <a:t>Beginner</a:t>
            </a:r>
            <a:endParaRPr lang="en-US" sz="750" dirty="0"/>
          </a:p>
        </p:txBody>
      </p:sp>
      <p:sp>
        <p:nvSpPr>
          <p:cNvPr id="10" name="Shape 8"/>
          <p:cNvSpPr/>
          <p:nvPr/>
        </p:nvSpPr>
        <p:spPr>
          <a:xfrm>
            <a:off x="3291840" y="1005840"/>
            <a:ext cx="2697480" cy="1664208"/>
          </a:xfrm>
          <a:prstGeom prst="roundRect">
            <a:avLst>
              <a:gd name="adj" fmla="val 6593"/>
            </a:avLst>
          </a:prstGeom>
          <a:solidFill>
            <a:srgbClr val="EEF2F7"/>
          </a:solidFill>
          <a:ln w="19050">
            <a:solidFill>
              <a:srgbClr val="2E6DA4"/>
            </a:solidFill>
            <a:prstDash val="solid"/>
          </a:ln>
          <a:effectLst>
            <a:outerShdw blurRad="101600" dist="25400" dir="2700000" algn="bl" rotWithShape="0">
              <a:srgbClr val="1A2B3C">
                <a:alpha val="20000"/>
              </a:srgbClr>
            </a:outerShdw>
          </a:effectLst>
        </p:spPr>
      </p:sp>
      <p:sp>
        <p:nvSpPr>
          <p:cNvPr id="11" name="Text 9"/>
          <p:cNvSpPr/>
          <p:nvPr/>
        </p:nvSpPr>
        <p:spPr>
          <a:xfrm>
            <a:off x="3291840" y="1097280"/>
            <a:ext cx="2697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12" name="Text 10"/>
          <p:cNvSpPr/>
          <p:nvPr/>
        </p:nvSpPr>
        <p:spPr>
          <a:xfrm>
            <a:off x="3383280" y="1572768"/>
            <a:ext cx="2514600" cy="274320"/>
          </a:xfrm>
          <a:prstGeom prst="rect">
            <a:avLst/>
          </a:prstGeom>
          <a:noFill/>
          <a:ln/>
        </p:spPr>
        <p:txBody>
          <a:bodyPr wrap="square" rtlCol="0" anchor="ctr"/>
          <a:lstStyle/>
          <a:p>
            <a:pPr marL="0" indent="0" algn="ctr">
              <a:buNone/>
            </a:pPr>
            <a:r>
              <a:rPr lang="en-US" sz="1300" b="1" dirty="0">
                <a:solidFill>
                  <a:srgbClr val="2E6DA4"/>
                </a:solidFill>
                <a:latin typeface="Calibri" pitchFamily="34" charset="0"/>
                <a:ea typeface="Calibri" pitchFamily="34" charset="-122"/>
                <a:cs typeface="Calibri" pitchFamily="34" charset="-120"/>
              </a:rPr>
              <a:t>Developers</a:t>
            </a:r>
            <a:endParaRPr lang="en-US" sz="1300" dirty="0"/>
          </a:p>
        </p:txBody>
      </p:sp>
      <p:sp>
        <p:nvSpPr>
          <p:cNvPr id="13" name="Text 11"/>
          <p:cNvSpPr/>
          <p:nvPr/>
        </p:nvSpPr>
        <p:spPr>
          <a:xfrm>
            <a:off x="3401568" y="1883664"/>
            <a:ext cx="2478024" cy="50292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Monitor their own app containers, check logs, restart stuck services without leaving their IDE.</a:t>
            </a:r>
            <a:endParaRPr lang="en-US" sz="850" dirty="0"/>
          </a:p>
        </p:txBody>
      </p:sp>
      <p:sp>
        <p:nvSpPr>
          <p:cNvPr id="14" name="Shape 12"/>
          <p:cNvSpPr/>
          <p:nvPr/>
        </p:nvSpPr>
        <p:spPr>
          <a:xfrm>
            <a:off x="3950208" y="2414016"/>
            <a:ext cx="1380744" cy="182880"/>
          </a:xfrm>
          <a:prstGeom prst="roundRect">
            <a:avLst>
              <a:gd name="adj" fmla="val 25000"/>
            </a:avLst>
          </a:prstGeom>
          <a:solidFill>
            <a:srgbClr val="2E6DA4">
              <a:alpha val="35000"/>
            </a:srgbClr>
          </a:solidFill>
          <a:ln w="6350">
            <a:solidFill>
              <a:srgbClr val="2E6DA4"/>
            </a:solidFill>
            <a:prstDash val="solid"/>
          </a:ln>
        </p:spPr>
      </p:sp>
      <p:sp>
        <p:nvSpPr>
          <p:cNvPr id="15" name="Text 13"/>
          <p:cNvSpPr/>
          <p:nvPr/>
        </p:nvSpPr>
        <p:spPr>
          <a:xfrm>
            <a:off x="3950208" y="2414016"/>
            <a:ext cx="1380744" cy="182880"/>
          </a:xfrm>
          <a:prstGeom prst="rect">
            <a:avLst/>
          </a:prstGeom>
          <a:noFill/>
          <a:ln/>
        </p:spPr>
        <p:txBody>
          <a:bodyPr wrap="square" lIns="0" tIns="0" rIns="0" bIns="0" rtlCol="0" anchor="ctr"/>
          <a:lstStyle/>
          <a:p>
            <a:pPr marL="0" indent="0" algn="ctr">
              <a:buNone/>
            </a:pPr>
            <a:r>
              <a:rPr lang="en-US" sz="750" b="1" dirty="0">
                <a:solidFill>
                  <a:srgbClr val="1E3A5F"/>
                </a:solidFill>
              </a:rPr>
              <a:t>Daily User</a:t>
            </a:r>
            <a:endParaRPr lang="en-US" sz="750" dirty="0"/>
          </a:p>
        </p:txBody>
      </p:sp>
      <p:sp>
        <p:nvSpPr>
          <p:cNvPr id="16" name="Shape 14"/>
          <p:cNvSpPr/>
          <p:nvPr/>
        </p:nvSpPr>
        <p:spPr>
          <a:xfrm>
            <a:off x="6217920" y="1005840"/>
            <a:ext cx="2697480" cy="1664208"/>
          </a:xfrm>
          <a:prstGeom prst="roundRect">
            <a:avLst>
              <a:gd name="adj" fmla="val 6593"/>
            </a:avLst>
          </a:prstGeom>
          <a:solidFill>
            <a:srgbClr val="EEF2F7"/>
          </a:solidFill>
          <a:ln w="19050">
            <a:solidFill>
              <a:srgbClr val="5B6E7C"/>
            </a:solidFill>
            <a:prstDash val="solid"/>
          </a:ln>
          <a:effectLst>
            <a:outerShdw blurRad="101600" dist="25400" dir="2700000" algn="bl" rotWithShape="0">
              <a:srgbClr val="1A2B3C">
                <a:alpha val="20000"/>
              </a:srgbClr>
            </a:outerShdw>
          </a:effectLst>
        </p:spPr>
      </p:sp>
      <p:sp>
        <p:nvSpPr>
          <p:cNvPr id="17" name="Text 15"/>
          <p:cNvSpPr/>
          <p:nvPr/>
        </p:nvSpPr>
        <p:spPr>
          <a:xfrm>
            <a:off x="6217920" y="1097280"/>
            <a:ext cx="2697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18" name="Text 16"/>
          <p:cNvSpPr/>
          <p:nvPr/>
        </p:nvSpPr>
        <p:spPr>
          <a:xfrm>
            <a:off x="6309360" y="1572768"/>
            <a:ext cx="2514600" cy="274320"/>
          </a:xfrm>
          <a:prstGeom prst="rect">
            <a:avLst/>
          </a:prstGeom>
          <a:noFill/>
          <a:ln/>
        </p:spPr>
        <p:txBody>
          <a:bodyPr wrap="square" rtlCol="0" anchor="ctr"/>
          <a:lstStyle/>
          <a:p>
            <a:pPr marL="0" indent="0" algn="ctr">
              <a:buNone/>
            </a:pPr>
            <a:r>
              <a:rPr lang="en-US" sz="1300" b="1" dirty="0">
                <a:solidFill>
                  <a:srgbClr val="5B6E7C"/>
                </a:solidFill>
                <a:latin typeface="Calibri" pitchFamily="34" charset="0"/>
                <a:ea typeface="Calibri" pitchFamily="34" charset="-122"/>
                <a:cs typeface="Calibri" pitchFamily="34" charset="-120"/>
              </a:rPr>
              <a:t>DevOps Engineers</a:t>
            </a:r>
            <a:endParaRPr lang="en-US" sz="1300" dirty="0"/>
          </a:p>
        </p:txBody>
      </p:sp>
      <p:sp>
        <p:nvSpPr>
          <p:cNvPr id="19" name="Text 17"/>
          <p:cNvSpPr/>
          <p:nvPr/>
        </p:nvSpPr>
        <p:spPr>
          <a:xfrm>
            <a:off x="6327648" y="1883664"/>
            <a:ext cx="2478024" cy="50292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Quick health overview for dozens of containers. AI-powered incident response within seconds.</a:t>
            </a:r>
            <a:endParaRPr lang="en-US" sz="850" dirty="0"/>
          </a:p>
        </p:txBody>
      </p:sp>
      <p:sp>
        <p:nvSpPr>
          <p:cNvPr id="20" name="Shape 18"/>
          <p:cNvSpPr/>
          <p:nvPr/>
        </p:nvSpPr>
        <p:spPr>
          <a:xfrm>
            <a:off x="6876288" y="2414016"/>
            <a:ext cx="1380744" cy="182880"/>
          </a:xfrm>
          <a:prstGeom prst="roundRect">
            <a:avLst>
              <a:gd name="adj" fmla="val 25000"/>
            </a:avLst>
          </a:prstGeom>
          <a:solidFill>
            <a:srgbClr val="5B6E7C">
              <a:alpha val="35000"/>
            </a:srgbClr>
          </a:solidFill>
          <a:ln w="6350">
            <a:solidFill>
              <a:srgbClr val="5B6E7C"/>
            </a:solidFill>
            <a:prstDash val="solid"/>
          </a:ln>
        </p:spPr>
      </p:sp>
      <p:sp>
        <p:nvSpPr>
          <p:cNvPr id="21" name="Text 19"/>
          <p:cNvSpPr/>
          <p:nvPr/>
        </p:nvSpPr>
        <p:spPr>
          <a:xfrm>
            <a:off x="6876288" y="2414016"/>
            <a:ext cx="1380744" cy="182880"/>
          </a:xfrm>
          <a:prstGeom prst="rect">
            <a:avLst/>
          </a:prstGeom>
          <a:noFill/>
          <a:ln/>
        </p:spPr>
        <p:txBody>
          <a:bodyPr wrap="square" lIns="0" tIns="0" rIns="0" bIns="0" rtlCol="0" anchor="ctr"/>
          <a:lstStyle/>
          <a:p>
            <a:pPr marL="0" indent="0" algn="ctr">
              <a:buNone/>
            </a:pPr>
            <a:r>
              <a:rPr lang="en-US" sz="750" b="1" dirty="0">
                <a:solidFill>
                  <a:srgbClr val="1E3A5F"/>
                </a:solidFill>
              </a:rPr>
              <a:t>Power User</a:t>
            </a:r>
            <a:endParaRPr lang="en-US" sz="750" dirty="0"/>
          </a:p>
        </p:txBody>
      </p:sp>
      <p:sp>
        <p:nvSpPr>
          <p:cNvPr id="22" name="Shape 20"/>
          <p:cNvSpPr/>
          <p:nvPr/>
        </p:nvSpPr>
        <p:spPr>
          <a:xfrm>
            <a:off x="365760" y="2926080"/>
            <a:ext cx="2697480" cy="1664208"/>
          </a:xfrm>
          <a:prstGeom prst="roundRect">
            <a:avLst>
              <a:gd name="adj" fmla="val 6593"/>
            </a:avLst>
          </a:prstGeom>
          <a:solidFill>
            <a:srgbClr val="EEF2F7"/>
          </a:solidFill>
          <a:ln w="19050">
            <a:solidFill>
              <a:srgbClr val="2E6DA4"/>
            </a:solidFill>
            <a:prstDash val="solid"/>
          </a:ln>
          <a:effectLst>
            <a:outerShdw blurRad="101600" dist="25400" dir="2700000" algn="bl" rotWithShape="0">
              <a:srgbClr val="1A2B3C">
                <a:alpha val="20000"/>
              </a:srgbClr>
            </a:outerShdw>
          </a:effectLst>
        </p:spPr>
      </p:sp>
      <p:sp>
        <p:nvSpPr>
          <p:cNvPr id="23" name="Text 21"/>
          <p:cNvSpPr/>
          <p:nvPr/>
        </p:nvSpPr>
        <p:spPr>
          <a:xfrm>
            <a:off x="365760" y="3017520"/>
            <a:ext cx="2697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24" name="Text 22"/>
          <p:cNvSpPr/>
          <p:nvPr/>
        </p:nvSpPr>
        <p:spPr>
          <a:xfrm>
            <a:off x="457200" y="3493008"/>
            <a:ext cx="2514600" cy="274320"/>
          </a:xfrm>
          <a:prstGeom prst="rect">
            <a:avLst/>
          </a:prstGeom>
          <a:noFill/>
          <a:ln/>
        </p:spPr>
        <p:txBody>
          <a:bodyPr wrap="square" rtlCol="0" anchor="ctr"/>
          <a:lstStyle/>
          <a:p>
            <a:pPr marL="0" indent="0" algn="ctr">
              <a:buNone/>
            </a:pPr>
            <a:r>
              <a:rPr lang="en-US" sz="1300" b="1" dirty="0">
                <a:solidFill>
                  <a:srgbClr val="2E6DA4"/>
                </a:solidFill>
                <a:latin typeface="Calibri" pitchFamily="34" charset="0"/>
                <a:ea typeface="Calibri" pitchFamily="34" charset="-122"/>
                <a:cs typeface="Calibri" pitchFamily="34" charset="-120"/>
              </a:rPr>
              <a:t>Cloud Engineers</a:t>
            </a:r>
            <a:endParaRPr lang="en-US" sz="1300" dirty="0"/>
          </a:p>
        </p:txBody>
      </p:sp>
      <p:sp>
        <p:nvSpPr>
          <p:cNvPr id="25" name="Text 23"/>
          <p:cNvSpPr/>
          <p:nvPr/>
        </p:nvSpPr>
        <p:spPr>
          <a:xfrm>
            <a:off x="475488" y="3803904"/>
            <a:ext cx="2478024" cy="50292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Remote container monitoring via TCP Docker socket. Connect any cloud VM to the dashboard.</a:t>
            </a:r>
            <a:endParaRPr lang="en-US" sz="850" dirty="0"/>
          </a:p>
        </p:txBody>
      </p:sp>
      <p:sp>
        <p:nvSpPr>
          <p:cNvPr id="26" name="Shape 24"/>
          <p:cNvSpPr/>
          <p:nvPr/>
        </p:nvSpPr>
        <p:spPr>
          <a:xfrm>
            <a:off x="1024128" y="4334256"/>
            <a:ext cx="1380744" cy="182880"/>
          </a:xfrm>
          <a:prstGeom prst="roundRect">
            <a:avLst>
              <a:gd name="adj" fmla="val 25000"/>
            </a:avLst>
          </a:prstGeom>
          <a:solidFill>
            <a:srgbClr val="2E6DA4">
              <a:alpha val="35000"/>
            </a:srgbClr>
          </a:solidFill>
          <a:ln w="6350">
            <a:solidFill>
              <a:srgbClr val="2E6DA4"/>
            </a:solidFill>
            <a:prstDash val="solid"/>
          </a:ln>
        </p:spPr>
      </p:sp>
      <p:sp>
        <p:nvSpPr>
          <p:cNvPr id="27" name="Text 25"/>
          <p:cNvSpPr/>
          <p:nvPr/>
        </p:nvSpPr>
        <p:spPr>
          <a:xfrm>
            <a:off x="1024128" y="4334256"/>
            <a:ext cx="1380744" cy="182880"/>
          </a:xfrm>
          <a:prstGeom prst="rect">
            <a:avLst/>
          </a:prstGeom>
          <a:noFill/>
          <a:ln/>
        </p:spPr>
        <p:txBody>
          <a:bodyPr wrap="square" lIns="0" tIns="0" rIns="0" bIns="0" rtlCol="0" anchor="ctr"/>
          <a:lstStyle/>
          <a:p>
            <a:pPr marL="0" indent="0" algn="ctr">
              <a:buNone/>
            </a:pPr>
            <a:r>
              <a:rPr lang="en-US" sz="750" b="1" dirty="0">
                <a:solidFill>
                  <a:srgbClr val="1E3A5F"/>
                </a:solidFill>
              </a:rPr>
              <a:t>Advanced</a:t>
            </a:r>
            <a:endParaRPr lang="en-US" sz="750" dirty="0"/>
          </a:p>
        </p:txBody>
      </p:sp>
      <p:sp>
        <p:nvSpPr>
          <p:cNvPr id="28" name="Shape 26"/>
          <p:cNvSpPr/>
          <p:nvPr/>
        </p:nvSpPr>
        <p:spPr>
          <a:xfrm>
            <a:off x="3291840" y="2926080"/>
            <a:ext cx="2697480" cy="1664208"/>
          </a:xfrm>
          <a:prstGeom prst="roundRect">
            <a:avLst>
              <a:gd name="adj" fmla="val 6593"/>
            </a:avLst>
          </a:prstGeom>
          <a:solidFill>
            <a:srgbClr val="EEF2F7"/>
          </a:solidFill>
          <a:ln w="19050">
            <a:solidFill>
              <a:srgbClr val="A07840"/>
            </a:solidFill>
            <a:prstDash val="solid"/>
          </a:ln>
          <a:effectLst>
            <a:outerShdw blurRad="101600" dist="25400" dir="2700000" algn="bl" rotWithShape="0">
              <a:srgbClr val="1A2B3C">
                <a:alpha val="20000"/>
              </a:srgbClr>
            </a:outerShdw>
          </a:effectLst>
        </p:spPr>
      </p:sp>
      <p:sp>
        <p:nvSpPr>
          <p:cNvPr id="29" name="Text 27"/>
          <p:cNvSpPr/>
          <p:nvPr/>
        </p:nvSpPr>
        <p:spPr>
          <a:xfrm>
            <a:off x="3291840" y="3017520"/>
            <a:ext cx="2697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30" name="Text 28"/>
          <p:cNvSpPr/>
          <p:nvPr/>
        </p:nvSpPr>
        <p:spPr>
          <a:xfrm>
            <a:off x="3383280" y="3493008"/>
            <a:ext cx="2514600" cy="274320"/>
          </a:xfrm>
          <a:prstGeom prst="rect">
            <a:avLst/>
          </a:prstGeom>
          <a:noFill/>
          <a:ln/>
        </p:spPr>
        <p:txBody>
          <a:bodyPr wrap="square" rtlCol="0" anchor="ctr"/>
          <a:lstStyle/>
          <a:p>
            <a:pPr marL="0" indent="0" algn="ctr">
              <a:buNone/>
            </a:pPr>
            <a:r>
              <a:rPr lang="en-US" sz="1300" b="1" dirty="0">
                <a:solidFill>
                  <a:srgbClr val="A07840"/>
                </a:solidFill>
                <a:latin typeface="Calibri" pitchFamily="34" charset="0"/>
                <a:ea typeface="Calibri" pitchFamily="34" charset="-122"/>
                <a:cs typeface="Calibri" pitchFamily="34" charset="-120"/>
              </a:rPr>
              <a:t>Startups</a:t>
            </a:r>
            <a:endParaRPr lang="en-US" sz="1300" dirty="0"/>
          </a:p>
        </p:txBody>
      </p:sp>
      <p:sp>
        <p:nvSpPr>
          <p:cNvPr id="31" name="Text 29"/>
          <p:cNvSpPr/>
          <p:nvPr/>
        </p:nvSpPr>
        <p:spPr>
          <a:xfrm>
            <a:off x="3401568" y="3803904"/>
            <a:ext cx="2478024" cy="50292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Cost-effective DevOps tooling. No need to hire dedicated infrastructure engineers.</a:t>
            </a:r>
            <a:endParaRPr lang="en-US" sz="850" dirty="0"/>
          </a:p>
        </p:txBody>
      </p:sp>
      <p:sp>
        <p:nvSpPr>
          <p:cNvPr id="32" name="Shape 30"/>
          <p:cNvSpPr/>
          <p:nvPr/>
        </p:nvSpPr>
        <p:spPr>
          <a:xfrm>
            <a:off x="3950208" y="4334256"/>
            <a:ext cx="1380744" cy="182880"/>
          </a:xfrm>
          <a:prstGeom prst="roundRect">
            <a:avLst>
              <a:gd name="adj" fmla="val 25000"/>
            </a:avLst>
          </a:prstGeom>
          <a:solidFill>
            <a:srgbClr val="A07840">
              <a:alpha val="35000"/>
            </a:srgbClr>
          </a:solidFill>
          <a:ln w="6350">
            <a:solidFill>
              <a:srgbClr val="A07840"/>
            </a:solidFill>
            <a:prstDash val="solid"/>
          </a:ln>
        </p:spPr>
      </p:sp>
      <p:sp>
        <p:nvSpPr>
          <p:cNvPr id="33" name="Text 31"/>
          <p:cNvSpPr/>
          <p:nvPr/>
        </p:nvSpPr>
        <p:spPr>
          <a:xfrm>
            <a:off x="3950208" y="4334256"/>
            <a:ext cx="1380744" cy="182880"/>
          </a:xfrm>
          <a:prstGeom prst="rect">
            <a:avLst/>
          </a:prstGeom>
          <a:noFill/>
          <a:ln/>
        </p:spPr>
        <p:txBody>
          <a:bodyPr wrap="square" lIns="0" tIns="0" rIns="0" bIns="0" rtlCol="0" anchor="ctr"/>
          <a:lstStyle/>
          <a:p>
            <a:pPr marL="0" indent="0" algn="ctr">
              <a:buNone/>
            </a:pPr>
            <a:r>
              <a:rPr lang="en-US" sz="750" b="1" dirty="0">
                <a:solidFill>
                  <a:srgbClr val="1E3A5F"/>
                </a:solidFill>
              </a:rPr>
              <a:t>Business Value</a:t>
            </a:r>
            <a:endParaRPr lang="en-US" sz="750" dirty="0"/>
          </a:p>
        </p:txBody>
      </p:sp>
      <p:sp>
        <p:nvSpPr>
          <p:cNvPr id="34" name="Shape 32"/>
          <p:cNvSpPr/>
          <p:nvPr/>
        </p:nvSpPr>
        <p:spPr>
          <a:xfrm>
            <a:off x="6217920" y="2926080"/>
            <a:ext cx="2697480" cy="1664208"/>
          </a:xfrm>
          <a:prstGeom prst="roundRect">
            <a:avLst>
              <a:gd name="adj" fmla="val 6593"/>
            </a:avLst>
          </a:prstGeom>
          <a:solidFill>
            <a:srgbClr val="EEF2F7"/>
          </a:solidFill>
          <a:ln w="19050">
            <a:solidFill>
              <a:srgbClr val="8B6355"/>
            </a:solidFill>
            <a:prstDash val="solid"/>
          </a:ln>
          <a:effectLst>
            <a:outerShdw blurRad="101600" dist="25400" dir="2700000" algn="bl" rotWithShape="0">
              <a:srgbClr val="1A2B3C">
                <a:alpha val="20000"/>
              </a:srgbClr>
            </a:outerShdw>
          </a:effectLst>
        </p:spPr>
      </p:sp>
      <p:sp>
        <p:nvSpPr>
          <p:cNvPr id="35" name="Text 33"/>
          <p:cNvSpPr/>
          <p:nvPr/>
        </p:nvSpPr>
        <p:spPr>
          <a:xfrm>
            <a:off x="6217920" y="3017520"/>
            <a:ext cx="2697480" cy="457200"/>
          </a:xfrm>
          <a:prstGeom prst="rect">
            <a:avLst/>
          </a:prstGeom>
          <a:noFill/>
          <a:ln/>
        </p:spPr>
        <p:txBody>
          <a:bodyPr wrap="square" rtlCol="0" anchor="ctr"/>
          <a:lstStyle/>
          <a:p>
            <a:pPr marL="0" indent="0" algn="ctr">
              <a:buNone/>
            </a:pPr>
            <a:r>
              <a:rPr lang="en-US" sz="2200" dirty="0">
                <a:solidFill>
                  <a:srgbClr val="1A2B3C"/>
                </a:solidFill>
              </a:rPr>
              <a:t>🤖</a:t>
            </a:r>
            <a:endParaRPr lang="en-US" sz="2200" dirty="0"/>
          </a:p>
        </p:txBody>
      </p:sp>
      <p:sp>
        <p:nvSpPr>
          <p:cNvPr id="36" name="Text 34"/>
          <p:cNvSpPr/>
          <p:nvPr/>
        </p:nvSpPr>
        <p:spPr>
          <a:xfrm>
            <a:off x="6309360" y="3493008"/>
            <a:ext cx="2514600" cy="274320"/>
          </a:xfrm>
          <a:prstGeom prst="rect">
            <a:avLst/>
          </a:prstGeom>
          <a:noFill/>
          <a:ln/>
        </p:spPr>
        <p:txBody>
          <a:bodyPr wrap="square" rtlCol="0" anchor="ctr"/>
          <a:lstStyle/>
          <a:p>
            <a:pPr marL="0" indent="0" algn="ctr">
              <a:buNone/>
            </a:pPr>
            <a:r>
              <a:rPr lang="en-US" sz="1300" b="1" dirty="0">
                <a:solidFill>
                  <a:srgbClr val="8B6355"/>
                </a:solidFill>
                <a:latin typeface="Calibri" pitchFamily="34" charset="0"/>
                <a:ea typeface="Calibri" pitchFamily="34" charset="-122"/>
                <a:cs typeface="Calibri" pitchFamily="34" charset="-120"/>
              </a:rPr>
              <a:t>AI/ML Teams</a:t>
            </a:r>
            <a:endParaRPr lang="en-US" sz="1300" dirty="0"/>
          </a:p>
        </p:txBody>
      </p:sp>
      <p:sp>
        <p:nvSpPr>
          <p:cNvPr id="37" name="Text 35"/>
          <p:cNvSpPr/>
          <p:nvPr/>
        </p:nvSpPr>
        <p:spPr>
          <a:xfrm>
            <a:off x="6327648" y="3803904"/>
            <a:ext cx="2478024" cy="502920"/>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Deploy and monitor ML model serving containers without DevOps expertise.</a:t>
            </a:r>
            <a:endParaRPr lang="en-US" sz="850" dirty="0"/>
          </a:p>
        </p:txBody>
      </p:sp>
      <p:sp>
        <p:nvSpPr>
          <p:cNvPr id="38" name="Shape 36"/>
          <p:cNvSpPr/>
          <p:nvPr/>
        </p:nvSpPr>
        <p:spPr>
          <a:xfrm>
            <a:off x="6876288" y="4334256"/>
            <a:ext cx="1380744" cy="182880"/>
          </a:xfrm>
          <a:prstGeom prst="roundRect">
            <a:avLst>
              <a:gd name="adj" fmla="val 25000"/>
            </a:avLst>
          </a:prstGeom>
          <a:solidFill>
            <a:srgbClr val="8B6355">
              <a:alpha val="35000"/>
            </a:srgbClr>
          </a:solidFill>
          <a:ln w="6350">
            <a:solidFill>
              <a:srgbClr val="8B6355"/>
            </a:solidFill>
            <a:prstDash val="solid"/>
          </a:ln>
        </p:spPr>
      </p:sp>
      <p:sp>
        <p:nvSpPr>
          <p:cNvPr id="39" name="Text 37"/>
          <p:cNvSpPr/>
          <p:nvPr/>
        </p:nvSpPr>
        <p:spPr>
          <a:xfrm>
            <a:off x="6876288" y="4334256"/>
            <a:ext cx="1380744" cy="182880"/>
          </a:xfrm>
          <a:prstGeom prst="rect">
            <a:avLst/>
          </a:prstGeom>
          <a:noFill/>
          <a:ln/>
        </p:spPr>
        <p:txBody>
          <a:bodyPr wrap="square" lIns="0" tIns="0" rIns="0" bIns="0" rtlCol="0" anchor="ctr"/>
          <a:lstStyle/>
          <a:p>
            <a:pPr marL="0" indent="0" algn="ctr">
              <a:buNone/>
            </a:pPr>
            <a:r>
              <a:rPr lang="en-US" sz="750" b="1" dirty="0">
                <a:solidFill>
                  <a:srgbClr val="1E3A5F"/>
                </a:solidFill>
              </a:rPr>
              <a:t>Emerging Use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What Makes Us Unique?</a:t>
            </a:r>
            <a:endParaRPr lang="en-US" sz="2800" dirty="0"/>
          </a:p>
        </p:txBody>
      </p:sp>
      <p:sp>
        <p:nvSpPr>
          <p:cNvPr id="3" name="Text 1"/>
          <p:cNvSpPr/>
          <p:nvPr/>
        </p:nvSpPr>
        <p:spPr>
          <a:xfrm>
            <a:off x="457200" y="621792"/>
            <a:ext cx="8229600" cy="292608"/>
          </a:xfrm>
          <a:prstGeom prst="rect">
            <a:avLst/>
          </a:prstGeom>
          <a:noFill/>
          <a:ln/>
        </p:spPr>
        <p:txBody>
          <a:bodyPr wrap="square" rtlCol="0" anchor="ctr"/>
          <a:lstStyle/>
          <a:p>
            <a:pPr marL="0" indent="0">
              <a:buNone/>
            </a:pPr>
            <a:r>
              <a:rPr lang="en-US" sz="1200" dirty="0">
                <a:solidFill>
                  <a:srgbClr val="A07840"/>
                </a:solidFill>
                <a:latin typeface="Calibri" pitchFamily="34" charset="0"/>
                <a:ea typeface="Calibri" pitchFamily="34" charset="-122"/>
                <a:cs typeface="Calibri" pitchFamily="34" charset="-120"/>
              </a:rPr>
              <a:t>Unique Value Proposition — our competitive advantages</a:t>
            </a:r>
            <a:endParaRPr lang="en-US" sz="1200" dirty="0"/>
          </a:p>
        </p:txBody>
      </p:sp>
      <p:sp>
        <p:nvSpPr>
          <p:cNvPr id="4" name="Shape 2"/>
          <p:cNvSpPr/>
          <p:nvPr/>
        </p:nvSpPr>
        <p:spPr>
          <a:xfrm>
            <a:off x="365760" y="1005840"/>
            <a:ext cx="1691640" cy="411480"/>
          </a:xfrm>
          <a:prstGeom prst="rect">
            <a:avLst/>
          </a:prstGeom>
          <a:solidFill>
            <a:srgbClr val="EEF2F7"/>
          </a:solidFill>
          <a:ln w="6350">
            <a:solidFill>
              <a:srgbClr val="DDE6F0"/>
            </a:solidFill>
            <a:prstDash val="solid"/>
          </a:ln>
        </p:spPr>
      </p:sp>
      <p:sp>
        <p:nvSpPr>
          <p:cNvPr id="5" name="Text 3"/>
          <p:cNvSpPr/>
          <p:nvPr/>
        </p:nvSpPr>
        <p:spPr>
          <a:xfrm>
            <a:off x="365760" y="1005840"/>
            <a:ext cx="1691640" cy="411480"/>
          </a:xfrm>
          <a:prstGeom prst="rect">
            <a:avLst/>
          </a:prstGeom>
          <a:noFill/>
          <a:ln/>
        </p:spPr>
        <p:txBody>
          <a:bodyPr wrap="square" lIns="0" tIns="0" rIns="0" bIns="0" rtlCol="0" anchor="ctr"/>
          <a:lstStyle/>
          <a:p>
            <a:pPr marL="0" indent="0" algn="ctr">
              <a:buNone/>
            </a:pPr>
            <a:r>
              <a:rPr lang="en-US" sz="900" b="1" dirty="0">
                <a:solidFill>
                  <a:srgbClr val="7B8FA1"/>
                </a:solidFill>
                <a:latin typeface="Calibri" pitchFamily="34" charset="0"/>
                <a:ea typeface="Calibri" pitchFamily="34" charset="-122"/>
                <a:cs typeface="Calibri" pitchFamily="34" charset="-120"/>
              </a:rPr>
              <a:t>Feature</a:t>
            </a:r>
            <a:endParaRPr lang="en-US" sz="900" dirty="0"/>
          </a:p>
        </p:txBody>
      </p:sp>
      <p:sp>
        <p:nvSpPr>
          <p:cNvPr id="6" name="Shape 4"/>
          <p:cNvSpPr/>
          <p:nvPr/>
        </p:nvSpPr>
        <p:spPr>
          <a:xfrm>
            <a:off x="2057400" y="1005840"/>
            <a:ext cx="1691640" cy="411480"/>
          </a:xfrm>
          <a:prstGeom prst="rect">
            <a:avLst/>
          </a:prstGeom>
          <a:solidFill>
            <a:srgbClr val="5B6E7C"/>
          </a:solidFill>
          <a:ln w="6350">
            <a:solidFill>
              <a:srgbClr val="DDE6F0"/>
            </a:solidFill>
            <a:prstDash val="solid"/>
          </a:ln>
        </p:spPr>
      </p:sp>
      <p:sp>
        <p:nvSpPr>
          <p:cNvPr id="7" name="Text 5"/>
          <p:cNvSpPr/>
          <p:nvPr/>
        </p:nvSpPr>
        <p:spPr>
          <a:xfrm>
            <a:off x="2057400" y="1005840"/>
            <a:ext cx="1691640" cy="411480"/>
          </a:xfrm>
          <a:prstGeom prst="rect">
            <a:avLst/>
          </a:prstGeom>
          <a:noFill/>
          <a:ln/>
        </p:spPr>
        <p:txBody>
          <a:bodyPr wrap="square" lIns="0" tIns="0" rIns="0" bIns="0"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Our Dashboard</a:t>
            </a:r>
            <a:endParaRPr lang="en-US" sz="1000" dirty="0"/>
          </a:p>
        </p:txBody>
      </p:sp>
      <p:sp>
        <p:nvSpPr>
          <p:cNvPr id="8" name="Shape 6"/>
          <p:cNvSpPr/>
          <p:nvPr/>
        </p:nvSpPr>
        <p:spPr>
          <a:xfrm>
            <a:off x="3749040" y="1005840"/>
            <a:ext cx="1691640" cy="411480"/>
          </a:xfrm>
          <a:prstGeom prst="rect">
            <a:avLst/>
          </a:prstGeom>
          <a:solidFill>
            <a:srgbClr val="EEF2F7"/>
          </a:solidFill>
          <a:ln w="6350">
            <a:solidFill>
              <a:srgbClr val="DDE6F0"/>
            </a:solidFill>
            <a:prstDash val="solid"/>
          </a:ln>
        </p:spPr>
      </p:sp>
      <p:sp>
        <p:nvSpPr>
          <p:cNvPr id="9" name="Text 7"/>
          <p:cNvSpPr/>
          <p:nvPr/>
        </p:nvSpPr>
        <p:spPr>
          <a:xfrm>
            <a:off x="3749040" y="1005840"/>
            <a:ext cx="1691640" cy="411480"/>
          </a:xfrm>
          <a:prstGeom prst="rect">
            <a:avLst/>
          </a:prstGeom>
          <a:noFill/>
          <a:ln/>
        </p:spPr>
        <p:txBody>
          <a:bodyPr wrap="square" lIns="0" tIns="0" rIns="0" bIns="0" rtlCol="0" anchor="ctr"/>
          <a:lstStyle/>
          <a:p>
            <a:pPr marL="0" indent="0" algn="ctr">
              <a:buNone/>
            </a:pPr>
            <a:r>
              <a:rPr lang="en-US" sz="1000" b="1" dirty="0">
                <a:solidFill>
                  <a:srgbClr val="7B8FA1"/>
                </a:solidFill>
                <a:latin typeface="Calibri" pitchFamily="34" charset="0"/>
                <a:ea typeface="Calibri" pitchFamily="34" charset="-122"/>
                <a:cs typeface="Calibri" pitchFamily="34" charset="-120"/>
              </a:rPr>
              <a:t>Portainer</a:t>
            </a:r>
            <a:endParaRPr lang="en-US" sz="1000" dirty="0"/>
          </a:p>
        </p:txBody>
      </p:sp>
      <p:sp>
        <p:nvSpPr>
          <p:cNvPr id="10" name="Shape 8"/>
          <p:cNvSpPr/>
          <p:nvPr/>
        </p:nvSpPr>
        <p:spPr>
          <a:xfrm>
            <a:off x="5440680" y="1005840"/>
            <a:ext cx="1691640" cy="411480"/>
          </a:xfrm>
          <a:prstGeom prst="rect">
            <a:avLst/>
          </a:prstGeom>
          <a:solidFill>
            <a:srgbClr val="EEF2F7"/>
          </a:solidFill>
          <a:ln w="6350">
            <a:solidFill>
              <a:srgbClr val="DDE6F0"/>
            </a:solidFill>
            <a:prstDash val="solid"/>
          </a:ln>
        </p:spPr>
      </p:sp>
      <p:sp>
        <p:nvSpPr>
          <p:cNvPr id="11" name="Text 9"/>
          <p:cNvSpPr/>
          <p:nvPr/>
        </p:nvSpPr>
        <p:spPr>
          <a:xfrm>
            <a:off x="5440680" y="1005840"/>
            <a:ext cx="1691640" cy="411480"/>
          </a:xfrm>
          <a:prstGeom prst="rect">
            <a:avLst/>
          </a:prstGeom>
          <a:noFill/>
          <a:ln/>
        </p:spPr>
        <p:txBody>
          <a:bodyPr wrap="square" lIns="0" tIns="0" rIns="0" bIns="0" rtlCol="0" anchor="ctr"/>
          <a:lstStyle/>
          <a:p>
            <a:pPr marL="0" indent="0" algn="ctr">
              <a:buNone/>
            </a:pPr>
            <a:r>
              <a:rPr lang="en-US" sz="1000" b="1" dirty="0">
                <a:solidFill>
                  <a:srgbClr val="7B8FA1"/>
                </a:solidFill>
                <a:latin typeface="Calibri" pitchFamily="34" charset="0"/>
                <a:ea typeface="Calibri" pitchFamily="34" charset="-122"/>
                <a:cs typeface="Calibri" pitchFamily="34" charset="-120"/>
              </a:rPr>
              <a:t>Rancher</a:t>
            </a:r>
            <a:endParaRPr lang="en-US" sz="1000" dirty="0"/>
          </a:p>
        </p:txBody>
      </p:sp>
      <p:sp>
        <p:nvSpPr>
          <p:cNvPr id="12" name="Shape 10"/>
          <p:cNvSpPr/>
          <p:nvPr/>
        </p:nvSpPr>
        <p:spPr>
          <a:xfrm>
            <a:off x="7132320" y="1005840"/>
            <a:ext cx="1691640" cy="411480"/>
          </a:xfrm>
          <a:prstGeom prst="rect">
            <a:avLst/>
          </a:prstGeom>
          <a:solidFill>
            <a:srgbClr val="EEF2F7"/>
          </a:solidFill>
          <a:ln w="6350">
            <a:solidFill>
              <a:srgbClr val="DDE6F0"/>
            </a:solidFill>
            <a:prstDash val="solid"/>
          </a:ln>
        </p:spPr>
      </p:sp>
      <p:sp>
        <p:nvSpPr>
          <p:cNvPr id="13" name="Text 11"/>
          <p:cNvSpPr/>
          <p:nvPr/>
        </p:nvSpPr>
        <p:spPr>
          <a:xfrm>
            <a:off x="7132320" y="1005840"/>
            <a:ext cx="1691640" cy="411480"/>
          </a:xfrm>
          <a:prstGeom prst="rect">
            <a:avLst/>
          </a:prstGeom>
          <a:noFill/>
          <a:ln/>
        </p:spPr>
        <p:txBody>
          <a:bodyPr wrap="square" lIns="0" tIns="0" rIns="0" bIns="0" rtlCol="0" anchor="ctr"/>
          <a:lstStyle/>
          <a:p>
            <a:pPr marL="0" indent="0" algn="ctr">
              <a:buNone/>
            </a:pPr>
            <a:r>
              <a:rPr lang="en-US" sz="1000" b="1" dirty="0">
                <a:solidFill>
                  <a:srgbClr val="7B8FA1"/>
                </a:solidFill>
                <a:latin typeface="Calibri" pitchFamily="34" charset="0"/>
                <a:ea typeface="Calibri" pitchFamily="34" charset="-122"/>
                <a:cs typeface="Calibri" pitchFamily="34" charset="-120"/>
              </a:rPr>
              <a:t>Raw CLI</a:t>
            </a:r>
            <a:endParaRPr lang="en-US" sz="1000" dirty="0"/>
          </a:p>
        </p:txBody>
      </p:sp>
      <p:sp>
        <p:nvSpPr>
          <p:cNvPr id="14" name="Shape 12"/>
          <p:cNvSpPr/>
          <p:nvPr/>
        </p:nvSpPr>
        <p:spPr>
          <a:xfrm>
            <a:off x="365760" y="1444752"/>
            <a:ext cx="1691640" cy="402336"/>
          </a:xfrm>
          <a:prstGeom prst="rect">
            <a:avLst/>
          </a:prstGeom>
          <a:solidFill>
            <a:srgbClr val="EEF2F7"/>
          </a:solidFill>
          <a:ln w="6350">
            <a:solidFill>
              <a:srgbClr val="DDE6F0"/>
            </a:solidFill>
            <a:prstDash val="solid"/>
          </a:ln>
        </p:spPr>
      </p:sp>
      <p:sp>
        <p:nvSpPr>
          <p:cNvPr id="15" name="Text 13"/>
          <p:cNvSpPr/>
          <p:nvPr/>
        </p:nvSpPr>
        <p:spPr>
          <a:xfrm>
            <a:off x="365760" y="1444752"/>
            <a:ext cx="1691640" cy="402336"/>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Natural Language AI</a:t>
            </a:r>
            <a:endParaRPr lang="en-US" sz="900" dirty="0"/>
          </a:p>
        </p:txBody>
      </p:sp>
      <p:sp>
        <p:nvSpPr>
          <p:cNvPr id="16" name="Shape 14"/>
          <p:cNvSpPr/>
          <p:nvPr/>
        </p:nvSpPr>
        <p:spPr>
          <a:xfrm>
            <a:off x="2057400" y="1444752"/>
            <a:ext cx="1691640" cy="402336"/>
          </a:xfrm>
          <a:prstGeom prst="rect">
            <a:avLst/>
          </a:prstGeom>
          <a:solidFill>
            <a:srgbClr val="EEF2F7"/>
          </a:solidFill>
          <a:ln w="6350">
            <a:solidFill>
              <a:srgbClr val="DDE6F0"/>
            </a:solidFill>
            <a:prstDash val="solid"/>
          </a:ln>
        </p:spPr>
      </p:sp>
      <p:sp>
        <p:nvSpPr>
          <p:cNvPr id="17" name="Text 15"/>
          <p:cNvSpPr/>
          <p:nvPr/>
        </p:nvSpPr>
        <p:spPr>
          <a:xfrm>
            <a:off x="2057400" y="1444752"/>
            <a:ext cx="1691640" cy="402336"/>
          </a:xfrm>
          <a:prstGeom prst="rect">
            <a:avLst/>
          </a:prstGeom>
          <a:noFill/>
          <a:ln/>
        </p:spPr>
        <p:txBody>
          <a:bodyPr wrap="square" lIns="0" tIns="0" rIns="0" bIns="0" rtlCol="0" anchor="ctr"/>
          <a:lstStyle/>
          <a:p>
            <a:pPr marL="0" indent="0" algn="ctr">
              <a:buNone/>
            </a:pPr>
            <a:r>
              <a:rPr lang="en-US" sz="900" b="1" dirty="0">
                <a:solidFill>
                  <a:srgbClr val="3A7D8C"/>
                </a:solidFill>
                <a:latin typeface="Calibri" pitchFamily="34" charset="0"/>
                <a:ea typeface="Calibri" pitchFamily="34" charset="-122"/>
                <a:cs typeface="Calibri" pitchFamily="34" charset="-120"/>
              </a:rPr>
              <a:t>✅ Full NLP</a:t>
            </a:r>
            <a:endParaRPr lang="en-US" sz="900" dirty="0"/>
          </a:p>
        </p:txBody>
      </p:sp>
      <p:sp>
        <p:nvSpPr>
          <p:cNvPr id="18" name="Shape 16"/>
          <p:cNvSpPr/>
          <p:nvPr/>
        </p:nvSpPr>
        <p:spPr>
          <a:xfrm>
            <a:off x="3749040" y="1444752"/>
            <a:ext cx="1691640" cy="402336"/>
          </a:xfrm>
          <a:prstGeom prst="rect">
            <a:avLst/>
          </a:prstGeom>
          <a:solidFill>
            <a:srgbClr val="EEF2F7"/>
          </a:solidFill>
          <a:ln w="6350">
            <a:solidFill>
              <a:srgbClr val="DDE6F0"/>
            </a:solidFill>
            <a:prstDash val="solid"/>
          </a:ln>
        </p:spPr>
      </p:sp>
      <p:sp>
        <p:nvSpPr>
          <p:cNvPr id="19" name="Text 17"/>
          <p:cNvSpPr/>
          <p:nvPr/>
        </p:nvSpPr>
        <p:spPr>
          <a:xfrm>
            <a:off x="3749040" y="1444752"/>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None</a:t>
            </a:r>
            <a:endParaRPr lang="en-US" sz="900" dirty="0"/>
          </a:p>
        </p:txBody>
      </p:sp>
      <p:sp>
        <p:nvSpPr>
          <p:cNvPr id="20" name="Shape 18"/>
          <p:cNvSpPr/>
          <p:nvPr/>
        </p:nvSpPr>
        <p:spPr>
          <a:xfrm>
            <a:off x="5440680" y="1444752"/>
            <a:ext cx="1691640" cy="402336"/>
          </a:xfrm>
          <a:prstGeom prst="rect">
            <a:avLst/>
          </a:prstGeom>
          <a:solidFill>
            <a:srgbClr val="EEF2F7"/>
          </a:solidFill>
          <a:ln w="6350">
            <a:solidFill>
              <a:srgbClr val="DDE6F0"/>
            </a:solidFill>
            <a:prstDash val="solid"/>
          </a:ln>
        </p:spPr>
      </p:sp>
      <p:sp>
        <p:nvSpPr>
          <p:cNvPr id="21" name="Text 19"/>
          <p:cNvSpPr/>
          <p:nvPr/>
        </p:nvSpPr>
        <p:spPr>
          <a:xfrm>
            <a:off x="5440680" y="1444752"/>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None</a:t>
            </a:r>
            <a:endParaRPr lang="en-US" sz="900" dirty="0"/>
          </a:p>
        </p:txBody>
      </p:sp>
      <p:sp>
        <p:nvSpPr>
          <p:cNvPr id="22" name="Shape 20"/>
          <p:cNvSpPr/>
          <p:nvPr/>
        </p:nvSpPr>
        <p:spPr>
          <a:xfrm>
            <a:off x="7132320" y="1444752"/>
            <a:ext cx="1691640" cy="402336"/>
          </a:xfrm>
          <a:prstGeom prst="rect">
            <a:avLst/>
          </a:prstGeom>
          <a:solidFill>
            <a:srgbClr val="EEF2F7"/>
          </a:solidFill>
          <a:ln w="6350">
            <a:solidFill>
              <a:srgbClr val="DDE6F0"/>
            </a:solidFill>
            <a:prstDash val="solid"/>
          </a:ln>
        </p:spPr>
      </p:sp>
      <p:sp>
        <p:nvSpPr>
          <p:cNvPr id="23" name="Text 21"/>
          <p:cNvSpPr/>
          <p:nvPr/>
        </p:nvSpPr>
        <p:spPr>
          <a:xfrm>
            <a:off x="7132320" y="1444752"/>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None</a:t>
            </a:r>
            <a:endParaRPr lang="en-US" sz="900" dirty="0"/>
          </a:p>
        </p:txBody>
      </p:sp>
      <p:sp>
        <p:nvSpPr>
          <p:cNvPr id="24" name="Shape 22"/>
          <p:cNvSpPr/>
          <p:nvPr/>
        </p:nvSpPr>
        <p:spPr>
          <a:xfrm>
            <a:off x="365760" y="1874520"/>
            <a:ext cx="1691640" cy="402336"/>
          </a:xfrm>
          <a:prstGeom prst="rect">
            <a:avLst/>
          </a:prstGeom>
          <a:solidFill>
            <a:srgbClr val="F5F7FA"/>
          </a:solidFill>
          <a:ln w="6350">
            <a:solidFill>
              <a:srgbClr val="DDE6F0"/>
            </a:solidFill>
            <a:prstDash val="solid"/>
          </a:ln>
        </p:spPr>
      </p:sp>
      <p:sp>
        <p:nvSpPr>
          <p:cNvPr id="25" name="Text 23"/>
          <p:cNvSpPr/>
          <p:nvPr/>
        </p:nvSpPr>
        <p:spPr>
          <a:xfrm>
            <a:off x="365760" y="1874520"/>
            <a:ext cx="1691640" cy="402336"/>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Beginner Friendly</a:t>
            </a:r>
            <a:endParaRPr lang="en-US" sz="900" dirty="0"/>
          </a:p>
        </p:txBody>
      </p:sp>
      <p:sp>
        <p:nvSpPr>
          <p:cNvPr id="26" name="Shape 24"/>
          <p:cNvSpPr/>
          <p:nvPr/>
        </p:nvSpPr>
        <p:spPr>
          <a:xfrm>
            <a:off x="2057400" y="1874520"/>
            <a:ext cx="1691640" cy="402336"/>
          </a:xfrm>
          <a:prstGeom prst="rect">
            <a:avLst/>
          </a:prstGeom>
          <a:solidFill>
            <a:srgbClr val="EEF2F7"/>
          </a:solidFill>
          <a:ln w="6350">
            <a:solidFill>
              <a:srgbClr val="DDE6F0"/>
            </a:solidFill>
            <a:prstDash val="solid"/>
          </a:ln>
        </p:spPr>
      </p:sp>
      <p:sp>
        <p:nvSpPr>
          <p:cNvPr id="27" name="Text 25"/>
          <p:cNvSpPr/>
          <p:nvPr/>
        </p:nvSpPr>
        <p:spPr>
          <a:xfrm>
            <a:off x="2057400" y="1874520"/>
            <a:ext cx="1691640" cy="402336"/>
          </a:xfrm>
          <a:prstGeom prst="rect">
            <a:avLst/>
          </a:prstGeom>
          <a:noFill/>
          <a:ln/>
        </p:spPr>
        <p:txBody>
          <a:bodyPr wrap="square" lIns="0" tIns="0" rIns="0" bIns="0" rtlCol="0" anchor="ctr"/>
          <a:lstStyle/>
          <a:p>
            <a:pPr marL="0" indent="0" algn="ctr">
              <a:buNone/>
            </a:pPr>
            <a:r>
              <a:rPr lang="en-US" sz="900" b="1" dirty="0">
                <a:solidFill>
                  <a:srgbClr val="3A7D8C"/>
                </a:solidFill>
                <a:latin typeface="Calibri" pitchFamily="34" charset="0"/>
                <a:ea typeface="Calibri" pitchFamily="34" charset="-122"/>
                <a:cs typeface="Calibri" pitchFamily="34" charset="-120"/>
              </a:rPr>
              <a:t>✅ Any user</a:t>
            </a:r>
            <a:endParaRPr lang="en-US" sz="900" dirty="0"/>
          </a:p>
        </p:txBody>
      </p:sp>
      <p:sp>
        <p:nvSpPr>
          <p:cNvPr id="28" name="Shape 26"/>
          <p:cNvSpPr/>
          <p:nvPr/>
        </p:nvSpPr>
        <p:spPr>
          <a:xfrm>
            <a:off x="3749040" y="1874520"/>
            <a:ext cx="1691640" cy="402336"/>
          </a:xfrm>
          <a:prstGeom prst="rect">
            <a:avLst/>
          </a:prstGeom>
          <a:solidFill>
            <a:srgbClr val="F5F7FA"/>
          </a:solidFill>
          <a:ln w="6350">
            <a:solidFill>
              <a:srgbClr val="DDE6F0"/>
            </a:solidFill>
            <a:prstDash val="solid"/>
          </a:ln>
        </p:spPr>
      </p:sp>
      <p:sp>
        <p:nvSpPr>
          <p:cNvPr id="29" name="Text 27"/>
          <p:cNvSpPr/>
          <p:nvPr/>
        </p:nvSpPr>
        <p:spPr>
          <a:xfrm>
            <a:off x="3749040" y="1874520"/>
            <a:ext cx="1691640" cy="402336"/>
          </a:xfrm>
          <a:prstGeom prst="rect">
            <a:avLst/>
          </a:prstGeom>
          <a:noFill/>
          <a:ln/>
        </p:spPr>
        <p:txBody>
          <a:bodyPr wrap="square" lIns="0" tIns="0" rIns="0" bIns="0" rtlCol="0" anchor="ctr"/>
          <a:lstStyle/>
          <a:p>
            <a:pPr marL="0" indent="0" algn="ctr">
              <a:buNone/>
            </a:pPr>
            <a:r>
              <a:rPr lang="en-US" sz="900" dirty="0">
                <a:solidFill>
                  <a:srgbClr val="A07840"/>
                </a:solidFill>
                <a:latin typeface="Calibri" pitchFamily="34" charset="0"/>
                <a:ea typeface="Calibri" pitchFamily="34" charset="-122"/>
                <a:cs typeface="Calibri" pitchFamily="34" charset="-120"/>
              </a:rPr>
              <a:t>⚠️ Moderate</a:t>
            </a:r>
            <a:endParaRPr lang="en-US" sz="900" dirty="0"/>
          </a:p>
        </p:txBody>
      </p:sp>
      <p:sp>
        <p:nvSpPr>
          <p:cNvPr id="30" name="Shape 28"/>
          <p:cNvSpPr/>
          <p:nvPr/>
        </p:nvSpPr>
        <p:spPr>
          <a:xfrm>
            <a:off x="5440680" y="1874520"/>
            <a:ext cx="1691640" cy="402336"/>
          </a:xfrm>
          <a:prstGeom prst="rect">
            <a:avLst/>
          </a:prstGeom>
          <a:solidFill>
            <a:srgbClr val="F5F7FA"/>
          </a:solidFill>
          <a:ln w="6350">
            <a:solidFill>
              <a:srgbClr val="DDE6F0"/>
            </a:solidFill>
            <a:prstDash val="solid"/>
          </a:ln>
        </p:spPr>
      </p:sp>
      <p:sp>
        <p:nvSpPr>
          <p:cNvPr id="31" name="Text 29"/>
          <p:cNvSpPr/>
          <p:nvPr/>
        </p:nvSpPr>
        <p:spPr>
          <a:xfrm>
            <a:off x="5440680" y="1874520"/>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Complex</a:t>
            </a:r>
            <a:endParaRPr lang="en-US" sz="900" dirty="0"/>
          </a:p>
        </p:txBody>
      </p:sp>
      <p:sp>
        <p:nvSpPr>
          <p:cNvPr id="32" name="Shape 30"/>
          <p:cNvSpPr/>
          <p:nvPr/>
        </p:nvSpPr>
        <p:spPr>
          <a:xfrm>
            <a:off x="7132320" y="1874520"/>
            <a:ext cx="1691640" cy="402336"/>
          </a:xfrm>
          <a:prstGeom prst="rect">
            <a:avLst/>
          </a:prstGeom>
          <a:solidFill>
            <a:srgbClr val="F5F7FA"/>
          </a:solidFill>
          <a:ln w="6350">
            <a:solidFill>
              <a:srgbClr val="DDE6F0"/>
            </a:solidFill>
            <a:prstDash val="solid"/>
          </a:ln>
        </p:spPr>
      </p:sp>
      <p:sp>
        <p:nvSpPr>
          <p:cNvPr id="33" name="Text 31"/>
          <p:cNvSpPr/>
          <p:nvPr/>
        </p:nvSpPr>
        <p:spPr>
          <a:xfrm>
            <a:off x="7132320" y="1874520"/>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Expert only</a:t>
            </a:r>
            <a:endParaRPr lang="en-US" sz="900" dirty="0"/>
          </a:p>
        </p:txBody>
      </p:sp>
      <p:sp>
        <p:nvSpPr>
          <p:cNvPr id="34" name="Shape 32"/>
          <p:cNvSpPr/>
          <p:nvPr/>
        </p:nvSpPr>
        <p:spPr>
          <a:xfrm>
            <a:off x="365760" y="2304288"/>
            <a:ext cx="1691640" cy="402336"/>
          </a:xfrm>
          <a:prstGeom prst="rect">
            <a:avLst/>
          </a:prstGeom>
          <a:solidFill>
            <a:srgbClr val="EEF2F7"/>
          </a:solidFill>
          <a:ln w="6350">
            <a:solidFill>
              <a:srgbClr val="DDE6F0"/>
            </a:solidFill>
            <a:prstDash val="solid"/>
          </a:ln>
        </p:spPr>
      </p:sp>
      <p:sp>
        <p:nvSpPr>
          <p:cNvPr id="35" name="Text 33"/>
          <p:cNvSpPr/>
          <p:nvPr/>
        </p:nvSpPr>
        <p:spPr>
          <a:xfrm>
            <a:off x="365760" y="2304288"/>
            <a:ext cx="1691640" cy="402336"/>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Real-Time WebSocket</a:t>
            </a:r>
            <a:endParaRPr lang="en-US" sz="900" dirty="0"/>
          </a:p>
        </p:txBody>
      </p:sp>
      <p:sp>
        <p:nvSpPr>
          <p:cNvPr id="36" name="Shape 34"/>
          <p:cNvSpPr/>
          <p:nvPr/>
        </p:nvSpPr>
        <p:spPr>
          <a:xfrm>
            <a:off x="2057400" y="2304288"/>
            <a:ext cx="1691640" cy="402336"/>
          </a:xfrm>
          <a:prstGeom prst="rect">
            <a:avLst/>
          </a:prstGeom>
          <a:solidFill>
            <a:srgbClr val="EEF2F7"/>
          </a:solidFill>
          <a:ln w="6350">
            <a:solidFill>
              <a:srgbClr val="DDE6F0"/>
            </a:solidFill>
            <a:prstDash val="solid"/>
          </a:ln>
        </p:spPr>
      </p:sp>
      <p:sp>
        <p:nvSpPr>
          <p:cNvPr id="37" name="Text 35"/>
          <p:cNvSpPr/>
          <p:nvPr/>
        </p:nvSpPr>
        <p:spPr>
          <a:xfrm>
            <a:off x="2057400" y="2304288"/>
            <a:ext cx="1691640" cy="402336"/>
          </a:xfrm>
          <a:prstGeom prst="rect">
            <a:avLst/>
          </a:prstGeom>
          <a:noFill/>
          <a:ln/>
        </p:spPr>
        <p:txBody>
          <a:bodyPr wrap="square" lIns="0" tIns="0" rIns="0" bIns="0" rtlCol="0" anchor="ctr"/>
          <a:lstStyle/>
          <a:p>
            <a:pPr marL="0" indent="0" algn="ctr">
              <a:buNone/>
            </a:pPr>
            <a:r>
              <a:rPr lang="en-US" sz="900" b="1" dirty="0">
                <a:solidFill>
                  <a:srgbClr val="3A7D8C"/>
                </a:solidFill>
                <a:latin typeface="Calibri" pitchFamily="34" charset="0"/>
                <a:ea typeface="Calibri" pitchFamily="34" charset="-122"/>
                <a:cs typeface="Calibri" pitchFamily="34" charset="-120"/>
              </a:rPr>
              <a:t>✅ 3s refresh</a:t>
            </a:r>
            <a:endParaRPr lang="en-US" sz="900" dirty="0"/>
          </a:p>
        </p:txBody>
      </p:sp>
      <p:sp>
        <p:nvSpPr>
          <p:cNvPr id="38" name="Shape 36"/>
          <p:cNvSpPr/>
          <p:nvPr/>
        </p:nvSpPr>
        <p:spPr>
          <a:xfrm>
            <a:off x="3749040" y="2304288"/>
            <a:ext cx="1691640" cy="402336"/>
          </a:xfrm>
          <a:prstGeom prst="rect">
            <a:avLst/>
          </a:prstGeom>
          <a:solidFill>
            <a:srgbClr val="EEF2F7"/>
          </a:solidFill>
          <a:ln w="6350">
            <a:solidFill>
              <a:srgbClr val="DDE6F0"/>
            </a:solidFill>
            <a:prstDash val="solid"/>
          </a:ln>
        </p:spPr>
      </p:sp>
      <p:sp>
        <p:nvSpPr>
          <p:cNvPr id="39" name="Text 37"/>
          <p:cNvSpPr/>
          <p:nvPr/>
        </p:nvSpPr>
        <p:spPr>
          <a:xfrm>
            <a:off x="3749040" y="2304288"/>
            <a:ext cx="1691640" cy="402336"/>
          </a:xfrm>
          <a:prstGeom prst="rect">
            <a:avLst/>
          </a:prstGeom>
          <a:noFill/>
          <a:ln/>
        </p:spPr>
        <p:txBody>
          <a:bodyPr wrap="square" lIns="0" tIns="0" rIns="0" bIns="0" rtlCol="0" anchor="ctr"/>
          <a:lstStyle/>
          <a:p>
            <a:pPr marL="0" indent="0" algn="ctr">
              <a:buNone/>
            </a:pPr>
            <a:r>
              <a:rPr lang="en-US" sz="900" dirty="0">
                <a:solidFill>
                  <a:srgbClr val="3A7D8C"/>
                </a:solidFill>
                <a:latin typeface="Calibri" pitchFamily="34" charset="0"/>
                <a:ea typeface="Calibri" pitchFamily="34" charset="-122"/>
                <a:cs typeface="Calibri" pitchFamily="34" charset="-120"/>
              </a:rPr>
              <a:t>✅ Yes</a:t>
            </a:r>
            <a:endParaRPr lang="en-US" sz="900" dirty="0"/>
          </a:p>
        </p:txBody>
      </p:sp>
      <p:sp>
        <p:nvSpPr>
          <p:cNvPr id="40" name="Shape 38"/>
          <p:cNvSpPr/>
          <p:nvPr/>
        </p:nvSpPr>
        <p:spPr>
          <a:xfrm>
            <a:off x="5440680" y="2304288"/>
            <a:ext cx="1691640" cy="402336"/>
          </a:xfrm>
          <a:prstGeom prst="rect">
            <a:avLst/>
          </a:prstGeom>
          <a:solidFill>
            <a:srgbClr val="EEF2F7"/>
          </a:solidFill>
          <a:ln w="6350">
            <a:solidFill>
              <a:srgbClr val="DDE6F0"/>
            </a:solidFill>
            <a:prstDash val="solid"/>
          </a:ln>
        </p:spPr>
      </p:sp>
      <p:sp>
        <p:nvSpPr>
          <p:cNvPr id="41" name="Text 39"/>
          <p:cNvSpPr/>
          <p:nvPr/>
        </p:nvSpPr>
        <p:spPr>
          <a:xfrm>
            <a:off x="5440680" y="2304288"/>
            <a:ext cx="1691640" cy="402336"/>
          </a:xfrm>
          <a:prstGeom prst="rect">
            <a:avLst/>
          </a:prstGeom>
          <a:noFill/>
          <a:ln/>
        </p:spPr>
        <p:txBody>
          <a:bodyPr wrap="square" lIns="0" tIns="0" rIns="0" bIns="0" rtlCol="0" anchor="ctr"/>
          <a:lstStyle/>
          <a:p>
            <a:pPr marL="0" indent="0" algn="ctr">
              <a:buNone/>
            </a:pPr>
            <a:r>
              <a:rPr lang="en-US" sz="900" dirty="0">
                <a:solidFill>
                  <a:srgbClr val="3A7D8C"/>
                </a:solidFill>
                <a:latin typeface="Calibri" pitchFamily="34" charset="0"/>
                <a:ea typeface="Calibri" pitchFamily="34" charset="-122"/>
                <a:cs typeface="Calibri" pitchFamily="34" charset="-120"/>
              </a:rPr>
              <a:t>✅ Yes</a:t>
            </a:r>
            <a:endParaRPr lang="en-US" sz="900" dirty="0"/>
          </a:p>
        </p:txBody>
      </p:sp>
      <p:sp>
        <p:nvSpPr>
          <p:cNvPr id="42" name="Shape 40"/>
          <p:cNvSpPr/>
          <p:nvPr/>
        </p:nvSpPr>
        <p:spPr>
          <a:xfrm>
            <a:off x="7132320" y="2304288"/>
            <a:ext cx="1691640" cy="402336"/>
          </a:xfrm>
          <a:prstGeom prst="rect">
            <a:avLst/>
          </a:prstGeom>
          <a:solidFill>
            <a:srgbClr val="EEF2F7"/>
          </a:solidFill>
          <a:ln w="6350">
            <a:solidFill>
              <a:srgbClr val="DDE6F0"/>
            </a:solidFill>
            <a:prstDash val="solid"/>
          </a:ln>
        </p:spPr>
      </p:sp>
      <p:sp>
        <p:nvSpPr>
          <p:cNvPr id="43" name="Text 41"/>
          <p:cNvSpPr/>
          <p:nvPr/>
        </p:nvSpPr>
        <p:spPr>
          <a:xfrm>
            <a:off x="7132320" y="2304288"/>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Manual</a:t>
            </a:r>
            <a:endParaRPr lang="en-US" sz="900" dirty="0"/>
          </a:p>
        </p:txBody>
      </p:sp>
      <p:sp>
        <p:nvSpPr>
          <p:cNvPr id="44" name="Shape 42"/>
          <p:cNvSpPr/>
          <p:nvPr/>
        </p:nvSpPr>
        <p:spPr>
          <a:xfrm>
            <a:off x="365760" y="2734056"/>
            <a:ext cx="1691640" cy="402336"/>
          </a:xfrm>
          <a:prstGeom prst="rect">
            <a:avLst/>
          </a:prstGeom>
          <a:solidFill>
            <a:srgbClr val="F5F7FA"/>
          </a:solidFill>
          <a:ln w="6350">
            <a:solidFill>
              <a:srgbClr val="DDE6F0"/>
            </a:solidFill>
            <a:prstDash val="solid"/>
          </a:ln>
        </p:spPr>
      </p:sp>
      <p:sp>
        <p:nvSpPr>
          <p:cNvPr id="45" name="Text 43"/>
          <p:cNvSpPr/>
          <p:nvPr/>
        </p:nvSpPr>
        <p:spPr>
          <a:xfrm>
            <a:off x="365760" y="2734056"/>
            <a:ext cx="1691640" cy="402336"/>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Global Web Deploy</a:t>
            </a:r>
            <a:endParaRPr lang="en-US" sz="900" dirty="0"/>
          </a:p>
        </p:txBody>
      </p:sp>
      <p:sp>
        <p:nvSpPr>
          <p:cNvPr id="46" name="Shape 44"/>
          <p:cNvSpPr/>
          <p:nvPr/>
        </p:nvSpPr>
        <p:spPr>
          <a:xfrm>
            <a:off x="2057400" y="2734056"/>
            <a:ext cx="1691640" cy="402336"/>
          </a:xfrm>
          <a:prstGeom prst="rect">
            <a:avLst/>
          </a:prstGeom>
          <a:solidFill>
            <a:srgbClr val="EEF2F7"/>
          </a:solidFill>
          <a:ln w="6350">
            <a:solidFill>
              <a:srgbClr val="DDE6F0"/>
            </a:solidFill>
            <a:prstDash val="solid"/>
          </a:ln>
        </p:spPr>
      </p:sp>
      <p:sp>
        <p:nvSpPr>
          <p:cNvPr id="47" name="Text 45"/>
          <p:cNvSpPr/>
          <p:nvPr/>
        </p:nvSpPr>
        <p:spPr>
          <a:xfrm>
            <a:off x="2057400" y="2734056"/>
            <a:ext cx="1691640" cy="402336"/>
          </a:xfrm>
          <a:prstGeom prst="rect">
            <a:avLst/>
          </a:prstGeom>
          <a:noFill/>
          <a:ln/>
        </p:spPr>
        <p:txBody>
          <a:bodyPr wrap="square" lIns="0" tIns="0" rIns="0" bIns="0" rtlCol="0" anchor="ctr"/>
          <a:lstStyle/>
          <a:p>
            <a:pPr marL="0" indent="0" algn="ctr">
              <a:buNone/>
            </a:pPr>
            <a:r>
              <a:rPr lang="en-US" sz="900" b="1" dirty="0">
                <a:solidFill>
                  <a:srgbClr val="3A7D8C"/>
                </a:solidFill>
                <a:latin typeface="Calibri" pitchFamily="34" charset="0"/>
                <a:ea typeface="Calibri" pitchFamily="34" charset="-122"/>
                <a:cs typeface="Calibri" pitchFamily="34" charset="-120"/>
              </a:rPr>
              <a:t>✅ One click</a:t>
            </a:r>
            <a:endParaRPr lang="en-US" sz="900" dirty="0"/>
          </a:p>
        </p:txBody>
      </p:sp>
      <p:sp>
        <p:nvSpPr>
          <p:cNvPr id="48" name="Shape 46"/>
          <p:cNvSpPr/>
          <p:nvPr/>
        </p:nvSpPr>
        <p:spPr>
          <a:xfrm>
            <a:off x="3749040" y="2734056"/>
            <a:ext cx="1691640" cy="402336"/>
          </a:xfrm>
          <a:prstGeom prst="rect">
            <a:avLst/>
          </a:prstGeom>
          <a:solidFill>
            <a:srgbClr val="F5F7FA"/>
          </a:solidFill>
          <a:ln w="6350">
            <a:solidFill>
              <a:srgbClr val="DDE6F0"/>
            </a:solidFill>
            <a:prstDash val="solid"/>
          </a:ln>
        </p:spPr>
      </p:sp>
      <p:sp>
        <p:nvSpPr>
          <p:cNvPr id="49" name="Text 47"/>
          <p:cNvSpPr/>
          <p:nvPr/>
        </p:nvSpPr>
        <p:spPr>
          <a:xfrm>
            <a:off x="3749040" y="2734056"/>
            <a:ext cx="1691640" cy="402336"/>
          </a:xfrm>
          <a:prstGeom prst="rect">
            <a:avLst/>
          </a:prstGeom>
          <a:noFill/>
          <a:ln/>
        </p:spPr>
        <p:txBody>
          <a:bodyPr wrap="square" lIns="0" tIns="0" rIns="0" bIns="0" rtlCol="0" anchor="ctr"/>
          <a:lstStyle/>
          <a:p>
            <a:pPr marL="0" indent="0" algn="ctr">
              <a:buNone/>
            </a:pPr>
            <a:r>
              <a:rPr lang="en-US" sz="900" dirty="0">
                <a:solidFill>
                  <a:srgbClr val="A07840"/>
                </a:solidFill>
                <a:latin typeface="Calibri" pitchFamily="34" charset="0"/>
                <a:ea typeface="Calibri" pitchFamily="34" charset="-122"/>
                <a:cs typeface="Calibri" pitchFamily="34" charset="-120"/>
              </a:rPr>
              <a:t>⚠️ Self-host</a:t>
            </a:r>
            <a:endParaRPr lang="en-US" sz="900" dirty="0"/>
          </a:p>
        </p:txBody>
      </p:sp>
      <p:sp>
        <p:nvSpPr>
          <p:cNvPr id="50" name="Shape 48"/>
          <p:cNvSpPr/>
          <p:nvPr/>
        </p:nvSpPr>
        <p:spPr>
          <a:xfrm>
            <a:off x="5440680" y="2734056"/>
            <a:ext cx="1691640" cy="402336"/>
          </a:xfrm>
          <a:prstGeom prst="rect">
            <a:avLst/>
          </a:prstGeom>
          <a:solidFill>
            <a:srgbClr val="F5F7FA"/>
          </a:solidFill>
          <a:ln w="6350">
            <a:solidFill>
              <a:srgbClr val="DDE6F0"/>
            </a:solidFill>
            <a:prstDash val="solid"/>
          </a:ln>
        </p:spPr>
      </p:sp>
      <p:sp>
        <p:nvSpPr>
          <p:cNvPr id="51" name="Text 49"/>
          <p:cNvSpPr/>
          <p:nvPr/>
        </p:nvSpPr>
        <p:spPr>
          <a:xfrm>
            <a:off x="5440680" y="2734056"/>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Complex</a:t>
            </a:r>
            <a:endParaRPr lang="en-US" sz="900" dirty="0"/>
          </a:p>
        </p:txBody>
      </p:sp>
      <p:sp>
        <p:nvSpPr>
          <p:cNvPr id="52" name="Shape 50"/>
          <p:cNvSpPr/>
          <p:nvPr/>
        </p:nvSpPr>
        <p:spPr>
          <a:xfrm>
            <a:off x="7132320" y="2734056"/>
            <a:ext cx="1691640" cy="402336"/>
          </a:xfrm>
          <a:prstGeom prst="rect">
            <a:avLst/>
          </a:prstGeom>
          <a:solidFill>
            <a:srgbClr val="F5F7FA"/>
          </a:solidFill>
          <a:ln w="6350">
            <a:solidFill>
              <a:srgbClr val="DDE6F0"/>
            </a:solidFill>
            <a:prstDash val="solid"/>
          </a:ln>
        </p:spPr>
      </p:sp>
      <p:sp>
        <p:nvSpPr>
          <p:cNvPr id="53" name="Text 51"/>
          <p:cNvSpPr/>
          <p:nvPr/>
        </p:nvSpPr>
        <p:spPr>
          <a:xfrm>
            <a:off x="7132320" y="2734056"/>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N/A</a:t>
            </a:r>
            <a:endParaRPr lang="en-US" sz="900" dirty="0"/>
          </a:p>
        </p:txBody>
      </p:sp>
      <p:sp>
        <p:nvSpPr>
          <p:cNvPr id="54" name="Shape 52"/>
          <p:cNvSpPr/>
          <p:nvPr/>
        </p:nvSpPr>
        <p:spPr>
          <a:xfrm>
            <a:off x="365760" y="3163824"/>
            <a:ext cx="1691640" cy="402336"/>
          </a:xfrm>
          <a:prstGeom prst="rect">
            <a:avLst/>
          </a:prstGeom>
          <a:solidFill>
            <a:srgbClr val="EEF2F7"/>
          </a:solidFill>
          <a:ln w="6350">
            <a:solidFill>
              <a:srgbClr val="DDE6F0"/>
            </a:solidFill>
            <a:prstDash val="solid"/>
          </a:ln>
        </p:spPr>
      </p:sp>
      <p:sp>
        <p:nvSpPr>
          <p:cNvPr id="55" name="Text 53"/>
          <p:cNvSpPr/>
          <p:nvPr/>
        </p:nvSpPr>
        <p:spPr>
          <a:xfrm>
            <a:off x="365760" y="3163824"/>
            <a:ext cx="1691640" cy="402336"/>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Cost</a:t>
            </a:r>
            <a:endParaRPr lang="en-US" sz="900" dirty="0"/>
          </a:p>
        </p:txBody>
      </p:sp>
      <p:sp>
        <p:nvSpPr>
          <p:cNvPr id="56" name="Shape 54"/>
          <p:cNvSpPr/>
          <p:nvPr/>
        </p:nvSpPr>
        <p:spPr>
          <a:xfrm>
            <a:off x="2057400" y="3163824"/>
            <a:ext cx="1691640" cy="402336"/>
          </a:xfrm>
          <a:prstGeom prst="rect">
            <a:avLst/>
          </a:prstGeom>
          <a:solidFill>
            <a:srgbClr val="EEF2F7"/>
          </a:solidFill>
          <a:ln w="6350">
            <a:solidFill>
              <a:srgbClr val="DDE6F0"/>
            </a:solidFill>
            <a:prstDash val="solid"/>
          </a:ln>
        </p:spPr>
      </p:sp>
      <p:sp>
        <p:nvSpPr>
          <p:cNvPr id="57" name="Text 55"/>
          <p:cNvSpPr/>
          <p:nvPr/>
        </p:nvSpPr>
        <p:spPr>
          <a:xfrm>
            <a:off x="2057400" y="3163824"/>
            <a:ext cx="1691640" cy="402336"/>
          </a:xfrm>
          <a:prstGeom prst="rect">
            <a:avLst/>
          </a:prstGeom>
          <a:noFill/>
          <a:ln/>
        </p:spPr>
        <p:txBody>
          <a:bodyPr wrap="square" lIns="0" tIns="0" rIns="0" bIns="0" rtlCol="0" anchor="ctr"/>
          <a:lstStyle/>
          <a:p>
            <a:pPr marL="0" indent="0" algn="ctr">
              <a:buNone/>
            </a:pPr>
            <a:r>
              <a:rPr lang="en-US" sz="900" b="1" dirty="0">
                <a:solidFill>
                  <a:srgbClr val="3A7D8C"/>
                </a:solidFill>
                <a:latin typeface="Calibri" pitchFamily="34" charset="0"/>
                <a:ea typeface="Calibri" pitchFamily="34" charset="-122"/>
                <a:cs typeface="Calibri" pitchFamily="34" charset="-120"/>
              </a:rPr>
              <a:t>✅ Free</a:t>
            </a:r>
            <a:endParaRPr lang="en-US" sz="900" dirty="0"/>
          </a:p>
        </p:txBody>
      </p:sp>
      <p:sp>
        <p:nvSpPr>
          <p:cNvPr id="58" name="Shape 56"/>
          <p:cNvSpPr/>
          <p:nvPr/>
        </p:nvSpPr>
        <p:spPr>
          <a:xfrm>
            <a:off x="3749040" y="3163824"/>
            <a:ext cx="1691640" cy="402336"/>
          </a:xfrm>
          <a:prstGeom prst="rect">
            <a:avLst/>
          </a:prstGeom>
          <a:solidFill>
            <a:srgbClr val="EEF2F7"/>
          </a:solidFill>
          <a:ln w="6350">
            <a:solidFill>
              <a:srgbClr val="DDE6F0"/>
            </a:solidFill>
            <a:prstDash val="solid"/>
          </a:ln>
        </p:spPr>
      </p:sp>
      <p:sp>
        <p:nvSpPr>
          <p:cNvPr id="59" name="Text 57"/>
          <p:cNvSpPr/>
          <p:nvPr/>
        </p:nvSpPr>
        <p:spPr>
          <a:xfrm>
            <a:off x="3749040" y="3163824"/>
            <a:ext cx="1691640" cy="402336"/>
          </a:xfrm>
          <a:prstGeom prst="rect">
            <a:avLst/>
          </a:prstGeom>
          <a:noFill/>
          <a:ln/>
        </p:spPr>
        <p:txBody>
          <a:bodyPr wrap="square" lIns="0" tIns="0" rIns="0" bIns="0" rtlCol="0" anchor="ctr"/>
          <a:lstStyle/>
          <a:p>
            <a:pPr marL="0" indent="0" algn="ctr">
              <a:buNone/>
            </a:pPr>
            <a:r>
              <a:rPr lang="en-US" sz="900" dirty="0">
                <a:solidFill>
                  <a:srgbClr val="A07840"/>
                </a:solidFill>
                <a:latin typeface="Calibri" pitchFamily="34" charset="0"/>
                <a:ea typeface="Calibri" pitchFamily="34" charset="-122"/>
                <a:cs typeface="Calibri" pitchFamily="34" charset="-120"/>
              </a:rPr>
              <a:t>⚠️ Freemium</a:t>
            </a:r>
            <a:endParaRPr lang="en-US" sz="900" dirty="0"/>
          </a:p>
        </p:txBody>
      </p:sp>
      <p:sp>
        <p:nvSpPr>
          <p:cNvPr id="60" name="Shape 58"/>
          <p:cNvSpPr/>
          <p:nvPr/>
        </p:nvSpPr>
        <p:spPr>
          <a:xfrm>
            <a:off x="5440680" y="3163824"/>
            <a:ext cx="1691640" cy="402336"/>
          </a:xfrm>
          <a:prstGeom prst="rect">
            <a:avLst/>
          </a:prstGeom>
          <a:solidFill>
            <a:srgbClr val="EEF2F7"/>
          </a:solidFill>
          <a:ln w="6350">
            <a:solidFill>
              <a:srgbClr val="DDE6F0"/>
            </a:solidFill>
            <a:prstDash val="solid"/>
          </a:ln>
        </p:spPr>
      </p:sp>
      <p:sp>
        <p:nvSpPr>
          <p:cNvPr id="61" name="Text 59"/>
          <p:cNvSpPr/>
          <p:nvPr/>
        </p:nvSpPr>
        <p:spPr>
          <a:xfrm>
            <a:off x="5440680" y="3163824"/>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Enterprise</a:t>
            </a:r>
            <a:endParaRPr lang="en-US" sz="900" dirty="0"/>
          </a:p>
        </p:txBody>
      </p:sp>
      <p:sp>
        <p:nvSpPr>
          <p:cNvPr id="62" name="Shape 60"/>
          <p:cNvSpPr/>
          <p:nvPr/>
        </p:nvSpPr>
        <p:spPr>
          <a:xfrm>
            <a:off x="7132320" y="3163824"/>
            <a:ext cx="1691640" cy="402336"/>
          </a:xfrm>
          <a:prstGeom prst="rect">
            <a:avLst/>
          </a:prstGeom>
          <a:solidFill>
            <a:srgbClr val="EEF2F7"/>
          </a:solidFill>
          <a:ln w="6350">
            <a:solidFill>
              <a:srgbClr val="DDE6F0"/>
            </a:solidFill>
            <a:prstDash val="solid"/>
          </a:ln>
        </p:spPr>
      </p:sp>
      <p:sp>
        <p:nvSpPr>
          <p:cNvPr id="63" name="Text 61"/>
          <p:cNvSpPr/>
          <p:nvPr/>
        </p:nvSpPr>
        <p:spPr>
          <a:xfrm>
            <a:off x="7132320" y="3163824"/>
            <a:ext cx="1691640" cy="402336"/>
          </a:xfrm>
          <a:prstGeom prst="rect">
            <a:avLst/>
          </a:prstGeom>
          <a:noFill/>
          <a:ln/>
        </p:spPr>
        <p:txBody>
          <a:bodyPr wrap="square" lIns="0" tIns="0" rIns="0" bIns="0" rtlCol="0" anchor="ctr"/>
          <a:lstStyle/>
          <a:p>
            <a:pPr marL="0" indent="0" algn="ctr">
              <a:buNone/>
            </a:pPr>
            <a:r>
              <a:rPr lang="en-US" sz="900" dirty="0">
                <a:solidFill>
                  <a:srgbClr val="3A7D8C"/>
                </a:solidFill>
                <a:latin typeface="Calibri" pitchFamily="34" charset="0"/>
                <a:ea typeface="Calibri" pitchFamily="34" charset="-122"/>
                <a:cs typeface="Calibri" pitchFamily="34" charset="-120"/>
              </a:rPr>
              <a:t>✅ Free</a:t>
            </a:r>
            <a:endParaRPr lang="en-US" sz="900" dirty="0"/>
          </a:p>
        </p:txBody>
      </p:sp>
      <p:sp>
        <p:nvSpPr>
          <p:cNvPr id="64" name="Shape 62"/>
          <p:cNvSpPr/>
          <p:nvPr/>
        </p:nvSpPr>
        <p:spPr>
          <a:xfrm>
            <a:off x="365760" y="3593592"/>
            <a:ext cx="1691640" cy="402336"/>
          </a:xfrm>
          <a:prstGeom prst="rect">
            <a:avLst/>
          </a:prstGeom>
          <a:solidFill>
            <a:srgbClr val="F5F7FA"/>
          </a:solidFill>
          <a:ln w="6350">
            <a:solidFill>
              <a:srgbClr val="DDE6F0"/>
            </a:solidFill>
            <a:prstDash val="solid"/>
          </a:ln>
        </p:spPr>
      </p:sp>
      <p:sp>
        <p:nvSpPr>
          <p:cNvPr id="65" name="Text 63"/>
          <p:cNvSpPr/>
          <p:nvPr/>
        </p:nvSpPr>
        <p:spPr>
          <a:xfrm>
            <a:off x="365760" y="3593592"/>
            <a:ext cx="1691640" cy="402336"/>
          </a:xfrm>
          <a:prstGeom prst="rect">
            <a:avLst/>
          </a:prstGeom>
          <a:noFill/>
          <a:ln/>
        </p:spPr>
        <p:txBody>
          <a:bodyPr wrap="square" lIns="0" tIns="0" rIns="0" bIns="0"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AI Diagnostics</a:t>
            </a:r>
            <a:endParaRPr lang="en-US" sz="900" dirty="0"/>
          </a:p>
        </p:txBody>
      </p:sp>
      <p:sp>
        <p:nvSpPr>
          <p:cNvPr id="66" name="Shape 64"/>
          <p:cNvSpPr/>
          <p:nvPr/>
        </p:nvSpPr>
        <p:spPr>
          <a:xfrm>
            <a:off x="2057400" y="3593592"/>
            <a:ext cx="1691640" cy="402336"/>
          </a:xfrm>
          <a:prstGeom prst="rect">
            <a:avLst/>
          </a:prstGeom>
          <a:solidFill>
            <a:srgbClr val="EEF2F7"/>
          </a:solidFill>
          <a:ln w="6350">
            <a:solidFill>
              <a:srgbClr val="DDE6F0"/>
            </a:solidFill>
            <a:prstDash val="solid"/>
          </a:ln>
        </p:spPr>
      </p:sp>
      <p:sp>
        <p:nvSpPr>
          <p:cNvPr id="67" name="Text 65"/>
          <p:cNvSpPr/>
          <p:nvPr/>
        </p:nvSpPr>
        <p:spPr>
          <a:xfrm>
            <a:off x="2057400" y="3593592"/>
            <a:ext cx="1691640" cy="402336"/>
          </a:xfrm>
          <a:prstGeom prst="rect">
            <a:avLst/>
          </a:prstGeom>
          <a:noFill/>
          <a:ln/>
        </p:spPr>
        <p:txBody>
          <a:bodyPr wrap="square" lIns="0" tIns="0" rIns="0" bIns="0" rtlCol="0" anchor="ctr"/>
          <a:lstStyle/>
          <a:p>
            <a:pPr marL="0" indent="0" algn="ctr">
              <a:buNone/>
            </a:pPr>
            <a:r>
              <a:rPr lang="en-US" sz="900" b="1" dirty="0">
                <a:solidFill>
                  <a:srgbClr val="3A7D8C"/>
                </a:solidFill>
                <a:latin typeface="Calibri" pitchFamily="34" charset="0"/>
                <a:ea typeface="Calibri" pitchFamily="34" charset="-122"/>
                <a:cs typeface="Calibri" pitchFamily="34" charset="-120"/>
              </a:rPr>
              <a:t>✅ Auto report</a:t>
            </a:r>
            <a:endParaRPr lang="en-US" sz="900" dirty="0"/>
          </a:p>
        </p:txBody>
      </p:sp>
      <p:sp>
        <p:nvSpPr>
          <p:cNvPr id="68" name="Shape 66"/>
          <p:cNvSpPr/>
          <p:nvPr/>
        </p:nvSpPr>
        <p:spPr>
          <a:xfrm>
            <a:off x="3749040" y="3593592"/>
            <a:ext cx="1691640" cy="402336"/>
          </a:xfrm>
          <a:prstGeom prst="rect">
            <a:avLst/>
          </a:prstGeom>
          <a:solidFill>
            <a:srgbClr val="F5F7FA"/>
          </a:solidFill>
          <a:ln w="6350">
            <a:solidFill>
              <a:srgbClr val="DDE6F0"/>
            </a:solidFill>
            <a:prstDash val="solid"/>
          </a:ln>
        </p:spPr>
      </p:sp>
      <p:sp>
        <p:nvSpPr>
          <p:cNvPr id="69" name="Text 67"/>
          <p:cNvSpPr/>
          <p:nvPr/>
        </p:nvSpPr>
        <p:spPr>
          <a:xfrm>
            <a:off x="3749040" y="3593592"/>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None</a:t>
            </a:r>
            <a:endParaRPr lang="en-US" sz="900" dirty="0"/>
          </a:p>
        </p:txBody>
      </p:sp>
      <p:sp>
        <p:nvSpPr>
          <p:cNvPr id="70" name="Shape 68"/>
          <p:cNvSpPr/>
          <p:nvPr/>
        </p:nvSpPr>
        <p:spPr>
          <a:xfrm>
            <a:off x="5440680" y="3593592"/>
            <a:ext cx="1691640" cy="402336"/>
          </a:xfrm>
          <a:prstGeom prst="rect">
            <a:avLst/>
          </a:prstGeom>
          <a:solidFill>
            <a:srgbClr val="F5F7FA"/>
          </a:solidFill>
          <a:ln w="6350">
            <a:solidFill>
              <a:srgbClr val="DDE6F0"/>
            </a:solidFill>
            <a:prstDash val="solid"/>
          </a:ln>
        </p:spPr>
      </p:sp>
      <p:sp>
        <p:nvSpPr>
          <p:cNvPr id="71" name="Text 69"/>
          <p:cNvSpPr/>
          <p:nvPr/>
        </p:nvSpPr>
        <p:spPr>
          <a:xfrm>
            <a:off x="5440680" y="3593592"/>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None</a:t>
            </a:r>
            <a:endParaRPr lang="en-US" sz="900" dirty="0"/>
          </a:p>
        </p:txBody>
      </p:sp>
      <p:sp>
        <p:nvSpPr>
          <p:cNvPr id="72" name="Shape 70"/>
          <p:cNvSpPr/>
          <p:nvPr/>
        </p:nvSpPr>
        <p:spPr>
          <a:xfrm>
            <a:off x="7132320" y="3593592"/>
            <a:ext cx="1691640" cy="402336"/>
          </a:xfrm>
          <a:prstGeom prst="rect">
            <a:avLst/>
          </a:prstGeom>
          <a:solidFill>
            <a:srgbClr val="F5F7FA"/>
          </a:solidFill>
          <a:ln w="6350">
            <a:solidFill>
              <a:srgbClr val="DDE6F0"/>
            </a:solidFill>
            <a:prstDash val="solid"/>
          </a:ln>
        </p:spPr>
      </p:sp>
      <p:sp>
        <p:nvSpPr>
          <p:cNvPr id="73" name="Text 71"/>
          <p:cNvSpPr/>
          <p:nvPr/>
        </p:nvSpPr>
        <p:spPr>
          <a:xfrm>
            <a:off x="7132320" y="3593592"/>
            <a:ext cx="1691640" cy="402336"/>
          </a:xfrm>
          <a:prstGeom prst="rect">
            <a:avLst/>
          </a:prstGeom>
          <a:noFill/>
          <a:ln/>
        </p:spPr>
        <p:txBody>
          <a:bodyPr wrap="square" lIns="0" tIns="0" rIns="0" bIns="0" rtlCol="0" anchor="ctr"/>
          <a:lstStyle/>
          <a:p>
            <a:pPr marL="0" indent="0" algn="ctr">
              <a:buNone/>
            </a:pPr>
            <a:r>
              <a:rPr lang="en-US" sz="900" dirty="0">
                <a:solidFill>
                  <a:srgbClr val="9B3A3A"/>
                </a:solidFill>
                <a:latin typeface="Calibri" pitchFamily="34" charset="0"/>
                <a:ea typeface="Calibri" pitchFamily="34" charset="-122"/>
                <a:cs typeface="Calibri" pitchFamily="34" charset="-120"/>
              </a:rPr>
              <a:t>❌ None</a:t>
            </a:r>
            <a:endParaRPr lang="en-US" sz="900" dirty="0"/>
          </a:p>
        </p:txBody>
      </p:sp>
      <p:sp>
        <p:nvSpPr>
          <p:cNvPr id="74" name="Shape 72"/>
          <p:cNvSpPr/>
          <p:nvPr/>
        </p:nvSpPr>
        <p:spPr>
          <a:xfrm>
            <a:off x="365760" y="4315968"/>
            <a:ext cx="1965960" cy="594360"/>
          </a:xfrm>
          <a:prstGeom prst="roundRect">
            <a:avLst>
              <a:gd name="adj" fmla="val 15385"/>
            </a:avLst>
          </a:prstGeom>
          <a:solidFill>
            <a:srgbClr val="5B6E7C">
              <a:alpha val="20000"/>
            </a:srgbClr>
          </a:solidFill>
          <a:ln w="12700">
            <a:solidFill>
              <a:srgbClr val="5B6E7C"/>
            </a:solidFill>
            <a:prstDash val="solid"/>
          </a:ln>
        </p:spPr>
      </p:sp>
      <p:sp>
        <p:nvSpPr>
          <p:cNvPr id="75" name="Text 73"/>
          <p:cNvSpPr/>
          <p:nvPr/>
        </p:nvSpPr>
        <p:spPr>
          <a:xfrm>
            <a:off x="365760" y="4315968"/>
            <a:ext cx="1965960" cy="594360"/>
          </a:xfrm>
          <a:prstGeom prst="rect">
            <a:avLst/>
          </a:prstGeom>
          <a:noFill/>
          <a:ln/>
        </p:spPr>
        <p:txBody>
          <a:bodyPr wrap="square" rtlCol="0" anchor="ctr"/>
          <a:lstStyle/>
          <a:p>
            <a:pPr marL="0" indent="0" algn="ctr">
              <a:buNone/>
            </a:pPr>
            <a:r>
              <a:rPr lang="en-US" sz="950" b="1" dirty="0">
                <a:solidFill>
                  <a:srgbClr val="1E3A5F"/>
                </a:solidFill>
                <a:latin typeface="Calibri" pitchFamily="34" charset="0"/>
                <a:ea typeface="Calibri" pitchFamily="34" charset="-122"/>
                <a:cs typeface="Calibri" pitchFamily="34" charset="-120"/>
              </a:rPr>
              <a:t>🧠 Only AI-first Docker dashboard</a:t>
            </a:r>
            <a:endParaRPr lang="en-US" sz="950" dirty="0"/>
          </a:p>
        </p:txBody>
      </p:sp>
      <p:sp>
        <p:nvSpPr>
          <p:cNvPr id="76" name="Shape 74"/>
          <p:cNvSpPr/>
          <p:nvPr/>
        </p:nvSpPr>
        <p:spPr>
          <a:xfrm>
            <a:off x="2514600" y="4315968"/>
            <a:ext cx="1965960" cy="594360"/>
          </a:xfrm>
          <a:prstGeom prst="roundRect">
            <a:avLst>
              <a:gd name="adj" fmla="val 15385"/>
            </a:avLst>
          </a:prstGeom>
          <a:solidFill>
            <a:srgbClr val="5B6E7C">
              <a:alpha val="20000"/>
            </a:srgbClr>
          </a:solidFill>
          <a:ln w="12700">
            <a:solidFill>
              <a:srgbClr val="5B6E7C"/>
            </a:solidFill>
            <a:prstDash val="solid"/>
          </a:ln>
        </p:spPr>
      </p:sp>
      <p:sp>
        <p:nvSpPr>
          <p:cNvPr id="77" name="Text 75"/>
          <p:cNvSpPr/>
          <p:nvPr/>
        </p:nvSpPr>
        <p:spPr>
          <a:xfrm>
            <a:off x="2514600" y="4315968"/>
            <a:ext cx="1965960" cy="594360"/>
          </a:xfrm>
          <a:prstGeom prst="rect">
            <a:avLst/>
          </a:prstGeom>
          <a:noFill/>
          <a:ln/>
        </p:spPr>
        <p:txBody>
          <a:bodyPr wrap="square" rtlCol="0" anchor="ctr"/>
          <a:lstStyle/>
          <a:p>
            <a:pPr marL="0" indent="0" algn="ctr">
              <a:buNone/>
            </a:pPr>
            <a:r>
              <a:rPr lang="en-US" sz="950" b="1" dirty="0">
                <a:solidFill>
                  <a:srgbClr val="1E3A5F"/>
                </a:solidFill>
                <a:latin typeface="Calibri" pitchFamily="34" charset="0"/>
                <a:ea typeface="Calibri" pitchFamily="34" charset="-122"/>
                <a:cs typeface="Calibri" pitchFamily="34" charset="-120"/>
              </a:rPr>
              <a:t>🌐 Live global deployment</a:t>
            </a:r>
            <a:endParaRPr lang="en-US" sz="950" dirty="0"/>
          </a:p>
        </p:txBody>
      </p:sp>
      <p:sp>
        <p:nvSpPr>
          <p:cNvPr id="78" name="Shape 76"/>
          <p:cNvSpPr/>
          <p:nvPr/>
        </p:nvSpPr>
        <p:spPr>
          <a:xfrm>
            <a:off x="4663440" y="4315968"/>
            <a:ext cx="1965960" cy="594360"/>
          </a:xfrm>
          <a:prstGeom prst="roundRect">
            <a:avLst>
              <a:gd name="adj" fmla="val 15385"/>
            </a:avLst>
          </a:prstGeom>
          <a:solidFill>
            <a:srgbClr val="5B6E7C">
              <a:alpha val="20000"/>
            </a:srgbClr>
          </a:solidFill>
          <a:ln w="12700">
            <a:solidFill>
              <a:srgbClr val="5B6E7C"/>
            </a:solidFill>
            <a:prstDash val="solid"/>
          </a:ln>
        </p:spPr>
      </p:sp>
      <p:sp>
        <p:nvSpPr>
          <p:cNvPr id="79" name="Text 77"/>
          <p:cNvSpPr/>
          <p:nvPr/>
        </p:nvSpPr>
        <p:spPr>
          <a:xfrm>
            <a:off x="4663440" y="4315968"/>
            <a:ext cx="1965960" cy="594360"/>
          </a:xfrm>
          <a:prstGeom prst="rect">
            <a:avLst/>
          </a:prstGeom>
          <a:noFill/>
          <a:ln/>
        </p:spPr>
        <p:txBody>
          <a:bodyPr wrap="square" rtlCol="0" anchor="ctr"/>
          <a:lstStyle/>
          <a:p>
            <a:pPr marL="0" indent="0" algn="ctr">
              <a:buNone/>
            </a:pPr>
            <a:r>
              <a:rPr lang="en-US" sz="950" b="1" dirty="0">
                <a:solidFill>
                  <a:srgbClr val="1E3A5F"/>
                </a:solidFill>
                <a:latin typeface="Calibri" pitchFamily="34" charset="0"/>
                <a:ea typeface="Calibri" pitchFamily="34" charset="-122"/>
                <a:cs typeface="Calibri" pitchFamily="34" charset="-120"/>
              </a:rPr>
              <a:t>⚡ 2-second response time</a:t>
            </a:r>
            <a:endParaRPr lang="en-US" sz="950" dirty="0"/>
          </a:p>
        </p:txBody>
      </p:sp>
      <p:sp>
        <p:nvSpPr>
          <p:cNvPr id="80" name="Shape 78"/>
          <p:cNvSpPr/>
          <p:nvPr/>
        </p:nvSpPr>
        <p:spPr>
          <a:xfrm>
            <a:off x="6812280" y="4315968"/>
            <a:ext cx="1965960" cy="594360"/>
          </a:xfrm>
          <a:prstGeom prst="roundRect">
            <a:avLst>
              <a:gd name="adj" fmla="val 15385"/>
            </a:avLst>
          </a:prstGeom>
          <a:solidFill>
            <a:srgbClr val="5B6E7C">
              <a:alpha val="20000"/>
            </a:srgbClr>
          </a:solidFill>
          <a:ln w="12700">
            <a:solidFill>
              <a:srgbClr val="5B6E7C"/>
            </a:solidFill>
            <a:prstDash val="solid"/>
          </a:ln>
        </p:spPr>
      </p:sp>
      <p:sp>
        <p:nvSpPr>
          <p:cNvPr id="81" name="Text 79"/>
          <p:cNvSpPr/>
          <p:nvPr/>
        </p:nvSpPr>
        <p:spPr>
          <a:xfrm>
            <a:off x="6812280" y="4315968"/>
            <a:ext cx="1965960" cy="594360"/>
          </a:xfrm>
          <a:prstGeom prst="rect">
            <a:avLst/>
          </a:prstGeom>
          <a:noFill/>
          <a:ln/>
        </p:spPr>
        <p:txBody>
          <a:bodyPr wrap="square" rtlCol="0" anchor="ctr"/>
          <a:lstStyle/>
          <a:p>
            <a:pPr marL="0" indent="0" algn="ctr">
              <a:buNone/>
            </a:pPr>
            <a:r>
              <a:rPr lang="en-US" sz="950" b="1" dirty="0">
                <a:solidFill>
                  <a:srgbClr val="1E3A5F"/>
                </a:solidFill>
                <a:latin typeface="Calibri" pitchFamily="34" charset="0"/>
                <a:ea typeface="Calibri" pitchFamily="34" charset="-122"/>
                <a:cs typeface="Calibri" pitchFamily="34" charset="-120"/>
              </a:rPr>
              <a:t>📋 One-command device connect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Challenges &amp; Solutions</a:t>
            </a:r>
            <a:endParaRPr lang="en-US" sz="2800" dirty="0"/>
          </a:p>
        </p:txBody>
      </p:sp>
      <p:sp>
        <p:nvSpPr>
          <p:cNvPr id="3" name="Text 1"/>
          <p:cNvSpPr/>
          <p:nvPr/>
        </p:nvSpPr>
        <p:spPr>
          <a:xfrm>
            <a:off x="457200" y="621792"/>
            <a:ext cx="8229600" cy="292608"/>
          </a:xfrm>
          <a:prstGeom prst="rect">
            <a:avLst/>
          </a:prstGeom>
          <a:noFill/>
          <a:ln/>
        </p:spPr>
        <p:txBody>
          <a:bodyPr wrap="square" rtlCol="0" anchor="ctr"/>
          <a:lstStyle/>
          <a:p>
            <a:pPr marL="0" indent="0">
              <a:buNone/>
            </a:pPr>
            <a:r>
              <a:rPr lang="en-US" sz="1200" dirty="0">
                <a:solidFill>
                  <a:srgbClr val="9B3A3A"/>
                </a:solidFill>
                <a:latin typeface="Calibri" pitchFamily="34" charset="0"/>
                <a:ea typeface="Calibri" pitchFamily="34" charset="-122"/>
                <a:cs typeface="Calibri" pitchFamily="34" charset="-120"/>
              </a:rPr>
              <a:t>Real technical problems we solved during development</a:t>
            </a:r>
            <a:endParaRPr lang="en-US" sz="1200" dirty="0"/>
          </a:p>
        </p:txBody>
      </p:sp>
      <p:sp>
        <p:nvSpPr>
          <p:cNvPr id="4" name="Shape 2"/>
          <p:cNvSpPr/>
          <p:nvPr/>
        </p:nvSpPr>
        <p:spPr>
          <a:xfrm>
            <a:off x="365760" y="1005840"/>
            <a:ext cx="8412480" cy="713232"/>
          </a:xfrm>
          <a:prstGeom prst="roundRect">
            <a:avLst>
              <a:gd name="adj" fmla="val 12821"/>
            </a:avLst>
          </a:prstGeom>
          <a:solidFill>
            <a:srgbClr val="EEF2F7"/>
          </a:solidFill>
          <a:ln w="12700">
            <a:solidFill>
              <a:srgbClr val="2E6DA4"/>
            </a:solidFill>
            <a:prstDash val="solid"/>
          </a:ln>
        </p:spPr>
      </p:sp>
      <p:sp>
        <p:nvSpPr>
          <p:cNvPr id="5" name="Shape 3"/>
          <p:cNvSpPr/>
          <p:nvPr/>
        </p:nvSpPr>
        <p:spPr>
          <a:xfrm>
            <a:off x="457200" y="1078992"/>
            <a:ext cx="594360" cy="256032"/>
          </a:xfrm>
          <a:prstGeom prst="roundRect">
            <a:avLst>
              <a:gd name="adj" fmla="val 21429"/>
            </a:avLst>
          </a:prstGeom>
          <a:solidFill>
            <a:srgbClr val="9B3A3A">
              <a:alpha val="80000"/>
            </a:srgbClr>
          </a:solidFill>
          <a:ln w="6350">
            <a:solidFill>
              <a:srgbClr val="9B3A3A"/>
            </a:solidFill>
            <a:prstDash val="solid"/>
          </a:ln>
        </p:spPr>
      </p:sp>
      <p:sp>
        <p:nvSpPr>
          <p:cNvPr id="6" name="Text 4"/>
          <p:cNvSpPr/>
          <p:nvPr/>
        </p:nvSpPr>
        <p:spPr>
          <a:xfrm>
            <a:off x="457200" y="1078992"/>
            <a:ext cx="594360" cy="256032"/>
          </a:xfrm>
          <a:prstGeom prst="rect">
            <a:avLst/>
          </a:prstGeom>
          <a:noFill/>
          <a:ln/>
        </p:spPr>
        <p:txBody>
          <a:bodyPr wrap="square" lIns="0" tIns="0" rIns="0" bIns="0" rtlCol="0" anchor="ctr"/>
          <a:lstStyle/>
          <a:p>
            <a:pPr marL="0" indent="0" algn="ctr">
              <a:buNone/>
            </a:pPr>
            <a:r>
              <a:rPr lang="en-US" sz="750" b="1" dirty="0">
                <a:solidFill>
                  <a:srgbClr val="9B3A3A"/>
                </a:solidFill>
              </a:rPr>
              <a:t>BUG</a:t>
            </a:r>
            <a:endParaRPr lang="en-US" sz="750" dirty="0"/>
          </a:p>
        </p:txBody>
      </p:sp>
      <p:sp>
        <p:nvSpPr>
          <p:cNvPr id="7" name="Text 5"/>
          <p:cNvSpPr/>
          <p:nvPr/>
        </p:nvSpPr>
        <p:spPr>
          <a:xfrm>
            <a:off x="1115568" y="1060704"/>
            <a:ext cx="2286000" cy="274320"/>
          </a:xfrm>
          <a:prstGeom prst="rect">
            <a:avLst/>
          </a:prstGeom>
          <a:noFill/>
          <a:ln/>
        </p:spPr>
        <p:txBody>
          <a:bodyPr wrap="square" rtlCol="0" anchor="ctr"/>
          <a:lstStyle/>
          <a:p>
            <a:pPr marL="0" indent="0">
              <a:buNone/>
            </a:pPr>
            <a:r>
              <a:rPr lang="en-US" sz="1100" b="1" dirty="0">
                <a:solidFill>
                  <a:srgbClr val="2E6DA4"/>
                </a:solidFill>
                <a:latin typeface="Calibri" pitchFamily="34" charset="0"/>
                <a:ea typeface="Calibri" pitchFamily="34" charset="-122"/>
                <a:cs typeface="Calibri" pitchFamily="34" charset="-120"/>
              </a:rPr>
              <a:t>Docker Log Parsing</a:t>
            </a:r>
            <a:endParaRPr lang="en-US" sz="1100" dirty="0"/>
          </a:p>
        </p:txBody>
      </p:sp>
      <p:sp>
        <p:nvSpPr>
          <p:cNvPr id="8" name="Text 6"/>
          <p:cNvSpPr/>
          <p:nvPr/>
        </p:nvSpPr>
        <p:spPr>
          <a:xfrm>
            <a:off x="1115568" y="1353312"/>
            <a:ext cx="3200400" cy="292608"/>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Docker uses a multiplexed binary stream format for logs with 8-byte headers that mix stdout and stderr</a:t>
            </a:r>
            <a:endParaRPr lang="en-US" sz="850" dirty="0"/>
          </a:p>
        </p:txBody>
      </p:sp>
      <p:sp>
        <p:nvSpPr>
          <p:cNvPr id="9" name="Shape 7"/>
          <p:cNvSpPr/>
          <p:nvPr/>
        </p:nvSpPr>
        <p:spPr>
          <a:xfrm>
            <a:off x="4526280" y="1078992"/>
            <a:ext cx="548640" cy="256032"/>
          </a:xfrm>
          <a:prstGeom prst="roundRect">
            <a:avLst>
              <a:gd name="adj" fmla="val 21429"/>
            </a:avLst>
          </a:prstGeom>
          <a:solidFill>
            <a:srgbClr val="3A7D8C">
              <a:alpha val="80000"/>
            </a:srgbClr>
          </a:solidFill>
          <a:ln w="6350">
            <a:solidFill>
              <a:srgbClr val="3A7D8C"/>
            </a:solidFill>
            <a:prstDash val="solid"/>
          </a:ln>
        </p:spPr>
      </p:sp>
      <p:sp>
        <p:nvSpPr>
          <p:cNvPr id="10" name="Text 8"/>
          <p:cNvSpPr/>
          <p:nvPr/>
        </p:nvSpPr>
        <p:spPr>
          <a:xfrm>
            <a:off x="4526280" y="1078992"/>
            <a:ext cx="548640" cy="256032"/>
          </a:xfrm>
          <a:prstGeom prst="rect">
            <a:avLst/>
          </a:prstGeom>
          <a:noFill/>
          <a:ln/>
        </p:spPr>
        <p:txBody>
          <a:bodyPr wrap="square" lIns="0" tIns="0" rIns="0" bIns="0" rtlCol="0" anchor="ctr"/>
          <a:lstStyle/>
          <a:p>
            <a:pPr marL="0" indent="0" algn="ctr">
              <a:buNone/>
            </a:pPr>
            <a:r>
              <a:rPr lang="en-US" sz="750" b="1" dirty="0">
                <a:solidFill>
                  <a:srgbClr val="3A7D8C"/>
                </a:solidFill>
              </a:rPr>
              <a:t>FIX</a:t>
            </a:r>
            <a:endParaRPr lang="en-US" sz="750" dirty="0"/>
          </a:p>
        </p:txBody>
      </p:sp>
      <p:sp>
        <p:nvSpPr>
          <p:cNvPr id="11" name="Text 9"/>
          <p:cNvSpPr/>
          <p:nvPr/>
        </p:nvSpPr>
        <p:spPr>
          <a:xfrm>
            <a:off x="5138928" y="1060704"/>
            <a:ext cx="3493008" cy="548640"/>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Built custom parseRawLogs() function to decode multiplexed byte streams and extract clean text lines</a:t>
            </a:r>
            <a:endParaRPr lang="en-US" sz="850" dirty="0"/>
          </a:p>
        </p:txBody>
      </p:sp>
      <p:sp>
        <p:nvSpPr>
          <p:cNvPr id="12" name="Shape 10"/>
          <p:cNvSpPr/>
          <p:nvPr/>
        </p:nvSpPr>
        <p:spPr>
          <a:xfrm>
            <a:off x="365760" y="1810512"/>
            <a:ext cx="8412480" cy="713232"/>
          </a:xfrm>
          <a:prstGeom prst="roundRect">
            <a:avLst>
              <a:gd name="adj" fmla="val 12821"/>
            </a:avLst>
          </a:prstGeom>
          <a:solidFill>
            <a:srgbClr val="EEF2F7"/>
          </a:solidFill>
          <a:ln w="12700">
            <a:solidFill>
              <a:srgbClr val="5B6E7C"/>
            </a:solidFill>
            <a:prstDash val="solid"/>
          </a:ln>
        </p:spPr>
      </p:sp>
      <p:sp>
        <p:nvSpPr>
          <p:cNvPr id="13" name="Shape 11"/>
          <p:cNvSpPr/>
          <p:nvPr/>
        </p:nvSpPr>
        <p:spPr>
          <a:xfrm>
            <a:off x="457200" y="1883664"/>
            <a:ext cx="594360" cy="256032"/>
          </a:xfrm>
          <a:prstGeom prst="roundRect">
            <a:avLst>
              <a:gd name="adj" fmla="val 21429"/>
            </a:avLst>
          </a:prstGeom>
          <a:solidFill>
            <a:srgbClr val="9B3A3A">
              <a:alpha val="80000"/>
            </a:srgbClr>
          </a:solidFill>
          <a:ln w="6350">
            <a:solidFill>
              <a:srgbClr val="9B3A3A"/>
            </a:solidFill>
            <a:prstDash val="solid"/>
          </a:ln>
        </p:spPr>
      </p:sp>
      <p:sp>
        <p:nvSpPr>
          <p:cNvPr id="14" name="Text 12"/>
          <p:cNvSpPr/>
          <p:nvPr/>
        </p:nvSpPr>
        <p:spPr>
          <a:xfrm>
            <a:off x="457200" y="1883664"/>
            <a:ext cx="594360" cy="256032"/>
          </a:xfrm>
          <a:prstGeom prst="rect">
            <a:avLst/>
          </a:prstGeom>
          <a:noFill/>
          <a:ln/>
        </p:spPr>
        <p:txBody>
          <a:bodyPr wrap="square" lIns="0" tIns="0" rIns="0" bIns="0" rtlCol="0" anchor="ctr"/>
          <a:lstStyle/>
          <a:p>
            <a:pPr marL="0" indent="0" algn="ctr">
              <a:buNone/>
            </a:pPr>
            <a:r>
              <a:rPr lang="en-US" sz="750" b="1" dirty="0">
                <a:solidFill>
                  <a:srgbClr val="9B3A3A"/>
                </a:solidFill>
              </a:rPr>
              <a:t>BUG</a:t>
            </a:r>
            <a:endParaRPr lang="en-US" sz="750" dirty="0"/>
          </a:p>
        </p:txBody>
      </p:sp>
      <p:sp>
        <p:nvSpPr>
          <p:cNvPr id="15" name="Text 13"/>
          <p:cNvSpPr/>
          <p:nvPr/>
        </p:nvSpPr>
        <p:spPr>
          <a:xfrm>
            <a:off x="1115568" y="1865376"/>
            <a:ext cx="2286000" cy="274320"/>
          </a:xfrm>
          <a:prstGeom prst="rect">
            <a:avLst/>
          </a:prstGeom>
          <a:noFill/>
          <a:ln/>
        </p:spPr>
        <p:txBody>
          <a:bodyPr wrap="square" rtlCol="0" anchor="ctr"/>
          <a:lstStyle/>
          <a:p>
            <a:pPr marL="0" indent="0">
              <a:buNone/>
            </a:pPr>
            <a:r>
              <a:rPr lang="en-US" sz="1100" b="1" dirty="0">
                <a:solidFill>
                  <a:srgbClr val="5B6E7C"/>
                </a:solidFill>
                <a:latin typeface="Calibri" pitchFamily="34" charset="0"/>
                <a:ea typeface="Calibri" pitchFamily="34" charset="-122"/>
                <a:cs typeface="Calibri" pitchFamily="34" charset="-120"/>
              </a:rPr>
              <a:t>AI Intent Detection Accuracy</a:t>
            </a:r>
            <a:endParaRPr lang="en-US" sz="1100" dirty="0"/>
          </a:p>
        </p:txBody>
      </p:sp>
      <p:sp>
        <p:nvSpPr>
          <p:cNvPr id="16" name="Text 14"/>
          <p:cNvSpPr/>
          <p:nvPr/>
        </p:nvSpPr>
        <p:spPr>
          <a:xfrm>
            <a:off x="1115568" y="2157984"/>
            <a:ext cx="3200400" cy="292608"/>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LLMs sometimes return inconsistent JSON, fail to identify the right Docker action, or add markdown wrapping</a:t>
            </a:r>
            <a:endParaRPr lang="en-US" sz="850" dirty="0"/>
          </a:p>
        </p:txBody>
      </p:sp>
      <p:sp>
        <p:nvSpPr>
          <p:cNvPr id="17" name="Shape 15"/>
          <p:cNvSpPr/>
          <p:nvPr/>
        </p:nvSpPr>
        <p:spPr>
          <a:xfrm>
            <a:off x="4526280" y="1883664"/>
            <a:ext cx="548640" cy="256032"/>
          </a:xfrm>
          <a:prstGeom prst="roundRect">
            <a:avLst>
              <a:gd name="adj" fmla="val 21429"/>
            </a:avLst>
          </a:prstGeom>
          <a:solidFill>
            <a:srgbClr val="3A7D8C">
              <a:alpha val="80000"/>
            </a:srgbClr>
          </a:solidFill>
          <a:ln w="6350">
            <a:solidFill>
              <a:srgbClr val="3A7D8C"/>
            </a:solidFill>
            <a:prstDash val="solid"/>
          </a:ln>
        </p:spPr>
      </p:sp>
      <p:sp>
        <p:nvSpPr>
          <p:cNvPr id="18" name="Text 16"/>
          <p:cNvSpPr/>
          <p:nvPr/>
        </p:nvSpPr>
        <p:spPr>
          <a:xfrm>
            <a:off x="4526280" y="1883664"/>
            <a:ext cx="548640" cy="256032"/>
          </a:xfrm>
          <a:prstGeom prst="rect">
            <a:avLst/>
          </a:prstGeom>
          <a:noFill/>
          <a:ln/>
        </p:spPr>
        <p:txBody>
          <a:bodyPr wrap="square" lIns="0" tIns="0" rIns="0" bIns="0" rtlCol="0" anchor="ctr"/>
          <a:lstStyle/>
          <a:p>
            <a:pPr marL="0" indent="0" algn="ctr">
              <a:buNone/>
            </a:pPr>
            <a:r>
              <a:rPr lang="en-US" sz="750" b="1" dirty="0">
                <a:solidFill>
                  <a:srgbClr val="3A7D8C"/>
                </a:solidFill>
              </a:rPr>
              <a:t>FIX</a:t>
            </a:r>
            <a:endParaRPr lang="en-US" sz="750" dirty="0"/>
          </a:p>
        </p:txBody>
      </p:sp>
      <p:sp>
        <p:nvSpPr>
          <p:cNvPr id="19" name="Text 17"/>
          <p:cNvSpPr/>
          <p:nvPr/>
        </p:nvSpPr>
        <p:spPr>
          <a:xfrm>
            <a:off x="5138928" y="1865376"/>
            <a:ext cx="3493008" cy="548640"/>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Built cleanOllamaResponse() with regex stripping + fallback rule-based translate() for 100% uptime guarantee</a:t>
            </a:r>
            <a:endParaRPr lang="en-US" sz="850" dirty="0"/>
          </a:p>
        </p:txBody>
      </p:sp>
      <p:sp>
        <p:nvSpPr>
          <p:cNvPr id="20" name="Shape 18"/>
          <p:cNvSpPr/>
          <p:nvPr/>
        </p:nvSpPr>
        <p:spPr>
          <a:xfrm>
            <a:off x="365760" y="2615184"/>
            <a:ext cx="8412480" cy="713232"/>
          </a:xfrm>
          <a:prstGeom prst="roundRect">
            <a:avLst>
              <a:gd name="adj" fmla="val 12821"/>
            </a:avLst>
          </a:prstGeom>
          <a:solidFill>
            <a:srgbClr val="EEF2F7"/>
          </a:solidFill>
          <a:ln w="12700">
            <a:solidFill>
              <a:srgbClr val="3A7D8C"/>
            </a:solidFill>
            <a:prstDash val="solid"/>
          </a:ln>
        </p:spPr>
      </p:sp>
      <p:sp>
        <p:nvSpPr>
          <p:cNvPr id="21" name="Shape 19"/>
          <p:cNvSpPr/>
          <p:nvPr/>
        </p:nvSpPr>
        <p:spPr>
          <a:xfrm>
            <a:off x="457200" y="2688336"/>
            <a:ext cx="594360" cy="256032"/>
          </a:xfrm>
          <a:prstGeom prst="roundRect">
            <a:avLst>
              <a:gd name="adj" fmla="val 21429"/>
            </a:avLst>
          </a:prstGeom>
          <a:solidFill>
            <a:srgbClr val="9B3A3A">
              <a:alpha val="80000"/>
            </a:srgbClr>
          </a:solidFill>
          <a:ln w="6350">
            <a:solidFill>
              <a:srgbClr val="9B3A3A"/>
            </a:solidFill>
            <a:prstDash val="solid"/>
          </a:ln>
        </p:spPr>
      </p:sp>
      <p:sp>
        <p:nvSpPr>
          <p:cNvPr id="22" name="Text 20"/>
          <p:cNvSpPr/>
          <p:nvPr/>
        </p:nvSpPr>
        <p:spPr>
          <a:xfrm>
            <a:off x="457200" y="2688336"/>
            <a:ext cx="594360" cy="256032"/>
          </a:xfrm>
          <a:prstGeom prst="rect">
            <a:avLst/>
          </a:prstGeom>
          <a:noFill/>
          <a:ln/>
        </p:spPr>
        <p:txBody>
          <a:bodyPr wrap="square" lIns="0" tIns="0" rIns="0" bIns="0" rtlCol="0" anchor="ctr"/>
          <a:lstStyle/>
          <a:p>
            <a:pPr marL="0" indent="0" algn="ctr">
              <a:buNone/>
            </a:pPr>
            <a:r>
              <a:rPr lang="en-US" sz="750" b="1" dirty="0">
                <a:solidFill>
                  <a:srgbClr val="9B3A3A"/>
                </a:solidFill>
              </a:rPr>
              <a:t>BUG</a:t>
            </a:r>
            <a:endParaRPr lang="en-US" sz="750" dirty="0"/>
          </a:p>
        </p:txBody>
      </p:sp>
      <p:sp>
        <p:nvSpPr>
          <p:cNvPr id="23" name="Text 21"/>
          <p:cNvSpPr/>
          <p:nvPr/>
        </p:nvSpPr>
        <p:spPr>
          <a:xfrm>
            <a:off x="1115568" y="2670048"/>
            <a:ext cx="2286000" cy="274320"/>
          </a:xfrm>
          <a:prstGeom prst="rect">
            <a:avLst/>
          </a:prstGeom>
          <a:noFill/>
          <a:ln/>
        </p:spPr>
        <p:txBody>
          <a:bodyPr wrap="square" rtlCol="0" anchor="ctr"/>
          <a:lstStyle/>
          <a:p>
            <a:pPr marL="0" indent="0">
              <a:buNone/>
            </a:pPr>
            <a:r>
              <a:rPr lang="en-US" sz="1100" b="1" dirty="0">
                <a:solidFill>
                  <a:srgbClr val="3A7D8C"/>
                </a:solidFill>
                <a:latin typeface="Calibri" pitchFamily="34" charset="0"/>
                <a:ea typeface="Calibri" pitchFamily="34" charset="-122"/>
                <a:cs typeface="Calibri" pitchFamily="34" charset="-120"/>
              </a:rPr>
              <a:t>Real-Time State Sync</a:t>
            </a:r>
            <a:endParaRPr lang="en-US" sz="1100" dirty="0"/>
          </a:p>
        </p:txBody>
      </p:sp>
      <p:sp>
        <p:nvSpPr>
          <p:cNvPr id="24" name="Text 22"/>
          <p:cNvSpPr/>
          <p:nvPr/>
        </p:nvSpPr>
        <p:spPr>
          <a:xfrm>
            <a:off x="1115568" y="2962656"/>
            <a:ext cx="3200400" cy="292608"/>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Container states change dynamically; polling is slow and wasteful for live dashboards</a:t>
            </a:r>
            <a:endParaRPr lang="en-US" sz="850" dirty="0"/>
          </a:p>
        </p:txBody>
      </p:sp>
      <p:sp>
        <p:nvSpPr>
          <p:cNvPr id="25" name="Shape 23"/>
          <p:cNvSpPr/>
          <p:nvPr/>
        </p:nvSpPr>
        <p:spPr>
          <a:xfrm>
            <a:off x="4526280" y="2688336"/>
            <a:ext cx="548640" cy="256032"/>
          </a:xfrm>
          <a:prstGeom prst="roundRect">
            <a:avLst>
              <a:gd name="adj" fmla="val 21429"/>
            </a:avLst>
          </a:prstGeom>
          <a:solidFill>
            <a:srgbClr val="3A7D8C">
              <a:alpha val="80000"/>
            </a:srgbClr>
          </a:solidFill>
          <a:ln w="6350">
            <a:solidFill>
              <a:srgbClr val="3A7D8C"/>
            </a:solidFill>
            <a:prstDash val="solid"/>
          </a:ln>
        </p:spPr>
      </p:sp>
      <p:sp>
        <p:nvSpPr>
          <p:cNvPr id="26" name="Text 24"/>
          <p:cNvSpPr/>
          <p:nvPr/>
        </p:nvSpPr>
        <p:spPr>
          <a:xfrm>
            <a:off x="4526280" y="2688336"/>
            <a:ext cx="548640" cy="256032"/>
          </a:xfrm>
          <a:prstGeom prst="rect">
            <a:avLst/>
          </a:prstGeom>
          <a:noFill/>
          <a:ln/>
        </p:spPr>
        <p:txBody>
          <a:bodyPr wrap="square" lIns="0" tIns="0" rIns="0" bIns="0" rtlCol="0" anchor="ctr"/>
          <a:lstStyle/>
          <a:p>
            <a:pPr marL="0" indent="0" algn="ctr">
              <a:buNone/>
            </a:pPr>
            <a:r>
              <a:rPr lang="en-US" sz="750" b="1" dirty="0">
                <a:solidFill>
                  <a:srgbClr val="3A7D8C"/>
                </a:solidFill>
              </a:rPr>
              <a:t>FIX</a:t>
            </a:r>
            <a:endParaRPr lang="en-US" sz="750" dirty="0"/>
          </a:p>
        </p:txBody>
      </p:sp>
      <p:sp>
        <p:nvSpPr>
          <p:cNvPr id="27" name="Text 25"/>
          <p:cNvSpPr/>
          <p:nvPr/>
        </p:nvSpPr>
        <p:spPr>
          <a:xfrm>
            <a:off x="5138928" y="2670048"/>
            <a:ext cx="3493008" cy="548640"/>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WebSocket server pushes state diffs every 3 seconds; frontend state merges without full page refresh</a:t>
            </a:r>
            <a:endParaRPr lang="en-US" sz="850" dirty="0"/>
          </a:p>
        </p:txBody>
      </p:sp>
      <p:sp>
        <p:nvSpPr>
          <p:cNvPr id="28" name="Shape 26"/>
          <p:cNvSpPr/>
          <p:nvPr/>
        </p:nvSpPr>
        <p:spPr>
          <a:xfrm>
            <a:off x="365760" y="3419856"/>
            <a:ext cx="8412480" cy="713232"/>
          </a:xfrm>
          <a:prstGeom prst="roundRect">
            <a:avLst>
              <a:gd name="adj" fmla="val 12821"/>
            </a:avLst>
          </a:prstGeom>
          <a:solidFill>
            <a:srgbClr val="EEF2F7"/>
          </a:solidFill>
          <a:ln w="12700">
            <a:solidFill>
              <a:srgbClr val="A07840"/>
            </a:solidFill>
            <a:prstDash val="solid"/>
          </a:ln>
        </p:spPr>
      </p:sp>
      <p:sp>
        <p:nvSpPr>
          <p:cNvPr id="29" name="Shape 27"/>
          <p:cNvSpPr/>
          <p:nvPr/>
        </p:nvSpPr>
        <p:spPr>
          <a:xfrm>
            <a:off x="457200" y="3493008"/>
            <a:ext cx="594360" cy="256032"/>
          </a:xfrm>
          <a:prstGeom prst="roundRect">
            <a:avLst>
              <a:gd name="adj" fmla="val 21429"/>
            </a:avLst>
          </a:prstGeom>
          <a:solidFill>
            <a:srgbClr val="9B3A3A">
              <a:alpha val="80000"/>
            </a:srgbClr>
          </a:solidFill>
          <a:ln w="6350">
            <a:solidFill>
              <a:srgbClr val="9B3A3A"/>
            </a:solidFill>
            <a:prstDash val="solid"/>
          </a:ln>
        </p:spPr>
      </p:sp>
      <p:sp>
        <p:nvSpPr>
          <p:cNvPr id="30" name="Text 28"/>
          <p:cNvSpPr/>
          <p:nvPr/>
        </p:nvSpPr>
        <p:spPr>
          <a:xfrm>
            <a:off x="457200" y="3493008"/>
            <a:ext cx="594360" cy="256032"/>
          </a:xfrm>
          <a:prstGeom prst="rect">
            <a:avLst/>
          </a:prstGeom>
          <a:noFill/>
          <a:ln/>
        </p:spPr>
        <p:txBody>
          <a:bodyPr wrap="square" lIns="0" tIns="0" rIns="0" bIns="0" rtlCol="0" anchor="ctr"/>
          <a:lstStyle/>
          <a:p>
            <a:pPr marL="0" indent="0" algn="ctr">
              <a:buNone/>
            </a:pPr>
            <a:r>
              <a:rPr lang="en-US" sz="750" b="1" dirty="0">
                <a:solidFill>
                  <a:srgbClr val="9B3A3A"/>
                </a:solidFill>
              </a:rPr>
              <a:t>BUG</a:t>
            </a:r>
            <a:endParaRPr lang="en-US" sz="750" dirty="0"/>
          </a:p>
        </p:txBody>
      </p:sp>
      <p:sp>
        <p:nvSpPr>
          <p:cNvPr id="31" name="Text 29"/>
          <p:cNvSpPr/>
          <p:nvPr/>
        </p:nvSpPr>
        <p:spPr>
          <a:xfrm>
            <a:off x="1115568" y="3474720"/>
            <a:ext cx="2286000" cy="274320"/>
          </a:xfrm>
          <a:prstGeom prst="rect">
            <a:avLst/>
          </a:prstGeom>
          <a:noFill/>
          <a:ln/>
        </p:spPr>
        <p:txBody>
          <a:bodyPr wrap="square" rtlCol="0" anchor="ctr"/>
          <a:lstStyle/>
          <a:p>
            <a:pPr marL="0" indent="0">
              <a:buNone/>
            </a:pPr>
            <a:r>
              <a:rPr lang="en-US" sz="1100" b="1" dirty="0">
                <a:solidFill>
                  <a:srgbClr val="A07840"/>
                </a:solidFill>
                <a:latin typeface="Calibri" pitchFamily="34" charset="0"/>
                <a:ea typeface="Calibri" pitchFamily="34" charset="-122"/>
                <a:cs typeface="Calibri" pitchFamily="34" charset="-120"/>
              </a:rPr>
              <a:t>Cross-Platform Docker Connection</a:t>
            </a:r>
            <a:endParaRPr lang="en-US" sz="1100" dirty="0"/>
          </a:p>
        </p:txBody>
      </p:sp>
      <p:sp>
        <p:nvSpPr>
          <p:cNvPr id="32" name="Text 30"/>
          <p:cNvSpPr/>
          <p:nvPr/>
        </p:nvSpPr>
        <p:spPr>
          <a:xfrm>
            <a:off x="1115568" y="3767328"/>
            <a:ext cx="3200400" cy="292608"/>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Docker socket path differs across Linux (/var/run/docker.sock), Windows (named pipe), and TCP remotes</a:t>
            </a:r>
            <a:endParaRPr lang="en-US" sz="850" dirty="0"/>
          </a:p>
        </p:txBody>
      </p:sp>
      <p:sp>
        <p:nvSpPr>
          <p:cNvPr id="33" name="Shape 31"/>
          <p:cNvSpPr/>
          <p:nvPr/>
        </p:nvSpPr>
        <p:spPr>
          <a:xfrm>
            <a:off x="4526280" y="3493008"/>
            <a:ext cx="548640" cy="256032"/>
          </a:xfrm>
          <a:prstGeom prst="roundRect">
            <a:avLst>
              <a:gd name="adj" fmla="val 21429"/>
            </a:avLst>
          </a:prstGeom>
          <a:solidFill>
            <a:srgbClr val="3A7D8C">
              <a:alpha val="80000"/>
            </a:srgbClr>
          </a:solidFill>
          <a:ln w="6350">
            <a:solidFill>
              <a:srgbClr val="3A7D8C"/>
            </a:solidFill>
            <a:prstDash val="solid"/>
          </a:ln>
        </p:spPr>
      </p:sp>
      <p:sp>
        <p:nvSpPr>
          <p:cNvPr id="34" name="Text 32"/>
          <p:cNvSpPr/>
          <p:nvPr/>
        </p:nvSpPr>
        <p:spPr>
          <a:xfrm>
            <a:off x="4526280" y="3493008"/>
            <a:ext cx="548640" cy="256032"/>
          </a:xfrm>
          <a:prstGeom prst="rect">
            <a:avLst/>
          </a:prstGeom>
          <a:noFill/>
          <a:ln/>
        </p:spPr>
        <p:txBody>
          <a:bodyPr wrap="square" lIns="0" tIns="0" rIns="0" bIns="0" rtlCol="0" anchor="ctr"/>
          <a:lstStyle/>
          <a:p>
            <a:pPr marL="0" indent="0" algn="ctr">
              <a:buNone/>
            </a:pPr>
            <a:r>
              <a:rPr lang="en-US" sz="750" b="1" dirty="0">
                <a:solidFill>
                  <a:srgbClr val="3A7D8C"/>
                </a:solidFill>
              </a:rPr>
              <a:t>FIX</a:t>
            </a:r>
            <a:endParaRPr lang="en-US" sz="750" dirty="0"/>
          </a:p>
        </p:txBody>
      </p:sp>
      <p:sp>
        <p:nvSpPr>
          <p:cNvPr id="35" name="Text 33"/>
          <p:cNvSpPr/>
          <p:nvPr/>
        </p:nvSpPr>
        <p:spPr>
          <a:xfrm>
            <a:off x="5138928" y="3474720"/>
            <a:ext cx="3493008" cy="548640"/>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Smart getDockerClient() auto-detects connection type from DOCKER_HOST env var and handles all cases</a:t>
            </a:r>
            <a:endParaRPr lang="en-US" sz="850" dirty="0"/>
          </a:p>
        </p:txBody>
      </p:sp>
      <p:sp>
        <p:nvSpPr>
          <p:cNvPr id="36" name="Shape 34"/>
          <p:cNvSpPr/>
          <p:nvPr/>
        </p:nvSpPr>
        <p:spPr>
          <a:xfrm>
            <a:off x="365760" y="4224528"/>
            <a:ext cx="8412480" cy="713232"/>
          </a:xfrm>
          <a:prstGeom prst="roundRect">
            <a:avLst>
              <a:gd name="adj" fmla="val 12821"/>
            </a:avLst>
          </a:prstGeom>
          <a:solidFill>
            <a:srgbClr val="EEF2F7"/>
          </a:solidFill>
          <a:ln w="12700">
            <a:solidFill>
              <a:srgbClr val="8B6355"/>
            </a:solidFill>
            <a:prstDash val="solid"/>
          </a:ln>
        </p:spPr>
      </p:sp>
      <p:sp>
        <p:nvSpPr>
          <p:cNvPr id="37" name="Shape 35"/>
          <p:cNvSpPr/>
          <p:nvPr/>
        </p:nvSpPr>
        <p:spPr>
          <a:xfrm>
            <a:off x="457200" y="4297680"/>
            <a:ext cx="594360" cy="256032"/>
          </a:xfrm>
          <a:prstGeom prst="roundRect">
            <a:avLst>
              <a:gd name="adj" fmla="val 21429"/>
            </a:avLst>
          </a:prstGeom>
          <a:solidFill>
            <a:srgbClr val="9B3A3A">
              <a:alpha val="80000"/>
            </a:srgbClr>
          </a:solidFill>
          <a:ln w="6350">
            <a:solidFill>
              <a:srgbClr val="9B3A3A"/>
            </a:solidFill>
            <a:prstDash val="solid"/>
          </a:ln>
        </p:spPr>
      </p:sp>
      <p:sp>
        <p:nvSpPr>
          <p:cNvPr id="38" name="Text 36"/>
          <p:cNvSpPr/>
          <p:nvPr/>
        </p:nvSpPr>
        <p:spPr>
          <a:xfrm>
            <a:off x="457200" y="4297680"/>
            <a:ext cx="594360" cy="256032"/>
          </a:xfrm>
          <a:prstGeom prst="rect">
            <a:avLst/>
          </a:prstGeom>
          <a:noFill/>
          <a:ln/>
        </p:spPr>
        <p:txBody>
          <a:bodyPr wrap="square" lIns="0" tIns="0" rIns="0" bIns="0" rtlCol="0" anchor="ctr"/>
          <a:lstStyle/>
          <a:p>
            <a:pPr marL="0" indent="0" algn="ctr">
              <a:buNone/>
            </a:pPr>
            <a:r>
              <a:rPr lang="en-US" sz="750" b="1" dirty="0">
                <a:solidFill>
                  <a:srgbClr val="9B3A3A"/>
                </a:solidFill>
              </a:rPr>
              <a:t>BUG</a:t>
            </a:r>
            <a:endParaRPr lang="en-US" sz="750" dirty="0"/>
          </a:p>
        </p:txBody>
      </p:sp>
      <p:sp>
        <p:nvSpPr>
          <p:cNvPr id="39" name="Text 37"/>
          <p:cNvSpPr/>
          <p:nvPr/>
        </p:nvSpPr>
        <p:spPr>
          <a:xfrm>
            <a:off x="1115568" y="4279392"/>
            <a:ext cx="2286000" cy="274320"/>
          </a:xfrm>
          <a:prstGeom prst="rect">
            <a:avLst/>
          </a:prstGeom>
          <a:noFill/>
          <a:ln/>
        </p:spPr>
        <p:txBody>
          <a:bodyPr wrap="square" rtlCol="0" anchor="ctr"/>
          <a:lstStyle/>
          <a:p>
            <a:pPr marL="0" indent="0">
              <a:buNone/>
            </a:pPr>
            <a:r>
              <a:rPr lang="en-US" sz="1100" b="1" dirty="0">
                <a:solidFill>
                  <a:srgbClr val="8B6355"/>
                </a:solidFill>
                <a:latin typeface="Calibri" pitchFamily="34" charset="0"/>
                <a:ea typeface="Calibri" pitchFamily="34" charset="-122"/>
                <a:cs typeface="Calibri" pitchFamily="34" charset="-120"/>
              </a:rPr>
              <a:t>LLM Provider Failover</a:t>
            </a:r>
            <a:endParaRPr lang="en-US" sz="1100" dirty="0"/>
          </a:p>
        </p:txBody>
      </p:sp>
      <p:sp>
        <p:nvSpPr>
          <p:cNvPr id="40" name="Text 38"/>
          <p:cNvSpPr/>
          <p:nvPr/>
        </p:nvSpPr>
        <p:spPr>
          <a:xfrm>
            <a:off x="1115568" y="4572000"/>
            <a:ext cx="3200400" cy="292608"/>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If Gemini API is unavailable or Ollama is offline, the entire query system would fail</a:t>
            </a:r>
            <a:endParaRPr lang="en-US" sz="850" dirty="0"/>
          </a:p>
        </p:txBody>
      </p:sp>
      <p:sp>
        <p:nvSpPr>
          <p:cNvPr id="41" name="Shape 39"/>
          <p:cNvSpPr/>
          <p:nvPr/>
        </p:nvSpPr>
        <p:spPr>
          <a:xfrm>
            <a:off x="4526280" y="4297680"/>
            <a:ext cx="548640" cy="256032"/>
          </a:xfrm>
          <a:prstGeom prst="roundRect">
            <a:avLst>
              <a:gd name="adj" fmla="val 21429"/>
            </a:avLst>
          </a:prstGeom>
          <a:solidFill>
            <a:srgbClr val="3A7D8C">
              <a:alpha val="80000"/>
            </a:srgbClr>
          </a:solidFill>
          <a:ln w="6350">
            <a:solidFill>
              <a:srgbClr val="3A7D8C"/>
            </a:solidFill>
            <a:prstDash val="solid"/>
          </a:ln>
        </p:spPr>
      </p:sp>
      <p:sp>
        <p:nvSpPr>
          <p:cNvPr id="42" name="Text 40"/>
          <p:cNvSpPr/>
          <p:nvPr/>
        </p:nvSpPr>
        <p:spPr>
          <a:xfrm>
            <a:off x="4526280" y="4297680"/>
            <a:ext cx="548640" cy="256032"/>
          </a:xfrm>
          <a:prstGeom prst="rect">
            <a:avLst/>
          </a:prstGeom>
          <a:noFill/>
          <a:ln/>
        </p:spPr>
        <p:txBody>
          <a:bodyPr wrap="square" lIns="0" tIns="0" rIns="0" bIns="0" rtlCol="0" anchor="ctr"/>
          <a:lstStyle/>
          <a:p>
            <a:pPr marL="0" indent="0" algn="ctr">
              <a:buNone/>
            </a:pPr>
            <a:r>
              <a:rPr lang="en-US" sz="750" b="1" dirty="0">
                <a:solidFill>
                  <a:srgbClr val="3A7D8C"/>
                </a:solidFill>
              </a:rPr>
              <a:t>FIX</a:t>
            </a:r>
            <a:endParaRPr lang="en-US" sz="750" dirty="0"/>
          </a:p>
        </p:txBody>
      </p:sp>
      <p:sp>
        <p:nvSpPr>
          <p:cNvPr id="43" name="Text 41"/>
          <p:cNvSpPr/>
          <p:nvPr/>
        </p:nvSpPr>
        <p:spPr>
          <a:xfrm>
            <a:off x="5138928" y="4279392"/>
            <a:ext cx="3493008" cy="548640"/>
          </a:xfrm>
          <a:prstGeom prst="rect">
            <a:avLst/>
          </a:prstGeom>
          <a:noFill/>
          <a:ln/>
        </p:spPr>
        <p:txBody>
          <a:bodyPr wrap="square" rtlCol="0" anchor="ctr"/>
          <a:lstStyle/>
          <a:p>
            <a:pPr marL="0" indent="0">
              <a:buNone/>
            </a:pPr>
            <a:r>
              <a:rPr lang="en-US" sz="850" dirty="0">
                <a:solidFill>
                  <a:srgbClr val="7B8FA1"/>
                </a:solidFill>
                <a:latin typeface="Calibri" pitchFamily="34" charset="0"/>
                <a:ea typeface="Calibri" pitchFamily="34" charset="-122"/>
                <a:cs typeface="Calibri" pitchFamily="34" charset="-120"/>
              </a:rPr>
              <a:t>60-second cooldown + intelligent rule-based fallback engine ensures service continuity with zero downtime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Future Roadmap</a:t>
            </a:r>
            <a:endParaRPr lang="en-US" sz="2800" dirty="0"/>
          </a:p>
        </p:txBody>
      </p:sp>
      <p:sp>
        <p:nvSpPr>
          <p:cNvPr id="3" name="Text 1"/>
          <p:cNvSpPr/>
          <p:nvPr/>
        </p:nvSpPr>
        <p:spPr>
          <a:xfrm>
            <a:off x="457200" y="621792"/>
            <a:ext cx="8229600" cy="292608"/>
          </a:xfrm>
          <a:prstGeom prst="rect">
            <a:avLst/>
          </a:prstGeom>
          <a:noFill/>
          <a:ln/>
        </p:spPr>
        <p:txBody>
          <a:bodyPr wrap="square" rtlCol="0" anchor="ctr"/>
          <a:lstStyle/>
          <a:p>
            <a:pPr marL="0" indent="0">
              <a:buNone/>
            </a:pPr>
            <a:r>
              <a:rPr lang="en-US" sz="1200" dirty="0">
                <a:solidFill>
                  <a:srgbClr val="5B6E7C"/>
                </a:solidFill>
                <a:latin typeface="Calibri" pitchFamily="34" charset="0"/>
                <a:ea typeface="Calibri" pitchFamily="34" charset="-122"/>
                <a:cs typeface="Calibri" pitchFamily="34" charset="-120"/>
              </a:rPr>
              <a:t>Where TechNova is heading next</a:t>
            </a:r>
            <a:endParaRPr lang="en-US" sz="1200" dirty="0"/>
          </a:p>
        </p:txBody>
      </p:sp>
      <p:sp>
        <p:nvSpPr>
          <p:cNvPr id="4" name="Shape 2"/>
          <p:cNvSpPr/>
          <p:nvPr/>
        </p:nvSpPr>
        <p:spPr>
          <a:xfrm>
            <a:off x="365760" y="1005840"/>
            <a:ext cx="2697480" cy="3794760"/>
          </a:xfrm>
          <a:prstGeom prst="roundRect">
            <a:avLst>
              <a:gd name="adj" fmla="val 4068"/>
            </a:avLst>
          </a:prstGeom>
          <a:solidFill>
            <a:srgbClr val="EEF2F7"/>
          </a:solidFill>
          <a:ln w="19050">
            <a:solidFill>
              <a:srgbClr val="5B6E7C"/>
            </a:solidFill>
            <a:prstDash val="solid"/>
          </a:ln>
          <a:effectLst>
            <a:outerShdw blurRad="101600" dist="25400" dir="2700000" algn="bl" rotWithShape="0">
              <a:srgbClr val="1A2B3C">
                <a:alpha val="20000"/>
              </a:srgbClr>
            </a:outerShdw>
          </a:effectLst>
        </p:spPr>
      </p:sp>
      <p:sp>
        <p:nvSpPr>
          <p:cNvPr id="5" name="Shape 3"/>
          <p:cNvSpPr/>
          <p:nvPr/>
        </p:nvSpPr>
        <p:spPr>
          <a:xfrm>
            <a:off x="457200" y="1078992"/>
            <a:ext cx="1463040" cy="320040"/>
          </a:xfrm>
          <a:prstGeom prst="roundRect">
            <a:avLst>
              <a:gd name="adj" fmla="val 22857"/>
            </a:avLst>
          </a:prstGeom>
          <a:solidFill>
            <a:srgbClr val="5B6E7C">
              <a:alpha val="80000"/>
            </a:srgbClr>
          </a:solidFill>
          <a:ln w="12700">
            <a:solidFill>
              <a:srgbClr val="5B6E7C"/>
            </a:solidFill>
            <a:prstDash val="solid"/>
          </a:ln>
        </p:spPr>
      </p:sp>
      <p:sp>
        <p:nvSpPr>
          <p:cNvPr id="6" name="Text 4"/>
          <p:cNvSpPr/>
          <p:nvPr/>
        </p:nvSpPr>
        <p:spPr>
          <a:xfrm>
            <a:off x="457200" y="1078992"/>
            <a:ext cx="1463040" cy="320040"/>
          </a:xfrm>
          <a:prstGeom prst="rect">
            <a:avLst/>
          </a:prstGeom>
          <a:noFill/>
          <a:ln/>
        </p:spPr>
        <p:txBody>
          <a:bodyPr wrap="square" lIns="0" tIns="0" rIns="0" bIns="0" rtlCol="0" anchor="ctr"/>
          <a:lstStyle/>
          <a:p>
            <a:pPr marL="0" indent="0" algn="ctr">
              <a:buNone/>
            </a:pPr>
            <a:r>
              <a:rPr lang="en-US" sz="1100" b="1" dirty="0">
                <a:solidFill>
                  <a:srgbClr val="1E3A5F"/>
                </a:solidFill>
              </a:rPr>
              <a:t>Phase 2</a:t>
            </a:r>
            <a:endParaRPr lang="en-US" sz="1100" dirty="0"/>
          </a:p>
        </p:txBody>
      </p:sp>
      <p:sp>
        <p:nvSpPr>
          <p:cNvPr id="7" name="Text 5"/>
          <p:cNvSpPr/>
          <p:nvPr/>
        </p:nvSpPr>
        <p:spPr>
          <a:xfrm>
            <a:off x="1993392" y="1078992"/>
            <a:ext cx="960120" cy="320040"/>
          </a:xfrm>
          <a:prstGeom prst="rect">
            <a:avLst/>
          </a:prstGeom>
          <a:noFill/>
          <a:ln/>
        </p:spPr>
        <p:txBody>
          <a:bodyPr wrap="square" rtlCol="0" anchor="ctr"/>
          <a:lstStyle/>
          <a:p>
            <a:pPr marL="0" indent="0" algn="r">
              <a:buNone/>
            </a:pPr>
            <a:r>
              <a:rPr lang="en-US" sz="1000" dirty="0">
                <a:solidFill>
                  <a:srgbClr val="5B6E7C"/>
                </a:solidFill>
                <a:latin typeface="Calibri" pitchFamily="34" charset="0"/>
                <a:ea typeface="Calibri" pitchFamily="34" charset="-122"/>
                <a:cs typeface="Calibri" pitchFamily="34" charset="-120"/>
              </a:rPr>
              <a:t>Q3 2026</a:t>
            </a:r>
            <a:endParaRPr lang="en-US" sz="1000" dirty="0"/>
          </a:p>
        </p:txBody>
      </p:sp>
      <p:sp>
        <p:nvSpPr>
          <p:cNvPr id="8" name="Text 6"/>
          <p:cNvSpPr/>
          <p:nvPr/>
        </p:nvSpPr>
        <p:spPr>
          <a:xfrm>
            <a:off x="502920" y="1508760"/>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Kubernetes Integration — manage pods and deployments</a:t>
            </a:r>
            <a:endParaRPr lang="en-US" sz="950" dirty="0"/>
          </a:p>
        </p:txBody>
      </p:sp>
      <p:sp>
        <p:nvSpPr>
          <p:cNvPr id="9" name="Text 7"/>
          <p:cNvSpPr/>
          <p:nvPr/>
        </p:nvSpPr>
        <p:spPr>
          <a:xfrm>
            <a:off x="502920" y="2258568"/>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Mobile Application — iOS &amp; Android native app</a:t>
            </a:r>
            <a:endParaRPr lang="en-US" sz="950" dirty="0"/>
          </a:p>
        </p:txBody>
      </p:sp>
      <p:sp>
        <p:nvSpPr>
          <p:cNvPr id="10" name="Text 8"/>
          <p:cNvSpPr/>
          <p:nvPr/>
        </p:nvSpPr>
        <p:spPr>
          <a:xfrm>
            <a:off x="502920" y="3008376"/>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Metrics History — time-series CPU/Memory graphs</a:t>
            </a:r>
            <a:endParaRPr lang="en-US" sz="950" dirty="0"/>
          </a:p>
        </p:txBody>
      </p:sp>
      <p:sp>
        <p:nvSpPr>
          <p:cNvPr id="11" name="Shape 9"/>
          <p:cNvSpPr/>
          <p:nvPr/>
        </p:nvSpPr>
        <p:spPr>
          <a:xfrm>
            <a:off x="3246120" y="1005840"/>
            <a:ext cx="2697480" cy="3794760"/>
          </a:xfrm>
          <a:prstGeom prst="roundRect">
            <a:avLst>
              <a:gd name="adj" fmla="val 4068"/>
            </a:avLst>
          </a:prstGeom>
          <a:solidFill>
            <a:srgbClr val="EEF2F7"/>
          </a:solidFill>
          <a:ln w="19050">
            <a:solidFill>
              <a:srgbClr val="3A7D8C"/>
            </a:solidFill>
            <a:prstDash val="solid"/>
          </a:ln>
          <a:effectLst>
            <a:outerShdw blurRad="101600" dist="25400" dir="2700000" algn="bl" rotWithShape="0">
              <a:srgbClr val="1A2B3C">
                <a:alpha val="20000"/>
              </a:srgbClr>
            </a:outerShdw>
          </a:effectLst>
        </p:spPr>
      </p:sp>
      <p:sp>
        <p:nvSpPr>
          <p:cNvPr id="12" name="Shape 10"/>
          <p:cNvSpPr/>
          <p:nvPr/>
        </p:nvSpPr>
        <p:spPr>
          <a:xfrm>
            <a:off x="3337560" y="1078992"/>
            <a:ext cx="1463040" cy="320040"/>
          </a:xfrm>
          <a:prstGeom prst="roundRect">
            <a:avLst>
              <a:gd name="adj" fmla="val 22857"/>
            </a:avLst>
          </a:prstGeom>
          <a:solidFill>
            <a:srgbClr val="3A7D8C">
              <a:alpha val="80000"/>
            </a:srgbClr>
          </a:solidFill>
          <a:ln w="12700">
            <a:solidFill>
              <a:srgbClr val="3A7D8C"/>
            </a:solidFill>
            <a:prstDash val="solid"/>
          </a:ln>
        </p:spPr>
      </p:sp>
      <p:sp>
        <p:nvSpPr>
          <p:cNvPr id="13" name="Text 11"/>
          <p:cNvSpPr/>
          <p:nvPr/>
        </p:nvSpPr>
        <p:spPr>
          <a:xfrm>
            <a:off x="3337560" y="1078992"/>
            <a:ext cx="1463040" cy="320040"/>
          </a:xfrm>
          <a:prstGeom prst="rect">
            <a:avLst/>
          </a:prstGeom>
          <a:noFill/>
          <a:ln/>
        </p:spPr>
        <p:txBody>
          <a:bodyPr wrap="square" lIns="0" tIns="0" rIns="0" bIns="0" rtlCol="0" anchor="ctr"/>
          <a:lstStyle/>
          <a:p>
            <a:pPr marL="0" indent="0" algn="ctr">
              <a:buNone/>
            </a:pPr>
            <a:r>
              <a:rPr lang="en-US" sz="1100" b="1" dirty="0">
                <a:solidFill>
                  <a:srgbClr val="1E3A5F"/>
                </a:solidFill>
              </a:rPr>
              <a:t>Phase 3</a:t>
            </a:r>
            <a:endParaRPr lang="en-US" sz="1100" dirty="0"/>
          </a:p>
        </p:txBody>
      </p:sp>
      <p:sp>
        <p:nvSpPr>
          <p:cNvPr id="14" name="Text 12"/>
          <p:cNvSpPr/>
          <p:nvPr/>
        </p:nvSpPr>
        <p:spPr>
          <a:xfrm>
            <a:off x="4873752" y="1078992"/>
            <a:ext cx="960120" cy="320040"/>
          </a:xfrm>
          <a:prstGeom prst="rect">
            <a:avLst/>
          </a:prstGeom>
          <a:noFill/>
          <a:ln/>
        </p:spPr>
        <p:txBody>
          <a:bodyPr wrap="square" rtlCol="0" anchor="ctr"/>
          <a:lstStyle/>
          <a:p>
            <a:pPr marL="0" indent="0" algn="r">
              <a:buNone/>
            </a:pPr>
            <a:r>
              <a:rPr lang="en-US" sz="1000" dirty="0">
                <a:solidFill>
                  <a:srgbClr val="3A7D8C"/>
                </a:solidFill>
                <a:latin typeface="Calibri" pitchFamily="34" charset="0"/>
                <a:ea typeface="Calibri" pitchFamily="34" charset="-122"/>
                <a:cs typeface="Calibri" pitchFamily="34" charset="-120"/>
              </a:rPr>
              <a:t>Q4 2026</a:t>
            </a:r>
            <a:endParaRPr lang="en-US" sz="1000" dirty="0"/>
          </a:p>
        </p:txBody>
      </p:sp>
      <p:sp>
        <p:nvSpPr>
          <p:cNvPr id="15" name="Text 13"/>
          <p:cNvSpPr/>
          <p:nvPr/>
        </p:nvSpPr>
        <p:spPr>
          <a:xfrm>
            <a:off x="3383280" y="1508760"/>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Multi-Cloud Support — AWS, GCP, Azure integration</a:t>
            </a:r>
            <a:endParaRPr lang="en-US" sz="950" dirty="0"/>
          </a:p>
        </p:txBody>
      </p:sp>
      <p:sp>
        <p:nvSpPr>
          <p:cNvPr id="16" name="Text 14"/>
          <p:cNvSpPr/>
          <p:nvPr/>
        </p:nvSpPr>
        <p:spPr>
          <a:xfrm>
            <a:off x="3383280" y="2258568"/>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Voice Commands — speak to manage your containers</a:t>
            </a:r>
            <a:endParaRPr lang="en-US" sz="950" dirty="0"/>
          </a:p>
        </p:txBody>
      </p:sp>
      <p:sp>
        <p:nvSpPr>
          <p:cNvPr id="17" name="Text 15"/>
          <p:cNvSpPr/>
          <p:nvPr/>
        </p:nvSpPr>
        <p:spPr>
          <a:xfrm>
            <a:off x="3383280" y="3008376"/>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AI Auto-Healing — automatic container restart on failure</a:t>
            </a:r>
            <a:endParaRPr lang="en-US" sz="950" dirty="0"/>
          </a:p>
        </p:txBody>
      </p:sp>
      <p:sp>
        <p:nvSpPr>
          <p:cNvPr id="18" name="Shape 16"/>
          <p:cNvSpPr/>
          <p:nvPr/>
        </p:nvSpPr>
        <p:spPr>
          <a:xfrm>
            <a:off x="6126480" y="1005840"/>
            <a:ext cx="2697480" cy="3794760"/>
          </a:xfrm>
          <a:prstGeom prst="roundRect">
            <a:avLst>
              <a:gd name="adj" fmla="val 4068"/>
            </a:avLst>
          </a:prstGeom>
          <a:solidFill>
            <a:srgbClr val="EEF2F7"/>
          </a:solidFill>
          <a:ln w="19050">
            <a:solidFill>
              <a:srgbClr val="A07840"/>
            </a:solidFill>
            <a:prstDash val="solid"/>
          </a:ln>
          <a:effectLst>
            <a:outerShdw blurRad="101600" dist="25400" dir="2700000" algn="bl" rotWithShape="0">
              <a:srgbClr val="1A2B3C">
                <a:alpha val="20000"/>
              </a:srgbClr>
            </a:outerShdw>
          </a:effectLst>
        </p:spPr>
      </p:sp>
      <p:sp>
        <p:nvSpPr>
          <p:cNvPr id="19" name="Shape 17"/>
          <p:cNvSpPr/>
          <p:nvPr/>
        </p:nvSpPr>
        <p:spPr>
          <a:xfrm>
            <a:off x="6217920" y="1078992"/>
            <a:ext cx="1463040" cy="320040"/>
          </a:xfrm>
          <a:prstGeom prst="roundRect">
            <a:avLst>
              <a:gd name="adj" fmla="val 22857"/>
            </a:avLst>
          </a:prstGeom>
          <a:solidFill>
            <a:srgbClr val="A07840">
              <a:alpha val="80000"/>
            </a:srgbClr>
          </a:solidFill>
          <a:ln w="12700">
            <a:solidFill>
              <a:srgbClr val="A07840"/>
            </a:solidFill>
            <a:prstDash val="solid"/>
          </a:ln>
        </p:spPr>
      </p:sp>
      <p:sp>
        <p:nvSpPr>
          <p:cNvPr id="20" name="Text 18"/>
          <p:cNvSpPr/>
          <p:nvPr/>
        </p:nvSpPr>
        <p:spPr>
          <a:xfrm>
            <a:off x="6217920" y="1078992"/>
            <a:ext cx="1463040" cy="320040"/>
          </a:xfrm>
          <a:prstGeom prst="rect">
            <a:avLst/>
          </a:prstGeom>
          <a:noFill/>
          <a:ln/>
        </p:spPr>
        <p:txBody>
          <a:bodyPr wrap="square" lIns="0" tIns="0" rIns="0" bIns="0" rtlCol="0" anchor="ctr"/>
          <a:lstStyle/>
          <a:p>
            <a:pPr marL="0" indent="0" algn="ctr">
              <a:buNone/>
            </a:pPr>
            <a:r>
              <a:rPr lang="en-US" sz="1100" b="1" dirty="0">
                <a:solidFill>
                  <a:srgbClr val="1E3A5F"/>
                </a:solidFill>
              </a:rPr>
              <a:t>Phase 4</a:t>
            </a:r>
            <a:endParaRPr lang="en-US" sz="1100" dirty="0"/>
          </a:p>
        </p:txBody>
      </p:sp>
      <p:sp>
        <p:nvSpPr>
          <p:cNvPr id="21" name="Text 19"/>
          <p:cNvSpPr/>
          <p:nvPr/>
        </p:nvSpPr>
        <p:spPr>
          <a:xfrm>
            <a:off x="7754112" y="1078992"/>
            <a:ext cx="960120" cy="320040"/>
          </a:xfrm>
          <a:prstGeom prst="rect">
            <a:avLst/>
          </a:prstGeom>
          <a:noFill/>
          <a:ln/>
        </p:spPr>
        <p:txBody>
          <a:bodyPr wrap="square" rtlCol="0" anchor="ctr"/>
          <a:lstStyle/>
          <a:p>
            <a:pPr marL="0" indent="0" algn="r">
              <a:buNone/>
            </a:pPr>
            <a:r>
              <a:rPr lang="en-US" sz="1000" dirty="0">
                <a:solidFill>
                  <a:srgbClr val="A07840"/>
                </a:solidFill>
                <a:latin typeface="Calibri" pitchFamily="34" charset="0"/>
                <a:ea typeface="Calibri" pitchFamily="34" charset="-122"/>
                <a:cs typeface="Calibri" pitchFamily="34" charset="-120"/>
              </a:rPr>
              <a:t>2027</a:t>
            </a:r>
            <a:endParaRPr lang="en-US" sz="1000" dirty="0"/>
          </a:p>
        </p:txBody>
      </p:sp>
      <p:sp>
        <p:nvSpPr>
          <p:cNvPr id="22" name="Text 20"/>
          <p:cNvSpPr/>
          <p:nvPr/>
        </p:nvSpPr>
        <p:spPr>
          <a:xfrm>
            <a:off x="6263640" y="1508760"/>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Multi-Server Monitoring — datacenter fleet visibility</a:t>
            </a:r>
            <a:endParaRPr lang="en-US" sz="950" dirty="0"/>
          </a:p>
        </p:txBody>
      </p:sp>
      <p:sp>
        <p:nvSpPr>
          <p:cNvPr id="23" name="Text 21"/>
          <p:cNvSpPr/>
          <p:nvPr/>
        </p:nvSpPr>
        <p:spPr>
          <a:xfrm>
            <a:off x="6263640" y="2258568"/>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Smart Alerts — Slack/Email notifications on anomalies</a:t>
            </a:r>
            <a:endParaRPr lang="en-US" sz="950" dirty="0"/>
          </a:p>
        </p:txBody>
      </p:sp>
      <p:sp>
        <p:nvSpPr>
          <p:cNvPr id="24" name="Text 22"/>
          <p:cNvSpPr/>
          <p:nvPr/>
        </p:nvSpPr>
        <p:spPr>
          <a:xfrm>
            <a:off x="6263640" y="3008376"/>
            <a:ext cx="2423160" cy="640080"/>
          </a:xfrm>
          <a:prstGeom prst="rect">
            <a:avLst/>
          </a:prstGeom>
          <a:noFill/>
          <a:ln/>
        </p:spPr>
        <p:txBody>
          <a:bodyPr wrap="square" rtlCol="0" anchor="ctr"/>
          <a:lstStyle/>
          <a:p>
            <a:pPr marL="0" indent="0">
              <a:buNone/>
            </a:pPr>
            <a:r>
              <a:rPr lang="en-US" sz="950" dirty="0">
                <a:solidFill>
                  <a:srgbClr val="7B8FA1"/>
                </a:solidFill>
                <a:latin typeface="Calibri" pitchFamily="34" charset="0"/>
                <a:ea typeface="Calibri" pitchFamily="34" charset="-122"/>
                <a:cs typeface="Calibri" pitchFamily="34" charset="-120"/>
              </a:rPr>
              <a:t>📈 Cost Optimization AI — resource usage recommendations</a:t>
            </a:r>
            <a:endParaRPr lang="en-US" sz="950" dirty="0"/>
          </a:p>
        </p:txBody>
      </p:sp>
      <p:sp>
        <p:nvSpPr>
          <p:cNvPr id="25" name="Shape 23"/>
          <p:cNvSpPr/>
          <p:nvPr/>
        </p:nvSpPr>
        <p:spPr>
          <a:xfrm>
            <a:off x="365760" y="4864608"/>
            <a:ext cx="8412480" cy="137160"/>
          </a:xfrm>
          <a:prstGeom prst="roundRect">
            <a:avLst>
              <a:gd name="adj" fmla="val 33333"/>
            </a:avLst>
          </a:prstGeom>
          <a:solidFill>
            <a:srgbClr val="EEF2F7"/>
          </a:solidFill>
          <a:ln w="6350">
            <a:solidFill>
              <a:srgbClr val="DDE6F0"/>
            </a:solidFill>
            <a:prstDash val="solid"/>
          </a:ln>
        </p:spPr>
      </p:sp>
      <p:sp>
        <p:nvSpPr>
          <p:cNvPr id="26" name="Text 24"/>
          <p:cNvSpPr/>
          <p:nvPr/>
        </p:nvSpPr>
        <p:spPr>
          <a:xfrm>
            <a:off x="457200" y="4864608"/>
            <a:ext cx="8412480" cy="164592"/>
          </a:xfrm>
          <a:prstGeom prst="rect">
            <a:avLst/>
          </a:prstGeom>
          <a:noFill/>
          <a:ln/>
        </p:spPr>
        <p:txBody>
          <a:bodyPr wrap="square" rtlCol="0" anchor="ctr"/>
          <a:lstStyle/>
          <a:p>
            <a:pPr marL="0" indent="0" algn="ctr">
              <a:buNone/>
            </a:pPr>
            <a:r>
              <a:rPr lang="en-US" sz="900" b="1" dirty="0">
                <a:solidFill>
                  <a:srgbClr val="3A7D8C"/>
                </a:solidFill>
                <a:latin typeface="Calibri" pitchFamily="34" charset="0"/>
                <a:ea typeface="Calibri" pitchFamily="34" charset="-122"/>
                <a:cs typeface="Calibri" pitchFamily="34" charset="-120"/>
              </a:rPr>
              <a:t>✅ Phase 1 COMPLETE — AI Dashboard, Global Deploy, WebSocket Realtime, Multi-LLM Support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IN" sz="2800" b="1" dirty="0">
                <a:solidFill>
                  <a:srgbClr val="1E3A5F"/>
                </a:solidFill>
                <a:latin typeface="Calibri" pitchFamily="34" charset="0"/>
                <a:ea typeface="Calibri" pitchFamily="34" charset="-122"/>
                <a:cs typeface="Calibri" pitchFamily="34" charset="-120"/>
              </a:rPr>
              <a:t>Real-time </a:t>
            </a:r>
            <a:r>
              <a:rPr lang="en-US" sz="2800" b="1" dirty="0">
                <a:solidFill>
                  <a:srgbClr val="1E3A5F"/>
                </a:solidFill>
                <a:latin typeface="Calibri" pitchFamily="34" charset="0"/>
                <a:ea typeface="Calibri" pitchFamily="34" charset="-122"/>
                <a:cs typeface="Calibri" pitchFamily="34" charset="-120"/>
              </a:rPr>
              <a:t>Business Impact</a:t>
            </a:r>
            <a:endParaRPr lang="en-US" sz="2800" dirty="0"/>
          </a:p>
        </p:txBody>
      </p:sp>
      <p:sp>
        <p:nvSpPr>
          <p:cNvPr id="3" name="Text 1"/>
          <p:cNvSpPr/>
          <p:nvPr/>
        </p:nvSpPr>
        <p:spPr>
          <a:xfrm>
            <a:off x="457200" y="621792"/>
            <a:ext cx="8229600" cy="292608"/>
          </a:xfrm>
          <a:prstGeom prst="rect">
            <a:avLst/>
          </a:prstGeom>
          <a:noFill/>
          <a:ln/>
        </p:spPr>
        <p:txBody>
          <a:bodyPr wrap="square" rtlCol="0" anchor="ctr"/>
          <a:lstStyle/>
          <a:p>
            <a:pPr marL="0" indent="0">
              <a:buNone/>
            </a:pPr>
            <a:r>
              <a:rPr lang="en-US" sz="1200" dirty="0">
                <a:solidFill>
                  <a:srgbClr val="3A7D8C"/>
                </a:solidFill>
                <a:latin typeface="Calibri" pitchFamily="34" charset="0"/>
                <a:ea typeface="Calibri" pitchFamily="34" charset="-122"/>
                <a:cs typeface="Calibri" pitchFamily="34" charset="-120"/>
              </a:rPr>
              <a:t>Real-world value for startups, enterprises, and development teams</a:t>
            </a:r>
            <a:endParaRPr lang="en-US" sz="1200" dirty="0"/>
          </a:p>
        </p:txBody>
      </p:sp>
      <p:sp>
        <p:nvSpPr>
          <p:cNvPr id="4" name="Shape 2"/>
          <p:cNvSpPr/>
          <p:nvPr/>
        </p:nvSpPr>
        <p:spPr>
          <a:xfrm>
            <a:off x="365760" y="1005840"/>
            <a:ext cx="1965960" cy="1371600"/>
          </a:xfrm>
          <a:prstGeom prst="roundRect">
            <a:avLst>
              <a:gd name="adj" fmla="val 8000"/>
            </a:avLst>
          </a:prstGeom>
          <a:solidFill>
            <a:srgbClr val="EEF2F7"/>
          </a:solidFill>
          <a:ln w="19050">
            <a:solidFill>
              <a:srgbClr val="3A7D8C"/>
            </a:solidFill>
            <a:prstDash val="solid"/>
          </a:ln>
          <a:effectLst>
            <a:outerShdw blurRad="101600" dist="25400" dir="2700000" algn="bl" rotWithShape="0">
              <a:srgbClr val="1A2B3C">
                <a:alpha val="20000"/>
              </a:srgbClr>
            </a:outerShdw>
          </a:effectLst>
        </p:spPr>
      </p:sp>
      <p:sp>
        <p:nvSpPr>
          <p:cNvPr id="5" name="Text 3"/>
          <p:cNvSpPr/>
          <p:nvPr/>
        </p:nvSpPr>
        <p:spPr>
          <a:xfrm>
            <a:off x="365760" y="1078992"/>
            <a:ext cx="1965960" cy="685800"/>
          </a:xfrm>
          <a:prstGeom prst="rect">
            <a:avLst/>
          </a:prstGeom>
          <a:noFill/>
          <a:ln/>
        </p:spPr>
        <p:txBody>
          <a:bodyPr wrap="square" rtlCol="0" anchor="ctr"/>
          <a:lstStyle/>
          <a:p>
            <a:pPr marL="0" indent="0" algn="ctr">
              <a:buNone/>
            </a:pPr>
            <a:r>
              <a:rPr lang="en-US" sz="4000" b="1" dirty="0">
                <a:solidFill>
                  <a:srgbClr val="3A7D8C"/>
                </a:solidFill>
                <a:latin typeface="Calibri" pitchFamily="34" charset="0"/>
                <a:ea typeface="Calibri" pitchFamily="34" charset="-122"/>
                <a:cs typeface="Calibri" pitchFamily="34" charset="-120"/>
              </a:rPr>
              <a:t>70%</a:t>
            </a:r>
            <a:endParaRPr lang="en-US" sz="4000" dirty="0"/>
          </a:p>
        </p:txBody>
      </p:sp>
      <p:sp>
        <p:nvSpPr>
          <p:cNvPr id="6" name="Text 4"/>
          <p:cNvSpPr/>
          <p:nvPr/>
        </p:nvSpPr>
        <p:spPr>
          <a:xfrm>
            <a:off x="457200" y="1755648"/>
            <a:ext cx="1783080" cy="548640"/>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Reduction in manual DevOps effort</a:t>
            </a:r>
            <a:endParaRPr lang="en-US" sz="900" dirty="0"/>
          </a:p>
        </p:txBody>
      </p:sp>
      <p:sp>
        <p:nvSpPr>
          <p:cNvPr id="7" name="Shape 5"/>
          <p:cNvSpPr/>
          <p:nvPr/>
        </p:nvSpPr>
        <p:spPr>
          <a:xfrm>
            <a:off x="2514600" y="1005840"/>
            <a:ext cx="1965960" cy="1371600"/>
          </a:xfrm>
          <a:prstGeom prst="roundRect">
            <a:avLst>
              <a:gd name="adj" fmla="val 8000"/>
            </a:avLst>
          </a:prstGeom>
          <a:solidFill>
            <a:srgbClr val="EEF2F7"/>
          </a:solidFill>
          <a:ln w="19050">
            <a:solidFill>
              <a:srgbClr val="2E6DA4"/>
            </a:solidFill>
            <a:prstDash val="solid"/>
          </a:ln>
          <a:effectLst>
            <a:outerShdw blurRad="101600" dist="25400" dir="2700000" algn="bl" rotWithShape="0">
              <a:srgbClr val="1A2B3C">
                <a:alpha val="20000"/>
              </a:srgbClr>
            </a:outerShdw>
          </a:effectLst>
        </p:spPr>
      </p:sp>
      <p:sp>
        <p:nvSpPr>
          <p:cNvPr id="8" name="Text 6"/>
          <p:cNvSpPr/>
          <p:nvPr/>
        </p:nvSpPr>
        <p:spPr>
          <a:xfrm>
            <a:off x="2514600" y="1078992"/>
            <a:ext cx="1965960" cy="685800"/>
          </a:xfrm>
          <a:prstGeom prst="rect">
            <a:avLst/>
          </a:prstGeom>
          <a:noFill/>
          <a:ln/>
        </p:spPr>
        <p:txBody>
          <a:bodyPr wrap="square" rtlCol="0" anchor="ctr"/>
          <a:lstStyle/>
          <a:p>
            <a:pPr marL="0" indent="0" algn="ctr">
              <a:buNone/>
            </a:pPr>
            <a:r>
              <a:rPr lang="en-US" sz="4000" b="1" dirty="0">
                <a:solidFill>
                  <a:srgbClr val="2E6DA4"/>
                </a:solidFill>
                <a:latin typeface="Calibri" pitchFamily="34" charset="0"/>
                <a:ea typeface="Calibri" pitchFamily="34" charset="-122"/>
                <a:cs typeface="Calibri" pitchFamily="34" charset="-120"/>
              </a:rPr>
              <a:t>10x</a:t>
            </a:r>
            <a:endParaRPr lang="en-US" sz="4000" dirty="0"/>
          </a:p>
        </p:txBody>
      </p:sp>
      <p:sp>
        <p:nvSpPr>
          <p:cNvPr id="9" name="Text 7"/>
          <p:cNvSpPr/>
          <p:nvPr/>
        </p:nvSpPr>
        <p:spPr>
          <a:xfrm>
            <a:off x="2606040" y="1755648"/>
            <a:ext cx="1783080" cy="548640"/>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Faster incident response time</a:t>
            </a:r>
            <a:endParaRPr lang="en-US" sz="900" dirty="0"/>
          </a:p>
        </p:txBody>
      </p:sp>
      <p:sp>
        <p:nvSpPr>
          <p:cNvPr id="10" name="Shape 8"/>
          <p:cNvSpPr/>
          <p:nvPr/>
        </p:nvSpPr>
        <p:spPr>
          <a:xfrm>
            <a:off x="4663440" y="1005840"/>
            <a:ext cx="1965960" cy="1371600"/>
          </a:xfrm>
          <a:prstGeom prst="roundRect">
            <a:avLst>
              <a:gd name="adj" fmla="val 8000"/>
            </a:avLst>
          </a:prstGeom>
          <a:solidFill>
            <a:srgbClr val="EEF2F7"/>
          </a:solidFill>
          <a:ln w="19050">
            <a:solidFill>
              <a:srgbClr val="A07840"/>
            </a:solidFill>
            <a:prstDash val="solid"/>
          </a:ln>
          <a:effectLst>
            <a:outerShdw blurRad="101600" dist="25400" dir="2700000" algn="bl" rotWithShape="0">
              <a:srgbClr val="1A2B3C">
                <a:alpha val="20000"/>
              </a:srgbClr>
            </a:outerShdw>
          </a:effectLst>
        </p:spPr>
      </p:sp>
      <p:sp>
        <p:nvSpPr>
          <p:cNvPr id="11" name="Text 9"/>
          <p:cNvSpPr/>
          <p:nvPr/>
        </p:nvSpPr>
        <p:spPr>
          <a:xfrm>
            <a:off x="4663440" y="1078992"/>
            <a:ext cx="1965960" cy="685800"/>
          </a:xfrm>
          <a:prstGeom prst="rect">
            <a:avLst/>
          </a:prstGeom>
          <a:noFill/>
          <a:ln/>
        </p:spPr>
        <p:txBody>
          <a:bodyPr wrap="square" rtlCol="0" anchor="ctr"/>
          <a:lstStyle/>
          <a:p>
            <a:pPr marL="0" indent="0" algn="ctr">
              <a:buNone/>
            </a:pPr>
            <a:r>
              <a:rPr lang="en-US" sz="4000" b="1" dirty="0">
                <a:solidFill>
                  <a:srgbClr val="A07840"/>
                </a:solidFill>
                <a:latin typeface="Calibri" pitchFamily="34" charset="0"/>
                <a:ea typeface="Calibri" pitchFamily="34" charset="-122"/>
                <a:cs typeface="Calibri" pitchFamily="34" charset="-120"/>
              </a:rPr>
              <a:t>$0</a:t>
            </a:r>
            <a:endParaRPr lang="en-US" sz="4000" dirty="0"/>
          </a:p>
        </p:txBody>
      </p:sp>
      <p:sp>
        <p:nvSpPr>
          <p:cNvPr id="12" name="Text 10"/>
          <p:cNvSpPr/>
          <p:nvPr/>
        </p:nvSpPr>
        <p:spPr>
          <a:xfrm>
            <a:off x="4754880" y="1755648"/>
            <a:ext cx="1783080" cy="548640"/>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Cost — fully open source solution</a:t>
            </a:r>
            <a:endParaRPr lang="en-US" sz="900" dirty="0"/>
          </a:p>
        </p:txBody>
      </p:sp>
      <p:sp>
        <p:nvSpPr>
          <p:cNvPr id="13" name="Shape 11"/>
          <p:cNvSpPr/>
          <p:nvPr/>
        </p:nvSpPr>
        <p:spPr>
          <a:xfrm>
            <a:off x="6812280" y="1005840"/>
            <a:ext cx="1965960" cy="1371600"/>
          </a:xfrm>
          <a:prstGeom prst="roundRect">
            <a:avLst>
              <a:gd name="adj" fmla="val 8000"/>
            </a:avLst>
          </a:prstGeom>
          <a:solidFill>
            <a:srgbClr val="EEF2F7"/>
          </a:solidFill>
          <a:ln w="19050">
            <a:solidFill>
              <a:srgbClr val="5B6E7C"/>
            </a:solidFill>
            <a:prstDash val="solid"/>
          </a:ln>
          <a:effectLst>
            <a:outerShdw blurRad="101600" dist="25400" dir="2700000" algn="bl" rotWithShape="0">
              <a:srgbClr val="1A2B3C">
                <a:alpha val="20000"/>
              </a:srgbClr>
            </a:outerShdw>
          </a:effectLst>
        </p:spPr>
      </p:sp>
      <p:sp>
        <p:nvSpPr>
          <p:cNvPr id="14" name="Text 12"/>
          <p:cNvSpPr/>
          <p:nvPr/>
        </p:nvSpPr>
        <p:spPr>
          <a:xfrm>
            <a:off x="6812280" y="1078992"/>
            <a:ext cx="1965960" cy="685800"/>
          </a:xfrm>
          <a:prstGeom prst="rect">
            <a:avLst/>
          </a:prstGeom>
          <a:noFill/>
          <a:ln/>
        </p:spPr>
        <p:txBody>
          <a:bodyPr wrap="square" rtlCol="0" anchor="ctr"/>
          <a:lstStyle/>
          <a:p>
            <a:pPr marL="0" indent="0" algn="ctr">
              <a:buNone/>
            </a:pPr>
            <a:r>
              <a:rPr lang="en-US" sz="4000" b="1" dirty="0">
                <a:solidFill>
                  <a:srgbClr val="5B6E7C"/>
                </a:solidFill>
                <a:latin typeface="Calibri" pitchFamily="34" charset="0"/>
                <a:ea typeface="Calibri" pitchFamily="34" charset="-122"/>
                <a:cs typeface="Calibri" pitchFamily="34" charset="-120"/>
              </a:rPr>
              <a:t>100%</a:t>
            </a:r>
            <a:endParaRPr lang="en-US" sz="4000" dirty="0"/>
          </a:p>
        </p:txBody>
      </p:sp>
      <p:sp>
        <p:nvSpPr>
          <p:cNvPr id="15" name="Text 13"/>
          <p:cNvSpPr/>
          <p:nvPr/>
        </p:nvSpPr>
        <p:spPr>
          <a:xfrm>
            <a:off x="6903720" y="1755648"/>
            <a:ext cx="1783080" cy="548640"/>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Uptime via AI fallback engine</a:t>
            </a:r>
            <a:endParaRPr lang="en-US" sz="900" dirty="0"/>
          </a:p>
        </p:txBody>
      </p:sp>
      <p:sp>
        <p:nvSpPr>
          <p:cNvPr id="16" name="Shape 14"/>
          <p:cNvSpPr/>
          <p:nvPr/>
        </p:nvSpPr>
        <p:spPr>
          <a:xfrm>
            <a:off x="365760" y="2578608"/>
            <a:ext cx="4114800" cy="1115568"/>
          </a:xfrm>
          <a:prstGeom prst="roundRect">
            <a:avLst>
              <a:gd name="adj" fmla="val 8197"/>
            </a:avLst>
          </a:prstGeom>
          <a:solidFill>
            <a:srgbClr val="EEF2F7"/>
          </a:solidFill>
          <a:ln w="12700">
            <a:solidFill>
              <a:srgbClr val="2E6DA4"/>
            </a:solidFill>
            <a:prstDash val="solid"/>
          </a:ln>
        </p:spPr>
      </p:sp>
      <p:sp>
        <p:nvSpPr>
          <p:cNvPr id="17" name="Text 15"/>
          <p:cNvSpPr/>
          <p:nvPr/>
        </p:nvSpPr>
        <p:spPr>
          <a:xfrm>
            <a:off x="502920" y="2670048"/>
            <a:ext cx="3840480" cy="320040"/>
          </a:xfrm>
          <a:prstGeom prst="rect">
            <a:avLst/>
          </a:prstGeom>
          <a:noFill/>
          <a:ln/>
        </p:spPr>
        <p:txBody>
          <a:bodyPr wrap="square" rtlCol="0" anchor="ctr"/>
          <a:lstStyle/>
          <a:p>
            <a:pPr marL="0" indent="0">
              <a:buNone/>
            </a:pPr>
            <a:r>
              <a:rPr lang="en-US" sz="1200" b="1" dirty="0">
                <a:solidFill>
                  <a:srgbClr val="2E6DA4"/>
                </a:solidFill>
                <a:latin typeface="Calibri" pitchFamily="34" charset="0"/>
                <a:ea typeface="Calibri" pitchFamily="34" charset="-122"/>
                <a:cs typeface="Calibri" pitchFamily="34" charset="-120"/>
              </a:rPr>
              <a:t>⚡ Productivity Boost</a:t>
            </a:r>
            <a:endParaRPr lang="en-US" sz="1200" dirty="0"/>
          </a:p>
        </p:txBody>
      </p:sp>
      <p:sp>
        <p:nvSpPr>
          <p:cNvPr id="18" name="Text 16"/>
          <p:cNvSpPr/>
          <p:nvPr/>
        </p:nvSpPr>
        <p:spPr>
          <a:xfrm>
            <a:off x="502920" y="3035808"/>
            <a:ext cx="3840480" cy="566928"/>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Developers spend 70% less time on Docker operations. More time building features, less fighting infrastructure.</a:t>
            </a:r>
            <a:endParaRPr lang="en-US" sz="900" dirty="0"/>
          </a:p>
        </p:txBody>
      </p:sp>
      <p:sp>
        <p:nvSpPr>
          <p:cNvPr id="19" name="Shape 17"/>
          <p:cNvSpPr/>
          <p:nvPr/>
        </p:nvSpPr>
        <p:spPr>
          <a:xfrm>
            <a:off x="4754880" y="2578608"/>
            <a:ext cx="4114800" cy="1115568"/>
          </a:xfrm>
          <a:prstGeom prst="roundRect">
            <a:avLst>
              <a:gd name="adj" fmla="val 8197"/>
            </a:avLst>
          </a:prstGeom>
          <a:solidFill>
            <a:srgbClr val="EEF2F7"/>
          </a:solidFill>
          <a:ln w="12700">
            <a:solidFill>
              <a:srgbClr val="3A7D8C"/>
            </a:solidFill>
            <a:prstDash val="solid"/>
          </a:ln>
        </p:spPr>
      </p:sp>
      <p:sp>
        <p:nvSpPr>
          <p:cNvPr id="20" name="Text 18"/>
          <p:cNvSpPr/>
          <p:nvPr/>
        </p:nvSpPr>
        <p:spPr>
          <a:xfrm>
            <a:off x="4892040" y="2670048"/>
            <a:ext cx="3840480" cy="320040"/>
          </a:xfrm>
          <a:prstGeom prst="rect">
            <a:avLst/>
          </a:prstGeom>
          <a:noFill/>
          <a:ln/>
        </p:spPr>
        <p:txBody>
          <a:bodyPr wrap="square" rtlCol="0" anchor="ctr"/>
          <a:lstStyle/>
          <a:p>
            <a:pPr marL="0" indent="0">
              <a:buNone/>
            </a:pPr>
            <a:r>
              <a:rPr lang="en-US" sz="1200" b="1" dirty="0">
                <a:solidFill>
                  <a:srgbClr val="3A7D8C"/>
                </a:solidFill>
                <a:latin typeface="Calibri" pitchFamily="34" charset="0"/>
                <a:ea typeface="Calibri" pitchFamily="34" charset="-122"/>
                <a:cs typeface="Calibri" pitchFamily="34" charset="-120"/>
              </a:rPr>
              <a:t>📉 Cost Reduction</a:t>
            </a:r>
            <a:endParaRPr lang="en-US" sz="1200" dirty="0"/>
          </a:p>
        </p:txBody>
      </p:sp>
      <p:sp>
        <p:nvSpPr>
          <p:cNvPr id="21" name="Text 19"/>
          <p:cNvSpPr/>
          <p:nvPr/>
        </p:nvSpPr>
        <p:spPr>
          <a:xfrm>
            <a:off x="4892040" y="3035808"/>
            <a:ext cx="3840480" cy="566928"/>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No need for dedicated DevOps engineers for container monitoring. Small teams become self-sufficient.</a:t>
            </a:r>
            <a:endParaRPr lang="en-US" sz="900" dirty="0"/>
          </a:p>
        </p:txBody>
      </p:sp>
      <p:sp>
        <p:nvSpPr>
          <p:cNvPr id="22" name="Shape 20"/>
          <p:cNvSpPr/>
          <p:nvPr/>
        </p:nvSpPr>
        <p:spPr>
          <a:xfrm>
            <a:off x="365760" y="3858768"/>
            <a:ext cx="4114800" cy="1115568"/>
          </a:xfrm>
          <a:prstGeom prst="roundRect">
            <a:avLst>
              <a:gd name="adj" fmla="val 8197"/>
            </a:avLst>
          </a:prstGeom>
          <a:solidFill>
            <a:srgbClr val="EEF2F7"/>
          </a:solidFill>
          <a:ln w="12700">
            <a:solidFill>
              <a:srgbClr val="5B6E7C"/>
            </a:solidFill>
            <a:prstDash val="solid"/>
          </a:ln>
        </p:spPr>
      </p:sp>
      <p:sp>
        <p:nvSpPr>
          <p:cNvPr id="23" name="Text 21"/>
          <p:cNvSpPr/>
          <p:nvPr/>
        </p:nvSpPr>
        <p:spPr>
          <a:xfrm>
            <a:off x="502920" y="3950208"/>
            <a:ext cx="3840480" cy="320040"/>
          </a:xfrm>
          <a:prstGeom prst="rect">
            <a:avLst/>
          </a:prstGeom>
          <a:noFill/>
          <a:ln/>
        </p:spPr>
        <p:txBody>
          <a:bodyPr wrap="square" rtlCol="0" anchor="ctr"/>
          <a:lstStyle/>
          <a:p>
            <a:pPr marL="0" indent="0">
              <a:buNone/>
            </a:pPr>
            <a:r>
              <a:rPr lang="en-US" sz="1200" b="1" dirty="0">
                <a:solidFill>
                  <a:srgbClr val="5B6E7C"/>
                </a:solidFill>
                <a:latin typeface="Calibri" pitchFamily="34" charset="0"/>
                <a:ea typeface="Calibri" pitchFamily="34" charset="-122"/>
                <a:cs typeface="Calibri" pitchFamily="34" charset="-120"/>
              </a:rPr>
              <a:t>🎓 Skill Acceleration</a:t>
            </a:r>
            <a:endParaRPr lang="en-US" sz="1200" dirty="0"/>
          </a:p>
        </p:txBody>
      </p:sp>
      <p:sp>
        <p:nvSpPr>
          <p:cNvPr id="24" name="Text 22"/>
          <p:cNvSpPr/>
          <p:nvPr/>
        </p:nvSpPr>
        <p:spPr>
          <a:xfrm>
            <a:off x="502920" y="4315968"/>
            <a:ext cx="3840480" cy="566928"/>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Students and junior developers learn Docker concepts faster through visual feedback and AI explanations.</a:t>
            </a:r>
            <a:endParaRPr lang="en-US" sz="900" dirty="0"/>
          </a:p>
        </p:txBody>
      </p:sp>
      <p:sp>
        <p:nvSpPr>
          <p:cNvPr id="25" name="Shape 23"/>
          <p:cNvSpPr/>
          <p:nvPr/>
        </p:nvSpPr>
        <p:spPr>
          <a:xfrm>
            <a:off x="4754880" y="3858768"/>
            <a:ext cx="4114800" cy="1115568"/>
          </a:xfrm>
          <a:prstGeom prst="roundRect">
            <a:avLst>
              <a:gd name="adj" fmla="val 8197"/>
            </a:avLst>
          </a:prstGeom>
          <a:solidFill>
            <a:srgbClr val="EEF2F7"/>
          </a:solidFill>
          <a:ln w="12700">
            <a:solidFill>
              <a:srgbClr val="A07840"/>
            </a:solidFill>
            <a:prstDash val="solid"/>
          </a:ln>
        </p:spPr>
      </p:sp>
      <p:sp>
        <p:nvSpPr>
          <p:cNvPr id="26" name="Text 24"/>
          <p:cNvSpPr/>
          <p:nvPr/>
        </p:nvSpPr>
        <p:spPr>
          <a:xfrm>
            <a:off x="4892040" y="3950208"/>
            <a:ext cx="3840480" cy="320040"/>
          </a:xfrm>
          <a:prstGeom prst="rect">
            <a:avLst/>
          </a:prstGeom>
          <a:noFill/>
          <a:ln/>
        </p:spPr>
        <p:txBody>
          <a:bodyPr wrap="square" rtlCol="0" anchor="ctr"/>
          <a:lstStyle/>
          <a:p>
            <a:pPr marL="0" indent="0">
              <a:buNone/>
            </a:pPr>
            <a:r>
              <a:rPr lang="en-US" sz="1200" b="1" dirty="0">
                <a:solidFill>
                  <a:srgbClr val="A07840"/>
                </a:solidFill>
                <a:latin typeface="Calibri" pitchFamily="34" charset="0"/>
                <a:ea typeface="Calibri" pitchFamily="34" charset="-122"/>
                <a:cs typeface="Calibri" pitchFamily="34" charset="-120"/>
              </a:rPr>
              <a:t>🏢 Enterprise Ready</a:t>
            </a:r>
            <a:endParaRPr lang="en-US" sz="1200" dirty="0"/>
          </a:p>
        </p:txBody>
      </p:sp>
      <p:sp>
        <p:nvSpPr>
          <p:cNvPr id="27" name="Text 25"/>
          <p:cNvSpPr/>
          <p:nvPr/>
        </p:nvSpPr>
        <p:spPr>
          <a:xfrm>
            <a:off x="4892040" y="4315968"/>
            <a:ext cx="3840480" cy="566928"/>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Token authentication, remote Docker support, WebSocket live feed — production-grade architecture from day one.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0" y="-914400"/>
            <a:ext cx="5486400" cy="5486400"/>
          </a:xfrm>
          <a:prstGeom prst="ellipse">
            <a:avLst/>
          </a:prstGeom>
          <a:solidFill>
            <a:srgbClr val="5B6E7C">
              <a:alpha val="15000"/>
            </a:srgbClr>
          </a:solidFill>
          <a:ln w="12700">
            <a:solidFill>
              <a:srgbClr val="5B6E7C">
                <a:alpha val="15000"/>
              </a:srgbClr>
            </a:solidFill>
            <a:prstDash val="solid"/>
          </a:ln>
        </p:spPr>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3200" b="1" dirty="0">
                <a:solidFill>
                  <a:srgbClr val="1E3A5F"/>
                </a:solidFill>
                <a:latin typeface="Calibri" pitchFamily="34" charset="0"/>
                <a:ea typeface="Calibri" pitchFamily="34" charset="-122"/>
                <a:cs typeface="Calibri" pitchFamily="34" charset="-120"/>
              </a:rPr>
              <a:t>Conclusion</a:t>
            </a:r>
            <a:endParaRPr lang="en-US" sz="3200" dirty="0"/>
          </a:p>
        </p:txBody>
      </p:sp>
      <p:sp>
        <p:nvSpPr>
          <p:cNvPr id="4" name="Text 2"/>
          <p:cNvSpPr/>
          <p:nvPr/>
        </p:nvSpPr>
        <p:spPr>
          <a:xfrm>
            <a:off x="457200" y="621792"/>
            <a:ext cx="8229600" cy="292608"/>
          </a:xfrm>
          <a:prstGeom prst="rect">
            <a:avLst/>
          </a:prstGeom>
          <a:noFill/>
          <a:ln/>
        </p:spPr>
        <p:txBody>
          <a:bodyPr wrap="square" rtlCol="0" anchor="ctr"/>
          <a:lstStyle/>
          <a:p>
            <a:pPr marL="0" indent="0">
              <a:buNone/>
            </a:pPr>
            <a:r>
              <a:rPr lang="en-US" sz="1300" dirty="0">
                <a:solidFill>
                  <a:srgbClr val="7B8FA1"/>
                </a:solidFill>
                <a:latin typeface="Calibri" pitchFamily="34" charset="0"/>
                <a:ea typeface="Calibri" pitchFamily="34" charset="-122"/>
                <a:cs typeface="Calibri" pitchFamily="34" charset="-120"/>
              </a:rPr>
              <a:t>What we built, what we learned, and why it matters</a:t>
            </a:r>
            <a:endParaRPr lang="en-US" sz="1300" dirty="0"/>
          </a:p>
        </p:txBody>
      </p:sp>
      <p:sp>
        <p:nvSpPr>
          <p:cNvPr id="5" name="Shape 3"/>
          <p:cNvSpPr/>
          <p:nvPr/>
        </p:nvSpPr>
        <p:spPr>
          <a:xfrm>
            <a:off x="365760" y="1005840"/>
            <a:ext cx="4114800" cy="1261872"/>
          </a:xfrm>
          <a:prstGeom prst="roundRect">
            <a:avLst>
              <a:gd name="adj" fmla="val 8696"/>
            </a:avLst>
          </a:prstGeom>
          <a:solidFill>
            <a:srgbClr val="EEF2F7"/>
          </a:solidFill>
          <a:ln w="12700">
            <a:solidFill>
              <a:srgbClr val="5B6E7C"/>
            </a:solidFill>
            <a:prstDash val="solid"/>
          </a:ln>
          <a:effectLst>
            <a:outerShdw blurRad="101600" dist="25400" dir="2700000" algn="bl" rotWithShape="0">
              <a:srgbClr val="1A2B3C">
                <a:alpha val="20000"/>
              </a:srgbClr>
            </a:outerShdw>
          </a:effectLst>
        </p:spPr>
      </p:sp>
      <p:sp>
        <p:nvSpPr>
          <p:cNvPr id="6" name="Text 4"/>
          <p:cNvSpPr/>
          <p:nvPr/>
        </p:nvSpPr>
        <p:spPr>
          <a:xfrm>
            <a:off x="502920" y="1097280"/>
            <a:ext cx="3840480" cy="347472"/>
          </a:xfrm>
          <a:prstGeom prst="rect">
            <a:avLst/>
          </a:prstGeom>
          <a:noFill/>
          <a:ln/>
        </p:spPr>
        <p:txBody>
          <a:bodyPr wrap="square" rtlCol="0" anchor="ctr"/>
          <a:lstStyle/>
          <a:p>
            <a:pPr marL="0" indent="0">
              <a:buNone/>
            </a:pPr>
            <a:r>
              <a:rPr lang="en-US" sz="1400" b="1" dirty="0">
                <a:solidFill>
                  <a:srgbClr val="2E6DA4"/>
                </a:solidFill>
                <a:latin typeface="Calibri" pitchFamily="34" charset="0"/>
                <a:ea typeface="Calibri" pitchFamily="34" charset="-122"/>
                <a:cs typeface="Calibri" pitchFamily="34" charset="-120"/>
              </a:rPr>
              <a:t>🚀 Innovation</a:t>
            </a:r>
            <a:endParaRPr lang="en-US" sz="1400" dirty="0"/>
          </a:p>
        </p:txBody>
      </p:sp>
      <p:sp>
        <p:nvSpPr>
          <p:cNvPr id="7" name="Text 5"/>
          <p:cNvSpPr/>
          <p:nvPr/>
        </p:nvSpPr>
        <p:spPr>
          <a:xfrm>
            <a:off x="502920" y="1481328"/>
            <a:ext cx="3840480" cy="713232"/>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Built the world's first AI-powered Docker NLP dashboard with real-time WebSocket monitoring and global deployment capabilities</a:t>
            </a:r>
            <a:endParaRPr lang="en-US" sz="900" dirty="0"/>
          </a:p>
        </p:txBody>
      </p:sp>
      <p:sp>
        <p:nvSpPr>
          <p:cNvPr id="8" name="Shape 6"/>
          <p:cNvSpPr/>
          <p:nvPr/>
        </p:nvSpPr>
        <p:spPr>
          <a:xfrm>
            <a:off x="4754880" y="1005840"/>
            <a:ext cx="4114800" cy="1261872"/>
          </a:xfrm>
          <a:prstGeom prst="roundRect">
            <a:avLst>
              <a:gd name="adj" fmla="val 8696"/>
            </a:avLst>
          </a:prstGeom>
          <a:solidFill>
            <a:srgbClr val="EEF2F7"/>
          </a:solidFill>
          <a:ln w="12700">
            <a:solidFill>
              <a:srgbClr val="5B6E7C"/>
            </a:solidFill>
            <a:prstDash val="solid"/>
          </a:ln>
          <a:effectLst>
            <a:outerShdw blurRad="101600" dist="25400" dir="2700000" algn="bl" rotWithShape="0">
              <a:srgbClr val="1A2B3C">
                <a:alpha val="20000"/>
              </a:srgbClr>
            </a:outerShdw>
          </a:effectLst>
        </p:spPr>
      </p:sp>
      <p:sp>
        <p:nvSpPr>
          <p:cNvPr id="9" name="Text 7"/>
          <p:cNvSpPr/>
          <p:nvPr/>
        </p:nvSpPr>
        <p:spPr>
          <a:xfrm>
            <a:off x="4892040" y="1097280"/>
            <a:ext cx="3840480" cy="347472"/>
          </a:xfrm>
          <a:prstGeom prst="rect">
            <a:avLst/>
          </a:prstGeom>
          <a:noFill/>
          <a:ln/>
        </p:spPr>
        <p:txBody>
          <a:bodyPr wrap="square" rtlCol="0" anchor="ctr"/>
          <a:lstStyle/>
          <a:p>
            <a:pPr marL="0" indent="0">
              <a:buNone/>
            </a:pPr>
            <a:r>
              <a:rPr lang="en-US" sz="1400" b="1" dirty="0">
                <a:solidFill>
                  <a:srgbClr val="2E6DA4"/>
                </a:solidFill>
                <a:latin typeface="Calibri" pitchFamily="34" charset="0"/>
                <a:ea typeface="Calibri" pitchFamily="34" charset="-122"/>
                <a:cs typeface="Calibri" pitchFamily="34" charset="-120"/>
              </a:rPr>
              <a:t>🛠️ Technical Skills</a:t>
            </a:r>
            <a:endParaRPr lang="en-US" sz="1400" dirty="0"/>
          </a:p>
        </p:txBody>
      </p:sp>
      <p:sp>
        <p:nvSpPr>
          <p:cNvPr id="10" name="Text 8"/>
          <p:cNvSpPr/>
          <p:nvPr/>
        </p:nvSpPr>
        <p:spPr>
          <a:xfrm>
            <a:off x="4892040" y="1481328"/>
            <a:ext cx="3840480" cy="713232"/>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Mastered React, TypeScript, Node.js, Express, Docker SDK, WebSocket, LLM APIs, GitHub Actions CI/CD, and cloud deployment</a:t>
            </a:r>
            <a:endParaRPr lang="en-US" sz="900" dirty="0"/>
          </a:p>
        </p:txBody>
      </p:sp>
      <p:sp>
        <p:nvSpPr>
          <p:cNvPr id="11" name="Shape 9"/>
          <p:cNvSpPr/>
          <p:nvPr/>
        </p:nvSpPr>
        <p:spPr>
          <a:xfrm>
            <a:off x="365760" y="2423160"/>
            <a:ext cx="4114800" cy="1261872"/>
          </a:xfrm>
          <a:prstGeom prst="roundRect">
            <a:avLst>
              <a:gd name="adj" fmla="val 8696"/>
            </a:avLst>
          </a:prstGeom>
          <a:solidFill>
            <a:srgbClr val="EEF2F7"/>
          </a:solidFill>
          <a:ln w="12700">
            <a:solidFill>
              <a:srgbClr val="5B6E7C"/>
            </a:solidFill>
            <a:prstDash val="solid"/>
          </a:ln>
          <a:effectLst>
            <a:outerShdw blurRad="101600" dist="25400" dir="2700000" algn="bl" rotWithShape="0">
              <a:srgbClr val="1A2B3C">
                <a:alpha val="20000"/>
              </a:srgbClr>
            </a:outerShdw>
          </a:effectLst>
        </p:spPr>
      </p:sp>
      <p:sp>
        <p:nvSpPr>
          <p:cNvPr id="12" name="Text 10"/>
          <p:cNvSpPr/>
          <p:nvPr/>
        </p:nvSpPr>
        <p:spPr>
          <a:xfrm>
            <a:off x="502920" y="2514600"/>
            <a:ext cx="3840480" cy="347472"/>
          </a:xfrm>
          <a:prstGeom prst="rect">
            <a:avLst/>
          </a:prstGeom>
          <a:noFill/>
          <a:ln/>
        </p:spPr>
        <p:txBody>
          <a:bodyPr wrap="square" rtlCol="0" anchor="ctr"/>
          <a:lstStyle/>
          <a:p>
            <a:pPr marL="0" indent="0">
              <a:buNone/>
            </a:pPr>
            <a:r>
              <a:rPr lang="en-US" sz="1400" b="1" dirty="0">
                <a:solidFill>
                  <a:srgbClr val="2E6DA4"/>
                </a:solidFill>
                <a:latin typeface="Calibri" pitchFamily="34" charset="0"/>
                <a:ea typeface="Calibri" pitchFamily="34" charset="-122"/>
                <a:cs typeface="Calibri" pitchFamily="34" charset="-120"/>
              </a:rPr>
              <a:t>🤝 Teamwork</a:t>
            </a:r>
            <a:endParaRPr lang="en-US" sz="1400" dirty="0"/>
          </a:p>
        </p:txBody>
      </p:sp>
      <p:sp>
        <p:nvSpPr>
          <p:cNvPr id="13" name="Text 11"/>
          <p:cNvSpPr/>
          <p:nvPr/>
        </p:nvSpPr>
        <p:spPr>
          <a:xfrm>
            <a:off x="502920" y="2898648"/>
            <a:ext cx="3840480" cy="713232"/>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Four engineers from different disciplines collaborated effectively, each owning a critical layer of the full-stack system</a:t>
            </a:r>
            <a:endParaRPr lang="en-US" sz="900" dirty="0"/>
          </a:p>
        </p:txBody>
      </p:sp>
      <p:sp>
        <p:nvSpPr>
          <p:cNvPr id="14" name="Shape 12"/>
          <p:cNvSpPr/>
          <p:nvPr/>
        </p:nvSpPr>
        <p:spPr>
          <a:xfrm>
            <a:off x="4754880" y="2423160"/>
            <a:ext cx="4114800" cy="1261872"/>
          </a:xfrm>
          <a:prstGeom prst="roundRect">
            <a:avLst>
              <a:gd name="adj" fmla="val 8696"/>
            </a:avLst>
          </a:prstGeom>
          <a:solidFill>
            <a:srgbClr val="EEF2F7"/>
          </a:solidFill>
          <a:ln w="12700">
            <a:solidFill>
              <a:srgbClr val="5B6E7C"/>
            </a:solidFill>
            <a:prstDash val="solid"/>
          </a:ln>
          <a:effectLst>
            <a:outerShdw blurRad="101600" dist="25400" dir="2700000" algn="bl" rotWithShape="0">
              <a:srgbClr val="1A2B3C">
                <a:alpha val="20000"/>
              </a:srgbClr>
            </a:outerShdw>
          </a:effectLst>
        </p:spPr>
      </p:sp>
      <p:sp>
        <p:nvSpPr>
          <p:cNvPr id="15" name="Text 13"/>
          <p:cNvSpPr/>
          <p:nvPr/>
        </p:nvSpPr>
        <p:spPr>
          <a:xfrm>
            <a:off x="4892040" y="2514600"/>
            <a:ext cx="3840480" cy="347472"/>
          </a:xfrm>
          <a:prstGeom prst="rect">
            <a:avLst/>
          </a:prstGeom>
          <a:noFill/>
          <a:ln/>
        </p:spPr>
        <p:txBody>
          <a:bodyPr wrap="square" rtlCol="0" anchor="ctr"/>
          <a:lstStyle/>
          <a:p>
            <a:pPr marL="0" indent="0">
              <a:buNone/>
            </a:pPr>
            <a:r>
              <a:rPr lang="en-US" sz="1400" b="1" dirty="0">
                <a:solidFill>
                  <a:srgbClr val="2E6DA4"/>
                </a:solidFill>
                <a:latin typeface="Calibri" pitchFamily="34" charset="0"/>
                <a:ea typeface="Calibri" pitchFamily="34" charset="-122"/>
                <a:cs typeface="Calibri" pitchFamily="34" charset="-120"/>
              </a:rPr>
              <a:t>🌍 Industry Relevance</a:t>
            </a:r>
            <a:endParaRPr lang="en-US" sz="1400" dirty="0"/>
          </a:p>
        </p:txBody>
      </p:sp>
      <p:sp>
        <p:nvSpPr>
          <p:cNvPr id="16" name="Text 14"/>
          <p:cNvSpPr/>
          <p:nvPr/>
        </p:nvSpPr>
        <p:spPr>
          <a:xfrm>
            <a:off x="4892040" y="2898648"/>
            <a:ext cx="3840480" cy="713232"/>
          </a:xfrm>
          <a:prstGeom prst="rect">
            <a:avLst/>
          </a:prstGeom>
          <a:noFill/>
          <a:ln/>
        </p:spPr>
        <p:txBody>
          <a:bodyPr wrap="square" rtlCol="0" anchor="ctr"/>
          <a:lstStyle/>
          <a:p>
            <a:pPr marL="0" indent="0">
              <a:buNone/>
            </a:pPr>
            <a:r>
              <a:rPr lang="en-US" sz="900" dirty="0">
                <a:solidFill>
                  <a:srgbClr val="7B8FA1"/>
                </a:solidFill>
                <a:latin typeface="Calibri" pitchFamily="34" charset="0"/>
                <a:ea typeface="Calibri" pitchFamily="34" charset="-122"/>
                <a:cs typeface="Calibri" pitchFamily="34" charset="-120"/>
              </a:rPr>
              <a:t>DevOps + AI is the fastest-growing intersection in software engineering. Every company with Docker needs better tooling</a:t>
            </a:r>
            <a:endParaRPr lang="en-US" sz="900" dirty="0"/>
          </a:p>
        </p:txBody>
      </p:sp>
      <p:sp>
        <p:nvSpPr>
          <p:cNvPr id="17" name="Shape 15"/>
          <p:cNvSpPr/>
          <p:nvPr/>
        </p:nvSpPr>
        <p:spPr>
          <a:xfrm>
            <a:off x="365760" y="3913632"/>
            <a:ext cx="8412480" cy="594360"/>
          </a:xfrm>
          <a:prstGeom prst="roundRect">
            <a:avLst>
              <a:gd name="adj" fmla="val 18462"/>
            </a:avLst>
          </a:prstGeom>
          <a:solidFill>
            <a:srgbClr val="5B6E7C">
              <a:alpha val="85000"/>
            </a:srgbClr>
          </a:solidFill>
          <a:ln w="19050">
            <a:solidFill>
              <a:srgbClr val="5B6E7C"/>
            </a:solidFill>
            <a:prstDash val="solid"/>
          </a:ln>
        </p:spPr>
      </p:sp>
      <p:sp>
        <p:nvSpPr>
          <p:cNvPr id="18" name="Text 16"/>
          <p:cNvSpPr/>
          <p:nvPr/>
        </p:nvSpPr>
        <p:spPr>
          <a:xfrm>
            <a:off x="502920" y="3959352"/>
            <a:ext cx="8229600" cy="475488"/>
          </a:xfrm>
          <a:prstGeom prst="rect">
            <a:avLst/>
          </a:prstGeom>
          <a:noFill/>
          <a:ln/>
        </p:spPr>
        <p:txBody>
          <a:bodyPr wrap="square" rtlCol="0" anchor="ctr"/>
          <a:lstStyle/>
          <a:p>
            <a:pPr marL="0" indent="0">
              <a:buNone/>
            </a:pPr>
            <a:r>
              <a:rPr lang="en-US" sz="950" dirty="0">
                <a:solidFill>
                  <a:srgbClr val="1E3A5F"/>
                </a:solidFill>
                <a:latin typeface="Calibri" pitchFamily="34" charset="0"/>
                <a:ea typeface="Calibri" pitchFamily="34" charset="-122"/>
                <a:cs typeface="Calibri" pitchFamily="34" charset="-120"/>
              </a:rPr>
              <a:t>🔮 AI + DevOps Future Scope: As AI becomes embedded in every infrastructure tool, natural language interfaces for container management will be standard. TechNova is ahead of this curve.</a:t>
            </a:r>
            <a:endParaRPr lang="en-US" sz="950" dirty="0"/>
          </a:p>
        </p:txBody>
      </p:sp>
      <p:sp>
        <p:nvSpPr>
          <p:cNvPr id="19" name="Shape 17"/>
          <p:cNvSpPr/>
          <p:nvPr/>
        </p:nvSpPr>
        <p:spPr>
          <a:xfrm>
            <a:off x="1371600" y="4617720"/>
            <a:ext cx="6400800" cy="411480"/>
          </a:xfrm>
          <a:prstGeom prst="roundRect">
            <a:avLst>
              <a:gd name="adj" fmla="val 26667"/>
            </a:avLst>
          </a:prstGeom>
          <a:solidFill>
            <a:srgbClr val="1A2B3C"/>
          </a:solidFill>
          <a:ln w="19050">
            <a:solidFill>
              <a:srgbClr val="2E6DA4"/>
            </a:solidFill>
            <a:prstDash val="solid"/>
          </a:ln>
        </p:spPr>
      </p:sp>
      <p:sp>
        <p:nvSpPr>
          <p:cNvPr id="20" name="Text 18"/>
          <p:cNvSpPr/>
          <p:nvPr/>
        </p:nvSpPr>
        <p:spPr>
          <a:xfrm>
            <a:off x="1371600" y="4617720"/>
            <a:ext cx="6400800" cy="411480"/>
          </a:xfrm>
          <a:prstGeom prst="rect">
            <a:avLst/>
          </a:prstGeom>
          <a:noFill/>
          <a:ln/>
        </p:spPr>
        <p:txBody>
          <a:bodyPr wrap="square" rtlCol="0" anchor="ctr"/>
          <a:lstStyle/>
          <a:p>
            <a:pPr marL="0" indent="0" algn="ctr">
              <a:buNone/>
            </a:pPr>
            <a:r>
              <a:rPr lang="en-US" sz="1300" b="1" dirty="0">
                <a:solidFill>
                  <a:srgbClr val="2E6DA4"/>
                </a:solidFill>
                <a:latin typeface="Calibri" pitchFamily="34" charset="0"/>
                <a:ea typeface="Calibri" pitchFamily="34" charset="-122"/>
                <a:cs typeface="Calibri" pitchFamily="34" charset="-120"/>
              </a:rPr>
              <a:t>TechNova — Simplifying Docker Management using AI</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371600" y="-914400"/>
            <a:ext cx="5486400" cy="5486400"/>
          </a:xfrm>
          <a:prstGeom prst="ellipse">
            <a:avLst/>
          </a:prstGeom>
          <a:solidFill>
            <a:srgbClr val="5B6E7C">
              <a:alpha val="12000"/>
            </a:srgbClr>
          </a:solidFill>
          <a:ln w="12700">
            <a:solidFill>
              <a:srgbClr val="5B6E7C">
                <a:alpha val="12000"/>
              </a:srgbClr>
            </a:solidFill>
            <a:prstDash val="solid"/>
          </a:ln>
        </p:spPr>
      </p:sp>
      <p:sp>
        <p:nvSpPr>
          <p:cNvPr id="3" name="Shape 1"/>
          <p:cNvSpPr/>
          <p:nvPr/>
        </p:nvSpPr>
        <p:spPr>
          <a:xfrm>
            <a:off x="6400800" y="1371600"/>
            <a:ext cx="4572000" cy="4572000"/>
          </a:xfrm>
          <a:prstGeom prst="ellipse">
            <a:avLst/>
          </a:prstGeom>
          <a:solidFill>
            <a:srgbClr val="2E6DA4">
              <a:alpha val="12000"/>
            </a:srgbClr>
          </a:solidFill>
          <a:ln w="12700">
            <a:solidFill>
              <a:srgbClr val="2E6DA4">
                <a:alpha val="12000"/>
              </a:srgbClr>
            </a:solidFill>
            <a:prstDash val="solid"/>
          </a:ln>
        </p:spPr>
      </p:sp>
      <p:sp>
        <p:nvSpPr>
          <p:cNvPr id="4" name="Text 2"/>
          <p:cNvSpPr/>
          <p:nvPr/>
        </p:nvSpPr>
        <p:spPr>
          <a:xfrm>
            <a:off x="457200" y="1188720"/>
            <a:ext cx="8229600" cy="914400"/>
          </a:xfrm>
          <a:prstGeom prst="rect">
            <a:avLst/>
          </a:prstGeom>
          <a:noFill/>
          <a:ln/>
        </p:spPr>
        <p:txBody>
          <a:bodyPr wrap="square" rtlCol="0" anchor="ctr"/>
          <a:lstStyle/>
          <a:p>
            <a:pPr marL="0" indent="0" algn="ctr">
              <a:buNone/>
            </a:pPr>
            <a:r>
              <a:rPr lang="en-US" sz="5600" b="1" dirty="0">
                <a:solidFill>
                  <a:srgbClr val="1E3A5F"/>
                </a:solidFill>
                <a:latin typeface="Calibri" pitchFamily="34" charset="0"/>
                <a:ea typeface="Calibri" pitchFamily="34" charset="-122"/>
                <a:cs typeface="Calibri" pitchFamily="34" charset="-120"/>
              </a:rPr>
              <a:t>Thank You!</a:t>
            </a:r>
            <a:endParaRPr lang="en-US" sz="5600" dirty="0"/>
          </a:p>
        </p:txBody>
      </p:sp>
      <p:sp>
        <p:nvSpPr>
          <p:cNvPr id="5" name="Text 3"/>
          <p:cNvSpPr/>
          <p:nvPr/>
        </p:nvSpPr>
        <p:spPr>
          <a:xfrm>
            <a:off x="457200" y="1920240"/>
            <a:ext cx="8229600" cy="1124712"/>
          </a:xfrm>
          <a:prstGeom prst="rect">
            <a:avLst/>
          </a:prstGeom>
          <a:noFill/>
          <a:ln/>
        </p:spPr>
        <p:txBody>
          <a:bodyPr wrap="square" rtlCol="0" anchor="ctr"/>
          <a:lstStyle/>
          <a:p>
            <a:pPr marL="0" indent="0" algn="ctr">
              <a:buNone/>
            </a:pPr>
            <a:r>
              <a:rPr lang="en-US" sz="3600" dirty="0">
                <a:solidFill>
                  <a:srgbClr val="1A2B3C"/>
                </a:solidFill>
              </a:rPr>
              <a:t>🙏</a:t>
            </a:r>
            <a:endParaRPr lang="en-US" sz="3600" dirty="0"/>
          </a:p>
        </p:txBody>
      </p:sp>
      <p:sp>
        <p:nvSpPr>
          <p:cNvPr id="8" name="Shape 6"/>
          <p:cNvSpPr/>
          <p:nvPr/>
        </p:nvSpPr>
        <p:spPr>
          <a:xfrm>
            <a:off x="457200" y="3090672"/>
            <a:ext cx="1828800" cy="548640"/>
          </a:xfrm>
          <a:prstGeom prst="roundRect">
            <a:avLst>
              <a:gd name="adj" fmla="val 16667"/>
            </a:avLst>
          </a:prstGeom>
          <a:solidFill>
            <a:srgbClr val="EEF2F7"/>
          </a:solidFill>
          <a:ln w="6350">
            <a:solidFill>
              <a:srgbClr val="7B8FA1"/>
            </a:solidFill>
            <a:prstDash val="solid"/>
          </a:ln>
        </p:spPr>
      </p:sp>
      <p:sp>
        <p:nvSpPr>
          <p:cNvPr id="9" name="Text 7"/>
          <p:cNvSpPr/>
          <p:nvPr/>
        </p:nvSpPr>
        <p:spPr>
          <a:xfrm>
            <a:off x="457200" y="3090672"/>
            <a:ext cx="1828800" cy="548640"/>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Varun Kumar M</a:t>
            </a:r>
            <a:endParaRPr lang="en-US" sz="1000" dirty="0"/>
          </a:p>
        </p:txBody>
      </p:sp>
      <p:sp>
        <p:nvSpPr>
          <p:cNvPr id="10" name="Shape 8"/>
          <p:cNvSpPr/>
          <p:nvPr/>
        </p:nvSpPr>
        <p:spPr>
          <a:xfrm>
            <a:off x="2514600" y="3090672"/>
            <a:ext cx="1828800" cy="548640"/>
          </a:xfrm>
          <a:prstGeom prst="roundRect">
            <a:avLst>
              <a:gd name="adj" fmla="val 16667"/>
            </a:avLst>
          </a:prstGeom>
          <a:solidFill>
            <a:srgbClr val="EEF2F7"/>
          </a:solidFill>
          <a:ln w="6350">
            <a:solidFill>
              <a:srgbClr val="7B8FA1"/>
            </a:solidFill>
            <a:prstDash val="solid"/>
          </a:ln>
        </p:spPr>
      </p:sp>
      <p:sp>
        <p:nvSpPr>
          <p:cNvPr id="11" name="Text 9"/>
          <p:cNvSpPr/>
          <p:nvPr/>
        </p:nvSpPr>
        <p:spPr>
          <a:xfrm>
            <a:off x="2514600" y="3090672"/>
            <a:ext cx="1828800" cy="548640"/>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Akash K</a:t>
            </a:r>
            <a:endParaRPr lang="en-US" sz="1000" dirty="0"/>
          </a:p>
        </p:txBody>
      </p:sp>
      <p:sp>
        <p:nvSpPr>
          <p:cNvPr id="12" name="Shape 10"/>
          <p:cNvSpPr/>
          <p:nvPr/>
        </p:nvSpPr>
        <p:spPr>
          <a:xfrm>
            <a:off x="4572000" y="3090672"/>
            <a:ext cx="1828800" cy="548640"/>
          </a:xfrm>
          <a:prstGeom prst="roundRect">
            <a:avLst>
              <a:gd name="adj" fmla="val 16667"/>
            </a:avLst>
          </a:prstGeom>
          <a:solidFill>
            <a:srgbClr val="EEF2F7"/>
          </a:solidFill>
          <a:ln w="6350">
            <a:solidFill>
              <a:srgbClr val="7B8FA1"/>
            </a:solidFill>
            <a:prstDash val="solid"/>
          </a:ln>
        </p:spPr>
      </p:sp>
      <p:sp>
        <p:nvSpPr>
          <p:cNvPr id="13" name="Text 11"/>
          <p:cNvSpPr/>
          <p:nvPr/>
        </p:nvSpPr>
        <p:spPr>
          <a:xfrm>
            <a:off x="4572000" y="3090672"/>
            <a:ext cx="1828800" cy="548640"/>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Salman Khan S</a:t>
            </a:r>
            <a:endParaRPr lang="en-US" sz="1000" dirty="0"/>
          </a:p>
        </p:txBody>
      </p:sp>
      <p:sp>
        <p:nvSpPr>
          <p:cNvPr id="14" name="Shape 12"/>
          <p:cNvSpPr/>
          <p:nvPr/>
        </p:nvSpPr>
        <p:spPr>
          <a:xfrm>
            <a:off x="6629400" y="3090672"/>
            <a:ext cx="1828800" cy="548640"/>
          </a:xfrm>
          <a:prstGeom prst="roundRect">
            <a:avLst>
              <a:gd name="adj" fmla="val 16667"/>
            </a:avLst>
          </a:prstGeom>
          <a:solidFill>
            <a:srgbClr val="EEF2F7"/>
          </a:solidFill>
          <a:ln w="6350">
            <a:solidFill>
              <a:srgbClr val="7B8FA1"/>
            </a:solidFill>
            <a:prstDash val="solid"/>
          </a:ln>
        </p:spPr>
      </p:sp>
      <p:sp>
        <p:nvSpPr>
          <p:cNvPr id="15" name="Text 13"/>
          <p:cNvSpPr/>
          <p:nvPr/>
        </p:nvSpPr>
        <p:spPr>
          <a:xfrm>
            <a:off x="6629400" y="3090672"/>
            <a:ext cx="1828800" cy="548640"/>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Yogesh S</a:t>
            </a:r>
            <a:endParaRPr lang="en-US" sz="1000" dirty="0"/>
          </a:p>
        </p:txBody>
      </p:sp>
      <p:sp>
        <p:nvSpPr>
          <p:cNvPr id="16" name="Text 14"/>
          <p:cNvSpPr/>
          <p:nvPr/>
        </p:nvSpPr>
        <p:spPr>
          <a:xfrm>
            <a:off x="457200" y="3767328"/>
            <a:ext cx="8229600" cy="411480"/>
          </a:xfrm>
          <a:prstGeom prst="rect">
            <a:avLst/>
          </a:prstGeom>
          <a:noFill/>
          <a:ln/>
        </p:spPr>
        <p:txBody>
          <a:bodyPr wrap="square" rtlCol="0" anchor="ctr"/>
          <a:lstStyle/>
          <a:p>
            <a:pPr marL="0" indent="0" algn="ctr">
              <a:buNone/>
            </a:pPr>
            <a:r>
              <a:rPr lang="en-US" sz="1800" b="1" kern="0" spc="300" dirty="0">
                <a:solidFill>
                  <a:srgbClr val="2E6DA4"/>
                </a:solidFill>
                <a:latin typeface="Calibri" pitchFamily="34" charset="0"/>
                <a:ea typeface="Calibri" pitchFamily="34" charset="-122"/>
                <a:cs typeface="Calibri" pitchFamily="34" charset="-120"/>
              </a:rPr>
              <a:t>Team TechNova</a:t>
            </a:r>
            <a:endParaRPr lang="en-US" sz="1800" dirty="0"/>
          </a:p>
        </p:txBody>
      </p:sp>
      <p:sp>
        <p:nvSpPr>
          <p:cNvPr id="17" name="Text 15"/>
          <p:cNvSpPr/>
          <p:nvPr/>
        </p:nvSpPr>
        <p:spPr>
          <a:xfrm>
            <a:off x="914400" y="4279392"/>
            <a:ext cx="7315200" cy="256032"/>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  Project: AI-Powered Docker Natural Language Dashboard</a:t>
            </a:r>
            <a:endParaRPr lang="en-US" sz="900" dirty="0"/>
          </a:p>
        </p:txBody>
      </p:sp>
      <p:sp>
        <p:nvSpPr>
          <p:cNvPr id="18" name="Text 16"/>
          <p:cNvSpPr/>
          <p:nvPr/>
        </p:nvSpPr>
        <p:spPr>
          <a:xfrm>
            <a:off x="914400" y="4279392"/>
            <a:ext cx="7315200" cy="256032"/>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  Institution: Rathinam Technical Campus (Autonomous), Coimbatore</a:t>
            </a:r>
            <a:endParaRPr lang="en-US" sz="900" dirty="0"/>
          </a:p>
        </p:txBody>
      </p:sp>
      <p:sp>
        <p:nvSpPr>
          <p:cNvPr id="19" name="Text 17"/>
          <p:cNvSpPr/>
          <p:nvPr/>
        </p:nvSpPr>
        <p:spPr>
          <a:xfrm>
            <a:off x="914400" y="4279392"/>
            <a:ext cx="7315200" cy="256032"/>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  Department: Agricultural Engineering &amp; AI/Data Science &amp; CSE</a:t>
            </a:r>
            <a:endParaRPr lang="en-US" sz="900" dirty="0"/>
          </a:p>
        </p:txBody>
      </p:sp>
      <p:sp>
        <p:nvSpPr>
          <p:cNvPr id="20" name="Text 18"/>
          <p:cNvSpPr/>
          <p:nvPr/>
        </p:nvSpPr>
        <p:spPr>
          <a:xfrm>
            <a:off x="914400" y="4279392"/>
            <a:ext cx="7315200" cy="256032"/>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  Stack: React + Node.js + Express + Docker SDK + Gemini AI + WebSocket</a:t>
            </a:r>
            <a:endParaRPr lang="en-US" sz="900" dirty="0"/>
          </a:p>
        </p:txBody>
      </p:sp>
      <p:sp>
        <p:nvSpPr>
          <p:cNvPr id="21" name="Text 19"/>
          <p:cNvSpPr/>
          <p:nvPr/>
        </p:nvSpPr>
        <p:spPr>
          <a:xfrm>
            <a:off x="914400" y="4279392"/>
            <a:ext cx="7315200" cy="256032"/>
          </a:xfrm>
          <a:prstGeom prst="rect">
            <a:avLst/>
          </a:prstGeom>
          <a:noFill/>
          <a:ln/>
        </p:spPr>
        <p:txBody>
          <a:bodyPr wrap="square" rtlCol="0" anchor="ctr"/>
          <a:lstStyle/>
          <a:p>
            <a:pPr marL="0" indent="0" algn="ctr">
              <a:buNone/>
            </a:pPr>
            <a:r>
              <a:rPr lang="en-US" sz="900" dirty="0">
                <a:solidFill>
                  <a:srgbClr val="7B8FA1"/>
                </a:solidFill>
                <a:latin typeface="Calibri" pitchFamily="34" charset="0"/>
                <a:ea typeface="Calibri" pitchFamily="34" charset="-122"/>
                <a:cs typeface="Calibri" pitchFamily="34" charset="-120"/>
              </a:rPr>
              <a:t>🌐  Deployed: GitHub Container Registry (ghcr.io/varuvk/dockerdashboardv2)</a:t>
            </a:r>
            <a:endParaRPr lang="en-US" sz="900" dirty="0"/>
          </a:p>
        </p:txBody>
      </p:sp>
      <p:sp>
        <p:nvSpPr>
          <p:cNvPr id="22" name="Shape 20"/>
          <p:cNvSpPr/>
          <p:nvPr/>
        </p:nvSpPr>
        <p:spPr>
          <a:xfrm>
            <a:off x="731520" y="4224528"/>
            <a:ext cx="7680960" cy="579611"/>
          </a:xfrm>
          <a:prstGeom prst="roundRect">
            <a:avLst>
              <a:gd name="adj" fmla="val 11765"/>
            </a:avLst>
          </a:prstGeom>
          <a:solidFill>
            <a:srgbClr val="EEF2F7"/>
          </a:solidFill>
          <a:ln w="6350">
            <a:solidFill>
              <a:srgbClr val="DDE6F0"/>
            </a:solidFill>
            <a:prstDash val="solid"/>
          </a:ln>
        </p:spPr>
      </p:sp>
      <p:sp>
        <p:nvSpPr>
          <p:cNvPr id="23" name="Text 21"/>
          <p:cNvSpPr/>
          <p:nvPr/>
        </p:nvSpPr>
        <p:spPr>
          <a:xfrm>
            <a:off x="822960" y="4261104"/>
            <a:ext cx="7498080" cy="219456"/>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  Project: AI-Powered Docker Natural Language Dashboard</a:t>
            </a:r>
            <a:endParaRPr lang="en-US" sz="850" dirty="0"/>
          </a:p>
        </p:txBody>
      </p:sp>
      <p:sp>
        <p:nvSpPr>
          <p:cNvPr id="24" name="Text 22"/>
          <p:cNvSpPr/>
          <p:nvPr/>
        </p:nvSpPr>
        <p:spPr>
          <a:xfrm>
            <a:off x="822960" y="4498848"/>
            <a:ext cx="7498080" cy="219456"/>
          </a:xfrm>
          <a:prstGeom prst="rect">
            <a:avLst/>
          </a:prstGeom>
          <a:noFill/>
          <a:ln/>
        </p:spPr>
        <p:txBody>
          <a:bodyPr wrap="square" rtlCol="0" anchor="ctr"/>
          <a:lstStyle/>
          <a:p>
            <a:pPr marL="0" indent="0" algn="ctr">
              <a:buNone/>
            </a:pPr>
            <a:r>
              <a:rPr lang="en-US" sz="850" dirty="0">
                <a:solidFill>
                  <a:srgbClr val="7B8FA1"/>
                </a:solidFill>
                <a:latin typeface="Calibri" pitchFamily="34" charset="0"/>
                <a:ea typeface="Calibri" pitchFamily="34" charset="-122"/>
                <a:cs typeface="Calibri" pitchFamily="34" charset="-120"/>
              </a:rPr>
              <a:t>🏫  Institution: Rathinam Technical Campus (Autonomous), Coimbatore</a:t>
            </a:r>
            <a:endParaRPr lang="en-US" sz="850" dirty="0"/>
          </a:p>
        </p:txBody>
      </p:sp>
      <p:sp>
        <p:nvSpPr>
          <p:cNvPr id="26" name="TextBox 25">
            <a:extLst>
              <a:ext uri="{FF2B5EF4-FFF2-40B4-BE49-F238E27FC236}">
                <a16:creationId xmlns:a16="http://schemas.microsoft.com/office/drawing/2014/main" id="{6A94593C-B27A-3468-C0EC-C8E637D77A6A}"/>
              </a:ext>
            </a:extLst>
          </p:cNvPr>
          <p:cNvSpPr txBox="1"/>
          <p:nvPr/>
        </p:nvSpPr>
        <p:spPr>
          <a:xfrm>
            <a:off x="1299029" y="8179308"/>
            <a:ext cx="1828800" cy="1828800"/>
          </a:xfrm>
          <a:prstGeom prst="rect">
            <a:avLst/>
          </a:prstGeom>
          <a:noFill/>
        </p:spPr>
        <p:txBody>
          <a:bodyPr wrap="square" rtlCol="0">
            <a:spAutoFit/>
          </a:bodyPr>
          <a:lstStyle/>
          <a:p>
            <a:pPr algn="l"/>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Docker Natural Language Dashboard</dc:title>
  <dc:subject>PptxGenJS Presentation</dc:subject>
  <dc:creator>TechNova Team</dc:creator>
  <cp:lastModifiedBy>Varunkumar Masiyappan</cp:lastModifiedBy>
  <cp:revision>3</cp:revision>
  <dcterms:created xsi:type="dcterms:W3CDTF">2026-06-14T20:41:25Z</dcterms:created>
  <dcterms:modified xsi:type="dcterms:W3CDTF">2026-06-15T04:41:58Z</dcterms:modified>
</cp:coreProperties>
</file>