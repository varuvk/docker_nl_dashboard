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25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3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5" Type="http://schemas.openxmlformats.org/officeDocument/2006/relationships/hyperlink" Target="https://docker-nl-ics.onrender.com/" TargetMode="External"/><Relationship Id="rId6" Type="http://schemas.openxmlformats.org/officeDocument/2006/relationships/hyperlink" Target="https://docker-nl-ics.onrender.com/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4" Type="http://schemas.openxmlformats.org/officeDocument/2006/relationships/hyperlink" Target="https://docker-nl-ics.onrender.com/" TargetMode="External"/><Relationship Id="rId5" Type="http://schemas.openxmlformats.org/officeDocument/2006/relationships/hyperlink" Target="https://docker-nl-ics.onrender.com/" TargetMode="Externa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con_ai.png"/><Relationship Id="rId3" Type="http://schemas.openxmlformats.org/officeDocument/2006/relationships/image" Target="../media/icon_monitor.png"/><Relationship Id="rId4" Type="http://schemas.openxmlformats.org/officeDocument/2006/relationships/image" Target="../media/icon_controls.png"/><Relationship Id="rId5" Type="http://schemas.openxmlformats.org/officeDocument/2006/relationships/image" Target="../media/icon_health.png"/><Relationship Id="rId6" Type="http://schemas.openxmlformats.org/officeDocument/2006/relationships/image" Target="../media/icon_logs.png"/><Relationship Id="rId7" Type="http://schemas.openxmlformats.org/officeDocument/2006/relationships/image" Target="../media/icon_error.png"/><Relationship Id="rId8" Type="http://schemas.openxmlformats.org/officeDocument/2006/relationships/image" Target="../media/icon_reports.png"/><Relationship Id="rId10" Type="http://schemas.openxmlformats.org/officeDocument/2006/relationships/image" Target="../media/icon_lock.png"/><Relationship Id="rId9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images/hero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4" name="Image 1" descr="/home/claude/ppt/images/icon_docker_docker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7320" y="548640"/>
            <a:ext cx="640080" cy="64008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6" name="Image 2" descr="/home/claude/ppt/images/icon_brain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338" y="692658"/>
            <a:ext cx="352044" cy="35204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CC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PROJECT SHOWCASE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594360" y="18288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Docker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Dashboard</a:t>
            </a:r>
            <a:endParaRPr lang="en-US" sz="4800" dirty="0"/>
          </a:p>
        </p:txBody>
      </p:sp>
      <p:sp>
        <p:nvSpPr>
          <p:cNvPr id="9" name="Text 4"/>
          <p:cNvSpPr/>
          <p:nvPr/>
        </p:nvSpPr>
        <p:spPr>
          <a:xfrm>
            <a:off x="640080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Container Monitoring and Management using AI and Docker</a:t>
            </a:r>
            <a:endParaRPr lang="en-US" sz="1900" dirty="0"/>
          </a:p>
        </p:txBody>
      </p:sp>
      <p:sp>
        <p:nvSpPr>
          <p:cNvPr id="10" name="Shape 5"/>
          <p:cNvSpPr/>
          <p:nvPr/>
        </p:nvSpPr>
        <p:spPr>
          <a:xfrm>
            <a:off x="640080" y="429768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16345C">
              <a:alpha val="7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91440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TECHNOVA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914400" y="4983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Kumar M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383280" y="4983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K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914400" y="5532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Salman Khan 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383280" y="5532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Yogesh S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758891" y="598932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0F2742">
              <a:alpha val="90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758891" y="5989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295083" y="5989320"/>
            <a:ext cx="1083564" cy="411480"/>
          </a:xfrm>
          <a:prstGeom prst="roundRect">
            <a:avLst>
              <a:gd name="adj" fmla="val 48889"/>
            </a:avLst>
          </a:prstGeom>
          <a:solidFill>
            <a:srgbClr val="0F2742">
              <a:alpha val="90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295083" y="5989320"/>
            <a:ext cx="1083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543239" y="5989320"/>
            <a:ext cx="1275588" cy="411480"/>
          </a:xfrm>
          <a:prstGeom prst="roundRect">
            <a:avLst>
              <a:gd name="adj" fmla="val 48889"/>
            </a:avLst>
          </a:prstGeom>
          <a:solidFill>
            <a:srgbClr val="0F2742">
              <a:alpha val="90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543239" y="5989320"/>
            <a:ext cx="1275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AI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983419" y="5989320"/>
            <a:ext cx="1659636" cy="411480"/>
          </a:xfrm>
          <a:prstGeom prst="roundRect">
            <a:avLst>
              <a:gd name="adj" fmla="val 48889"/>
            </a:avLst>
          </a:prstGeom>
          <a:solidFill>
            <a:srgbClr val="0F2742">
              <a:alpha val="90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983419" y="5989320"/>
            <a:ext cx="1659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 |  AI Docker NL Dashboard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images/dark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TechNova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C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Board — Roles &amp; Connections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63040" y="1920240"/>
            <a:ext cx="777240" cy="777240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7" name="Image 1" descr="/home/claude/ppt/images/icon_server_docker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919" y="2095119"/>
            <a:ext cx="427482" cy="4274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Kumar M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822960" y="338328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2496ED">
              <a:alpha val="22000"/>
            </a:srgbClr>
          </a:solidFill>
          <a:ln w="9525">
            <a:solidFill>
              <a:srgbClr val="2496ED">
                <a:alpha val="6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33832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Agent Orchestration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31520" y="39776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AgentController, execution pipeline, system integration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383280" y="160020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97680" y="1920240"/>
            <a:ext cx="777240" cy="77724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14" name="Image 2" descr="/home/claude/ppt/images/icon_brain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559" y="2095119"/>
            <a:ext cx="427482" cy="42748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20440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K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3657600" y="338328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8B5CF6">
              <a:alpha val="22000"/>
            </a:srgbClr>
          </a:solidFill>
          <a:ln w="9525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657600" y="33832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Integration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566160" y="39776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LLMService, Ollama prompt design, intent translation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160020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32320" y="1920240"/>
            <a:ext cx="777240" cy="77724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21" name="Image 3" descr="/home/claude/ppt/images/icon_docker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199" y="2095119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5080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Salman Khan S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6492240" y="338328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10B981">
              <a:alpha val="22000"/>
            </a:srgbClr>
          </a:solidFill>
          <a:ln w="9525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492240" y="33832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Execution Layer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400800" y="39776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DockerExecutor, container actions, engine communication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9052560" y="160020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966960" y="1920240"/>
            <a:ext cx="777240" cy="77724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28" name="Image 4" descr="/home/claude/ppt/images/icon_desktop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1839" y="2095119"/>
            <a:ext cx="427482" cy="42748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189720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Yogesh S</a:t>
            </a:r>
            <a:endParaRPr lang="en-US" sz="1700" dirty="0"/>
          </a:p>
        </p:txBody>
      </p:sp>
      <p:sp>
        <p:nvSpPr>
          <p:cNvPr id="30" name="Shape 23"/>
          <p:cNvSpPr/>
          <p:nvPr/>
        </p:nvSpPr>
        <p:spPr>
          <a:xfrm>
            <a:off x="9326880" y="338328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F59E0B">
              <a:alpha val="22000"/>
            </a:srgbClr>
          </a:solidFill>
          <a:ln w="9525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326880" y="33832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Dashboard UX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9235440" y="39776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dashboard, API integration, visualization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CC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roles connect through one execution pipeline: Dashboard -&gt; Backend -&gt; AI -&gt; Docker Engine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 |  AI Docker NL Dashboard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images/dark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C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Docker monitoring is harder than it should be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66648" y="1828800"/>
            <a:ext cx="2743200" cy="2377440"/>
          </a:xfrm>
          <a:prstGeom prst="roundRect">
            <a:avLst>
              <a:gd name="adj" fmla="val 4615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26768" y="2148840"/>
            <a:ext cx="822960" cy="822960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7" name="Image 1" descr="/home/claude/ppt/images/icon_users_docker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934" y="2334006"/>
            <a:ext cx="452628" cy="4526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6648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295248" y="3566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 monitor &amp; manage running containers daily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883000" y="3017520"/>
            <a:ext cx="768096" cy="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4724248" y="1828800"/>
            <a:ext cx="2743200" cy="2377440"/>
          </a:xfrm>
          <a:prstGeom prst="roundRect">
            <a:avLst>
              <a:gd name="adj" fmla="val 4615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684368" y="2148840"/>
            <a:ext cx="822960" cy="82296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13" name="Image 2" descr="/home/claude/ppt/images/icon_terminal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534" y="2334006"/>
            <a:ext cx="452628" cy="4526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24248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4952848" y="3566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recall and type many docker CLI commands correctly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540600" y="3017520"/>
            <a:ext cx="768096" cy="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8381848" y="1828800"/>
            <a:ext cx="2743200" cy="2377440"/>
          </a:xfrm>
          <a:prstGeom prst="roundRect">
            <a:avLst>
              <a:gd name="adj" fmla="val 4615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341968" y="2148840"/>
            <a:ext cx="822960" cy="822960"/>
          </a:xfrm>
          <a:prstGeom prst="ellipse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pic>
        <p:nvPicPr>
          <p:cNvPr id="19" name="Image 3" descr="/home/claude/ppt/images/icon_warning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134" y="2334006"/>
            <a:ext cx="452628" cy="45262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81848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8610448" y="3566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stats, health checks scattered across multiple terminal windows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48640" y="4572000"/>
            <a:ext cx="11064240" cy="1691640"/>
          </a:xfrm>
          <a:prstGeom prst="roundRect">
            <a:avLst>
              <a:gd name="adj" fmla="val 6486"/>
            </a:avLst>
          </a:prstGeom>
          <a:solidFill>
            <a:srgbClr val="0F2742">
              <a:alpha val="80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86868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Pain Points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68680" y="51206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commands slow down debugging during incidents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446520" y="51206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between multiple terminal tabs breaks focus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868680" y="56692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developers face a steep Docker CLI learning curve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446520" y="56692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unified, real-time view of container health &amp; resource usage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 |  AI Docker NL Dashboard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images/dark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C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Docker Dashboard — Simplifying DevOps through Natural Language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3840480" cy="64008"/>
          </a:xfrm>
          <a:prstGeom prst="roundRect">
            <a:avLst>
              <a:gd name="adj" fmla="val 57143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508760"/>
            <a:ext cx="5486400" cy="722376"/>
          </a:xfrm>
          <a:prstGeom prst="roundRect">
            <a:avLst>
              <a:gd name="adj" fmla="val 15190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604772"/>
            <a:ext cx="530352" cy="530352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8" name="Image 1" descr="/home/claude/ppt/images/icon_commentDots_docker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61" y="1724101"/>
            <a:ext cx="291694" cy="2916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89888" y="16002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Interaction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389888" y="18928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plain English — AI translates intent to Docker commands automatically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313432"/>
            <a:ext cx="5486400" cy="722376"/>
          </a:xfrm>
          <a:prstGeom prst="roundRect">
            <a:avLst>
              <a:gd name="adj" fmla="val 15190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13232" y="2409444"/>
            <a:ext cx="530352" cy="530352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13" name="Image 2" descr="/home/claude/ppt/images/icon_docker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61" y="2528773"/>
            <a:ext cx="291694" cy="2916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9888" y="24048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Container Management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89888" y="26974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stop, restart and inspect containers with a single prompt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118104"/>
            <a:ext cx="5486400" cy="722376"/>
          </a:xfrm>
          <a:prstGeom prst="roundRect">
            <a:avLst>
              <a:gd name="adj" fmla="val 15190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13232" y="3214116"/>
            <a:ext cx="530352" cy="530352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18" name="Image 3" descr="/home/claude/ppt/images/icon_heart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61" y="3333445"/>
            <a:ext cx="291694" cy="29169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89888" y="32095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Health Monitoring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389888" y="35021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CPU, memory and health status displayed on one unified dashboard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3922776"/>
            <a:ext cx="5486400" cy="722376"/>
          </a:xfrm>
          <a:prstGeom prst="roundRect">
            <a:avLst>
              <a:gd name="adj" fmla="val 15190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13232" y="4018788"/>
            <a:ext cx="530352" cy="530352"/>
          </a:xfrm>
          <a:prstGeom prst="ellipse">
            <a:avLst/>
          </a:prstGeom>
          <a:solidFill>
            <a:srgbClr val="60A5FA">
              <a:alpha val="22000"/>
            </a:srgbClr>
          </a:solidFill>
          <a:ln w="12700">
            <a:solidFill>
              <a:srgbClr val="60A5FA">
                <a:alpha val="60000"/>
              </a:srgbClr>
            </a:solidFill>
            <a:prstDash val="solid"/>
          </a:ln>
        </p:spPr>
      </p:sp>
      <p:pic>
        <p:nvPicPr>
          <p:cNvPr id="23" name="Image 4" descr="/home/claude/ppt/images/icon_desktop_light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561" y="4138117"/>
            <a:ext cx="291694" cy="29169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89888" y="40142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Interface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389888" y="430682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UI with no CLI knowledge required to operate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48640" y="4727448"/>
            <a:ext cx="5486400" cy="722376"/>
          </a:xfrm>
          <a:prstGeom prst="roundRect">
            <a:avLst>
              <a:gd name="adj" fmla="val 15190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13232" y="4823460"/>
            <a:ext cx="530352" cy="530352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28" name="Image 5" descr="/home/claude/ppt/images/icon_bolt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561" y="4942789"/>
            <a:ext cx="291694" cy="29169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389888" y="48188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Prompt-Based Deployment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1389888" y="511149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container lifecycle actions just by describing what you need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548640" y="5532120"/>
            <a:ext cx="5486400" cy="722376"/>
          </a:xfrm>
          <a:prstGeom prst="roundRect">
            <a:avLst>
              <a:gd name="adj" fmla="val 15190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713232" y="5628132"/>
            <a:ext cx="530352" cy="530352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33" name="Image 6" descr="/home/claude/ppt/images/icon_rocket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561" y="5747461"/>
            <a:ext cx="291694" cy="29169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389888" y="56235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DevOps Operations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1389888" y="59161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overhead, speeds up incident response and lowers skill barriers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6309360" y="1572768"/>
            <a:ext cx="5333695" cy="3017520"/>
          </a:xfrm>
          <a:prstGeom prst="roundRect">
            <a:avLst>
              <a:gd name="adj" fmla="val 3636"/>
            </a:avLst>
          </a:prstGeom>
          <a:solidFill>
            <a:srgbClr val="0F2742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7" name="Text 28"/>
          <p:cNvSpPr/>
          <p:nvPr/>
        </p:nvSpPr>
        <p:spPr>
          <a:xfrm>
            <a:off x="6537960" y="1691640"/>
            <a:ext cx="4876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38" name="Shape 29"/>
          <p:cNvSpPr/>
          <p:nvPr/>
        </p:nvSpPr>
        <p:spPr>
          <a:xfrm>
            <a:off x="6537960" y="2176272"/>
            <a:ext cx="4876495" cy="502920"/>
          </a:xfrm>
          <a:prstGeom prst="roundRect">
            <a:avLst>
              <a:gd name="adj" fmla="val 14545"/>
            </a:avLst>
          </a:prstGeom>
          <a:solidFill>
            <a:srgbClr val="2496ED">
              <a:alpha val="18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601968" y="2253996"/>
            <a:ext cx="347472" cy="347472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40" name="Image 7" descr="/home/claude/ppt/images/icon_keyboard_docker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0149" y="2332177"/>
            <a:ext cx="191110" cy="19111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086600" y="2176272"/>
            <a:ext cx="4236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400" dirty="0"/>
          </a:p>
        </p:txBody>
      </p:sp>
      <p:sp>
        <p:nvSpPr>
          <p:cNvPr id="42" name="Shape 32"/>
          <p:cNvSpPr/>
          <p:nvPr/>
        </p:nvSpPr>
        <p:spPr>
          <a:xfrm>
            <a:off x="8976208" y="2679192"/>
            <a:ext cx="0" cy="109728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43" name="Shape 33"/>
          <p:cNvSpPr/>
          <p:nvPr/>
        </p:nvSpPr>
        <p:spPr>
          <a:xfrm>
            <a:off x="6537960" y="2788920"/>
            <a:ext cx="4876495" cy="502920"/>
          </a:xfrm>
          <a:prstGeom prst="roundRect">
            <a:avLst>
              <a:gd name="adj" fmla="val 14545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6601968" y="2866644"/>
            <a:ext cx="347472" cy="347472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45" name="Image 8" descr="/home/claude/ppt/images/icon_brain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0149" y="2944825"/>
            <a:ext cx="191110" cy="19111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7086600" y="2788920"/>
            <a:ext cx="4236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Intent</a:t>
            </a:r>
            <a:endParaRPr lang="en-US" sz="1400" dirty="0"/>
          </a:p>
        </p:txBody>
      </p:sp>
      <p:sp>
        <p:nvSpPr>
          <p:cNvPr id="47" name="Shape 36"/>
          <p:cNvSpPr/>
          <p:nvPr/>
        </p:nvSpPr>
        <p:spPr>
          <a:xfrm>
            <a:off x="8976208" y="3291840"/>
            <a:ext cx="0" cy="109728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48" name="Shape 37"/>
          <p:cNvSpPr/>
          <p:nvPr/>
        </p:nvSpPr>
        <p:spPr>
          <a:xfrm>
            <a:off x="6537960" y="3401568"/>
            <a:ext cx="4876495" cy="502920"/>
          </a:xfrm>
          <a:prstGeom prst="roundRect">
            <a:avLst>
              <a:gd name="adj" fmla="val 14545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6601968" y="3479292"/>
            <a:ext cx="347472" cy="347472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50" name="Image 9" descr="/home/claude/ppt/images/icon_docker_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0149" y="3557473"/>
            <a:ext cx="191110" cy="191110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7086600" y="3401568"/>
            <a:ext cx="4236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Action</a:t>
            </a:r>
            <a:endParaRPr lang="en-US" sz="1400" dirty="0"/>
          </a:p>
        </p:txBody>
      </p:sp>
      <p:sp>
        <p:nvSpPr>
          <p:cNvPr id="52" name="Shape 40"/>
          <p:cNvSpPr/>
          <p:nvPr/>
        </p:nvSpPr>
        <p:spPr>
          <a:xfrm>
            <a:off x="8976208" y="3904488"/>
            <a:ext cx="0" cy="109728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53" name="Shape 41"/>
          <p:cNvSpPr/>
          <p:nvPr/>
        </p:nvSpPr>
        <p:spPr>
          <a:xfrm>
            <a:off x="6537960" y="4014216"/>
            <a:ext cx="4876495" cy="502920"/>
          </a:xfrm>
          <a:prstGeom prst="roundRect">
            <a:avLst>
              <a:gd name="adj" fmla="val 14545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54" name="Shape 42"/>
          <p:cNvSpPr/>
          <p:nvPr/>
        </p:nvSpPr>
        <p:spPr>
          <a:xfrm>
            <a:off x="6601968" y="4091940"/>
            <a:ext cx="347472" cy="347472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55" name="Image 10" descr="/home/claude/ppt/images/icon_chart_oran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0149" y="4170121"/>
            <a:ext cx="191110" cy="191110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7086600" y="4014216"/>
            <a:ext cx="4236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57" name="Shape 44"/>
          <p:cNvSpPr/>
          <p:nvPr/>
        </p:nvSpPr>
        <p:spPr>
          <a:xfrm>
            <a:off x="6309360" y="4754880"/>
            <a:ext cx="5333695" cy="1463040"/>
          </a:xfrm>
          <a:prstGeom prst="roundRect">
            <a:avLst>
              <a:gd name="adj" fmla="val 7500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8" name="Text 45"/>
          <p:cNvSpPr/>
          <p:nvPr/>
        </p:nvSpPr>
        <p:spPr>
          <a:xfrm>
            <a:off x="6537960" y="4864608"/>
            <a:ext cx="48764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Simplification</a:t>
            </a:r>
            <a:endParaRPr lang="en-US" sz="1400" dirty="0"/>
          </a:p>
        </p:txBody>
      </p:sp>
      <p:sp>
        <p:nvSpPr>
          <p:cNvPr id="59" name="Text 46"/>
          <p:cNvSpPr/>
          <p:nvPr/>
        </p:nvSpPr>
        <p:spPr>
          <a:xfrm>
            <a:off x="6583680" y="5230368"/>
            <a:ext cx="483077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 memorisation required for container ops</a:t>
            </a:r>
            <a:endParaRPr lang="en-US" sz="1200" dirty="0"/>
          </a:p>
        </p:txBody>
      </p:sp>
      <p:sp>
        <p:nvSpPr>
          <p:cNvPr id="60" name="Text 47"/>
          <p:cNvSpPr/>
          <p:nvPr/>
        </p:nvSpPr>
        <p:spPr>
          <a:xfrm>
            <a:off x="6583680" y="5550408"/>
            <a:ext cx="483077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replaces multiple terminal windows</a:t>
            </a:r>
            <a:endParaRPr lang="en-US" sz="1200" dirty="0"/>
          </a:p>
        </p:txBody>
      </p:sp>
      <p:sp>
        <p:nvSpPr>
          <p:cNvPr id="61" name="Text 48"/>
          <p:cNvSpPr/>
          <p:nvPr/>
        </p:nvSpPr>
        <p:spPr>
          <a:xfrm>
            <a:off x="6583680" y="5870448"/>
            <a:ext cx="483077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actions cut incident response time</a:t>
            </a:r>
            <a:endParaRPr lang="en-US" sz="1200" dirty="0"/>
          </a:p>
        </p:txBody>
      </p:sp>
      <p:sp>
        <p:nvSpPr>
          <p:cNvPr id="62" name="Text 49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 |  AI Docker NL Dashboard</a:t>
            </a:r>
            <a:endParaRPr lang="en-US" sz="1100" dirty="0"/>
          </a:p>
        </p:txBody>
      </p:sp>
      <p:sp>
        <p:nvSpPr>
          <p:cNvPr id="63" name="Text 5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Fundamentals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powering the project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99136" y="155448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F4F8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2116" y="1828800"/>
            <a:ext cx="731520" cy="731520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6" name="Image 0" descr="/home/claude/ppt/images/icon_cogs_docker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708" y="19933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9136" y="2697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82016" y="3108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that builds, runs, and manages containers on the host OS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7784" y="155448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F4F8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80764" y="1828800"/>
            <a:ext cx="731520" cy="73152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11" name="Image 1" descr="/home/claude/ppt/images/icon_layers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356" y="19933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7784" y="2697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480664" y="3108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templates packaging app code, dependencies &amp; config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96432" y="155448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F4F8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79412" y="1828800"/>
            <a:ext cx="731520" cy="73152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16" name="Image 2" descr="/home/claude/ppt/images/icon_box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004" y="19933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96432" y="2697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379312" y="3108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isolated running instances created from images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95080" y="155448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F4F8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78060" y="1828800"/>
            <a:ext cx="731520" cy="73152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21" name="Image 3" descr="/home/claude/ppt/images/icon_exchange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2652" y="199339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5080" y="2697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277960" y="3108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-&gt; Start -&gt; Stop -&gt; Restart -&gt; Remove, managed via the engine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vs Virtual Machine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548640" y="45720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0B1F3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77724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(Docker)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77240" y="5120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host OS kernel - lightweight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77240" y="54681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seconds, minimal overhead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777240" y="58155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density per host machine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77240" y="61630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microservices &amp; rapid scaling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6309360" y="45720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EEF3FA"/>
          </a:solidFill>
          <a:ln/>
          <a:effectLst>
            <a:outerShdw sx="100000" sy="100000" kx="0" ky="0" algn="bl" rotWithShape="0" blurRad="76200" dist="25400" dir="2700000">
              <a:srgbClr val="1E2761">
                <a:alpha val="12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653796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6537960" y="5120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VM runs its own full guest OS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6537960" y="54681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to boot, heavier resource use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6537960" y="58155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density, more overhead per app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6537960" y="61630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isolation, higher cost per workload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 |  AI Docker NL Dashboard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images/dark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Docker is Chosen Globally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C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that make Docker the industry standard for containerisation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399136" y="1572768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27836" y="1773936"/>
            <a:ext cx="640080" cy="64008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7" name="Image 1" descr="/home/claude/ppt/images/icon_bolt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854" y="1917954"/>
            <a:ext cx="352044" cy="3520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9136" y="253288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63728" y="2898648"/>
            <a:ext cx="2368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host OS kernel — no full guest OS per app. Runs with minimal memory and CPU overhead.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297784" y="1572768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26484" y="1773936"/>
            <a:ext cx="640080" cy="640080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12" name="Image 2" descr="/home/claude/ppt/images/icon_rocket_docker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502" y="1917954"/>
            <a:ext cx="352044" cy="3520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97784" y="253288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Deployment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3462376" y="2898648"/>
            <a:ext cx="2368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start in seconds. Ship code from dev to production with a single command.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196432" y="1572768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225132" y="1773936"/>
            <a:ext cx="640080" cy="64008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17" name="Image 3" descr="/home/claude/ppt/images/icon_exchang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150" y="1917954"/>
            <a:ext cx="352044" cy="3520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96432" y="253288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361024" y="2898648"/>
            <a:ext cx="2368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once, run anywhere — laptop, server, or cloud. Same image, identical behaviour.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9095080" y="1572768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123780" y="1773936"/>
            <a:ext cx="640080" cy="64008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22" name="Image 4" descr="/home/claude/ppt/images/icon_chart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7798" y="1917954"/>
            <a:ext cx="352044" cy="3520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095080" y="253288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9259672" y="2898648"/>
            <a:ext cx="2368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multiple container instances effortlessly to handle growing workloads.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1848460" y="365760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2877160" y="3858768"/>
            <a:ext cx="640080" cy="640080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27" name="Image 5" descr="/home/claude/ppt/images/icon_shield_docker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1178" y="4002786"/>
            <a:ext cx="352044" cy="3520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848460" y="46177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2013052" y="4983480"/>
            <a:ext cx="2368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container runs independently with its own filesystem and network namespace.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4747108" y="365760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5775808" y="3858768"/>
            <a:ext cx="640080" cy="64008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32" name="Image 6" descr="/home/claude/ppt/images/icon_chartBar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9826" y="4002786"/>
            <a:ext cx="352044" cy="3520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747108" y="46177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Resources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4911700" y="4983480"/>
            <a:ext cx="2368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app density per server than VMs. Cuts infrastructure cost significantly.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7645756" y="365760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8674456" y="3858768"/>
            <a:ext cx="640080" cy="640080"/>
          </a:xfrm>
          <a:prstGeom prst="ellipse">
            <a:avLst/>
          </a:prstGeom>
          <a:solidFill>
            <a:srgbClr val="60A5FA">
              <a:alpha val="22000"/>
            </a:srgbClr>
          </a:solidFill>
          <a:ln w="12700">
            <a:solidFill>
              <a:srgbClr val="60A5FA">
                <a:alpha val="60000"/>
              </a:srgbClr>
            </a:solidFill>
            <a:prstDash val="solid"/>
          </a:ln>
        </p:spPr>
      </p:sp>
      <p:pic>
        <p:nvPicPr>
          <p:cNvPr id="37" name="Image 7" descr="/home/claude/ppt/images/icon_building_light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8474" y="4002786"/>
            <a:ext cx="352044" cy="35204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645756" y="46177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Demand</a:t>
            </a:r>
            <a:endParaRPr lang="en-US" sz="1450" dirty="0"/>
          </a:p>
        </p:txBody>
      </p:sp>
      <p:sp>
        <p:nvSpPr>
          <p:cNvPr id="39" name="Text 29"/>
          <p:cNvSpPr/>
          <p:nvPr/>
        </p:nvSpPr>
        <p:spPr>
          <a:xfrm>
            <a:off x="7810348" y="4983480"/>
            <a:ext cx="2368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Netflix, Google, Meta and thousands of enterprises for production workloads.</a:t>
            </a:r>
            <a:endParaRPr lang="en-US" sz="1050" dirty="0"/>
          </a:p>
        </p:txBody>
      </p:sp>
      <p:sp>
        <p:nvSpPr>
          <p:cNvPr id="40" name="Shape 30"/>
          <p:cNvSpPr/>
          <p:nvPr/>
        </p:nvSpPr>
        <p:spPr>
          <a:xfrm>
            <a:off x="548640" y="5742432"/>
            <a:ext cx="11094415" cy="594360"/>
          </a:xfrm>
          <a:prstGeom prst="roundRect">
            <a:avLst>
              <a:gd name="adj" fmla="val 18462"/>
            </a:avLst>
          </a:prstGeom>
          <a:solidFill>
            <a:srgbClr val="0F2742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1" name="Text 31"/>
          <p:cNvSpPr/>
          <p:nvPr/>
        </p:nvSpPr>
        <p:spPr>
          <a:xfrm>
            <a:off x="822960" y="574243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Cases: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3108960" y="57424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— streaming microservices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5349240" y="57424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— CI/CD pipelines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7589520" y="57424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— dev environment parity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9829800" y="57424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— scientific data processing</a:t>
            </a:r>
            <a:endParaRPr lang="en-US" sz="1100" dirty="0"/>
          </a:p>
        </p:txBody>
      </p:sp>
      <p:sp>
        <p:nvSpPr>
          <p:cNvPr id="46" name="Text 36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 |  AI Docker NL Dashboard</a:t>
            </a:r>
            <a:endParaRPr lang="en-US" sz="1100" dirty="0"/>
          </a:p>
        </p:txBody>
      </p:sp>
      <p:sp>
        <p:nvSpPr>
          <p:cNvPr id="47" name="Text 3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Vite + Tailwind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126480" cy="4297680"/>
          </a:xfrm>
          <a:prstGeom prst="roundRect">
            <a:avLst>
              <a:gd name="adj" fmla="val 2128"/>
            </a:avLst>
          </a:prstGeom>
          <a:solidFill>
            <a:srgbClr val="F4F8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Component 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594360" cy="594360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7" name="Image 0" descr="/home/claude/ppt/images/icon_keyboard_docker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691" y="2511171"/>
            <a:ext cx="326898" cy="3268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331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PromptInput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26334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user's natural language command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115568" y="2971800"/>
            <a:ext cx="0" cy="256032"/>
          </a:xfrm>
          <a:prstGeom prst="line">
            <a:avLst/>
          </a:prstGeom>
          <a:noFill/>
          <a:ln w="28575">
            <a:solidFill>
              <a:srgbClr val="2496E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822960" y="3246120"/>
            <a:ext cx="594360" cy="59436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12" name="Image 1" descr="/home/claude/ppt/images/icon_brain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91" y="3379851"/>
            <a:ext cx="326898" cy="3268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200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AgentStatusPanel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00200" y="3502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AI processing &amp; execution state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115568" y="3840480"/>
            <a:ext cx="0" cy="256032"/>
          </a:xfrm>
          <a:prstGeom prst="line">
            <a:avLst/>
          </a:prstGeom>
          <a:noFill/>
          <a:ln w="28575">
            <a:solidFill>
              <a:srgbClr val="2496ED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822960" y="4114800"/>
            <a:ext cx="594360" cy="59436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17" name="Image 2" descr="/home/claude/ppt/images/icon_chart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91" y="4248531"/>
            <a:ext cx="326898" cy="32689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069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ContainerMonitor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00200" y="43708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live container stats &amp; health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115568" y="4709160"/>
            <a:ext cx="0" cy="256032"/>
          </a:xfrm>
          <a:prstGeom prst="line">
            <a:avLst/>
          </a:prstGeom>
          <a:noFill/>
          <a:ln w="28575">
            <a:solidFill>
              <a:srgbClr val="2496ED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822960" y="4983480"/>
            <a:ext cx="594360" cy="59436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22" name="Image 3" descr="/home/claude/ppt/images/icon_list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91" y="5117211"/>
            <a:ext cx="326898" cy="32689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937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LogsViewer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600200" y="5239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logs and execution output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949440" y="1691640"/>
            <a:ext cx="4693615" cy="18288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7178040" y="1828800"/>
            <a:ext cx="4236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Communication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178040" y="2221992"/>
            <a:ext cx="4236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prompts via REST calls to Express backend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178040" y="2542032"/>
            <a:ext cx="4236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structured JSON: intent, action, result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7178040" y="2862072"/>
            <a:ext cx="4236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fetch with loading &amp; error states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178040" y="3182112"/>
            <a:ext cx="4236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UI updates after each execution cycle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6949440" y="3703320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6949440" y="4069080"/>
            <a:ext cx="4693615" cy="402336"/>
          </a:xfrm>
          <a:prstGeom prst="roundRect">
            <a:avLst>
              <a:gd name="adj" fmla="val 22727"/>
            </a:avLst>
          </a:prstGeom>
          <a:solidFill>
            <a:srgbClr val="F4F8FF"/>
          </a:solidFill>
          <a:ln w="9525">
            <a:solidFill>
              <a:srgbClr val="2496ED">
                <a:alpha val="40000"/>
              </a:srgbClr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178040" y="4069080"/>
            <a:ext cx="4236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6949440" y="4572000"/>
            <a:ext cx="4693615" cy="402336"/>
          </a:xfrm>
          <a:prstGeom prst="roundRect">
            <a:avLst>
              <a:gd name="adj" fmla="val 22727"/>
            </a:avLst>
          </a:prstGeom>
          <a:solidFill>
            <a:srgbClr val="F4F8FF"/>
          </a:solidFill>
          <a:ln w="9525">
            <a:solidFill>
              <a:srgbClr val="2496ED">
                <a:alpha val="40000"/>
              </a:srgbClr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178040" y="4572000"/>
            <a:ext cx="4236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6949440" y="5074920"/>
            <a:ext cx="4693615" cy="402336"/>
          </a:xfrm>
          <a:prstGeom prst="roundRect">
            <a:avLst>
              <a:gd name="adj" fmla="val 22727"/>
            </a:avLst>
          </a:prstGeom>
          <a:solidFill>
            <a:srgbClr val="F4F8FF"/>
          </a:solidFill>
          <a:ln w="9525">
            <a:solidFill>
              <a:srgbClr val="2496ED">
                <a:alpha val="40000"/>
              </a:srgbClr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178040" y="5074920"/>
            <a:ext cx="4236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6949440" y="5577840"/>
            <a:ext cx="4693615" cy="402336"/>
          </a:xfrm>
          <a:prstGeom prst="roundRect">
            <a:avLst>
              <a:gd name="adj" fmla="val 22727"/>
            </a:avLst>
          </a:prstGeom>
          <a:solidFill>
            <a:srgbClr val="F4F8FF"/>
          </a:solidFill>
          <a:ln w="9525">
            <a:solidFill>
              <a:srgbClr val="2496ED">
                <a:alpha val="40000"/>
              </a:srgbClr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178040" y="5577840"/>
            <a:ext cx="4236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40" name="Shape 34">
            <a:hlinkClick r:id="rId5" tooltip="Opens in browser"/>
          </p:cNvPr>
          <p:cNvSpPr/>
          <p:nvPr/>
        </p:nvSpPr>
        <p:spPr>
          <a:xfrm>
            <a:off x="6949440" y="6126480"/>
            <a:ext cx="4693615" cy="502920"/>
          </a:xfrm>
          <a:prstGeom prst="roundRect">
            <a:avLst>
              <a:gd name="adj" fmla="val 90909"/>
            </a:avLst>
          </a:prstGeom>
          <a:solidFill>
            <a:srgbClr val="2496ED"/>
          </a:solidFill>
          <a:ln/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1" name="Text 35">
            <a:hlinkClick r:id="rId6" tooltip="Opens in browser"/>
          </p:cNvPr>
          <p:cNvSpPr/>
          <p:nvPr/>
        </p:nvSpPr>
        <p:spPr>
          <a:xfrm>
            <a:off x="6949440" y="6126480"/>
            <a:ext cx="4693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Opens in brows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Live Application</a:t>
            </a:r>
            <a:endParaRPr lang="en-US" sz="1400" dirty="0"/>
          </a:p>
        </p:txBody>
      </p:sp>
      <p:sp>
        <p:nvSpPr>
          <p:cNvPr id="42" name="Text 36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 |  AI Docker NL Dashboard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images/dark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C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TypeScript — Layered request processing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05840" y="1737360"/>
            <a:ext cx="10149840" cy="1143000"/>
          </a:xfrm>
          <a:prstGeom prst="roundRect">
            <a:avLst>
              <a:gd name="adj" fmla="val 9600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234440" y="1920240"/>
            <a:ext cx="777240" cy="777240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7" name="Image 1" descr="/home/claude/ppt/images/icon_server_docker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319" y="2095119"/>
            <a:ext cx="427482" cy="4274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40280" y="187452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Layer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2240280" y="22860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routes receive dashboard API calls (prompt, action requests)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080760" y="2880360"/>
            <a:ext cx="0" cy="27432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1005840" y="3154680"/>
            <a:ext cx="10149840" cy="1143000"/>
          </a:xfrm>
          <a:prstGeom prst="roundRect">
            <a:avLst>
              <a:gd name="adj" fmla="val 9600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234440" y="3337560"/>
            <a:ext cx="777240" cy="77724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13" name="Image 2" descr="/home/claude/ppt/images/icon_cogs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319" y="3512439"/>
            <a:ext cx="427482" cy="4274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240280" y="32918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Layer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2240280" y="37033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AgentController -&gt; LLMService -&gt; DockerExecutor pipeline runs the task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080760" y="4297680"/>
            <a:ext cx="0" cy="27432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1005840" y="4572000"/>
            <a:ext cx="10149840" cy="1143000"/>
          </a:xfrm>
          <a:prstGeom prst="roundRect">
            <a:avLst>
              <a:gd name="adj" fmla="val 9600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1234440" y="4754880"/>
            <a:ext cx="777240" cy="77724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19" name="Image 3" descr="/home/claude/ppt/images/icon_chart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319" y="4929759"/>
            <a:ext cx="427482" cy="4274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240280" y="470916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Layer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240280" y="51206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JSON result returned to the React dashboard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00800" y="6355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9CC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 -&gt;  Execution  -&gt;  Response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 |  AI Docker NL Dashboard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images/dark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C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natural language prompt to a live dashboard update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335128" y="1874520"/>
            <a:ext cx="1783080" cy="2971800"/>
          </a:xfrm>
          <a:prstGeom prst="roundRect">
            <a:avLst>
              <a:gd name="adj" fmla="val 6154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06628" y="2148840"/>
            <a:ext cx="640080" cy="640080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7" name="Image 1" descr="/home/claude/ppt/images/icon_commentDots_docker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46" y="2292858"/>
            <a:ext cx="352044" cy="3520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5128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44856" y="3337560"/>
            <a:ext cx="15636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natural language command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1062076" y="1709928"/>
            <a:ext cx="329184" cy="329184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1" name="Text 7"/>
          <p:cNvSpPr/>
          <p:nvPr/>
        </p:nvSpPr>
        <p:spPr>
          <a:xfrm>
            <a:off x="1062076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136496" y="3360420"/>
            <a:ext cx="128016" cy="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2282800" y="1874520"/>
            <a:ext cx="1783080" cy="2971800"/>
          </a:xfrm>
          <a:prstGeom prst="roundRect">
            <a:avLst>
              <a:gd name="adj" fmla="val 6154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854300" y="2148840"/>
            <a:ext cx="640080" cy="64008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15" name="Image 2" descr="/home/claude/ppt/images/icon_brain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318" y="2292858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282800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2392528" y="3337560"/>
            <a:ext cx="15636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LLMService.translate() interprets meaning via Ollama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009748" y="1709928"/>
            <a:ext cx="329184" cy="3291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4"/>
          <p:cNvSpPr/>
          <p:nvPr/>
        </p:nvSpPr>
        <p:spPr>
          <a:xfrm>
            <a:off x="3009748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084168" y="3360420"/>
            <a:ext cx="128016" cy="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4230472" y="1874520"/>
            <a:ext cx="1783080" cy="2971800"/>
          </a:xfrm>
          <a:prstGeom prst="roundRect">
            <a:avLst>
              <a:gd name="adj" fmla="val 6154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01972" y="2148840"/>
            <a:ext cx="640080" cy="64008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23" name="Image 3" descr="/home/claude/ppt/images/icon_server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990" y="2292858"/>
            <a:ext cx="352044" cy="3520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230472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4340200" y="3337560"/>
            <a:ext cx="15636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AgentController.runAgent() coordinates execution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957420" y="1709928"/>
            <a:ext cx="329184" cy="3291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1"/>
          <p:cNvSpPr/>
          <p:nvPr/>
        </p:nvSpPr>
        <p:spPr>
          <a:xfrm>
            <a:off x="4957420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6031840" y="3360420"/>
            <a:ext cx="128016" cy="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6178144" y="1874520"/>
            <a:ext cx="1783080" cy="2971800"/>
          </a:xfrm>
          <a:prstGeom prst="roundRect">
            <a:avLst>
              <a:gd name="adj" fmla="val 6154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749644" y="2148840"/>
            <a:ext cx="640080" cy="640080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31" name="Image 4" descr="/home/claude/ppt/images/icon_docker_docker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662" y="2292858"/>
            <a:ext cx="352044" cy="3520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178144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6287872" y="3337560"/>
            <a:ext cx="15636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DockerExecutor runs the action via executeAction()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905092" y="1709928"/>
            <a:ext cx="329184" cy="329184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35" name="Text 28"/>
          <p:cNvSpPr/>
          <p:nvPr/>
        </p:nvSpPr>
        <p:spPr>
          <a:xfrm>
            <a:off x="6905092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7979512" y="3360420"/>
            <a:ext cx="128016" cy="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8125816" y="1874520"/>
            <a:ext cx="1783080" cy="2971800"/>
          </a:xfrm>
          <a:prstGeom prst="roundRect">
            <a:avLst>
              <a:gd name="adj" fmla="val 6154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697316" y="2148840"/>
            <a:ext cx="640080" cy="64008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39" name="Image 5" descr="/home/claude/ppt/images/icon_heart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334" y="2292858"/>
            <a:ext cx="352044" cy="35204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125816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500" dirty="0"/>
          </a:p>
        </p:txBody>
      </p:sp>
      <p:sp>
        <p:nvSpPr>
          <p:cNvPr id="41" name="Text 33"/>
          <p:cNvSpPr/>
          <p:nvPr/>
        </p:nvSpPr>
        <p:spPr>
          <a:xfrm>
            <a:off x="8235544" y="3337560"/>
            <a:ext cx="15636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stats, logs &amp; health captured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8852764" y="1709928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35"/>
          <p:cNvSpPr/>
          <p:nvPr/>
        </p:nvSpPr>
        <p:spPr>
          <a:xfrm>
            <a:off x="8852764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4" name="Shape 36"/>
          <p:cNvSpPr/>
          <p:nvPr/>
        </p:nvSpPr>
        <p:spPr>
          <a:xfrm>
            <a:off x="9927184" y="3360420"/>
            <a:ext cx="128016" cy="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45" name="Shape 37"/>
          <p:cNvSpPr/>
          <p:nvPr/>
        </p:nvSpPr>
        <p:spPr>
          <a:xfrm>
            <a:off x="10073488" y="1874520"/>
            <a:ext cx="1783080" cy="2971800"/>
          </a:xfrm>
          <a:prstGeom prst="roundRect">
            <a:avLst>
              <a:gd name="adj" fmla="val 6154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10644988" y="2148840"/>
            <a:ext cx="640080" cy="64008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47" name="Image 6" descr="/home/claude/ppt/images/icon_chart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006" y="2292858"/>
            <a:ext cx="352044" cy="352044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0073488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49" name="Text 40"/>
          <p:cNvSpPr/>
          <p:nvPr/>
        </p:nvSpPr>
        <p:spPr>
          <a:xfrm>
            <a:off x="10183216" y="3337560"/>
            <a:ext cx="15636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rendered back to the user in real time</a:t>
            </a:r>
            <a:endParaRPr lang="en-US" sz="1100" dirty="0"/>
          </a:p>
        </p:txBody>
      </p:sp>
      <p:sp>
        <p:nvSpPr>
          <p:cNvPr id="50" name="Shape 41"/>
          <p:cNvSpPr/>
          <p:nvPr/>
        </p:nvSpPr>
        <p:spPr>
          <a:xfrm>
            <a:off x="10800436" y="1709928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1" name="Text 42"/>
          <p:cNvSpPr/>
          <p:nvPr/>
        </p:nvSpPr>
        <p:spPr>
          <a:xfrm>
            <a:off x="10800436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2" name="Shape 43"/>
          <p:cNvSpPr/>
          <p:nvPr/>
        </p:nvSpPr>
        <p:spPr>
          <a:xfrm>
            <a:off x="1523848" y="5212080"/>
            <a:ext cx="9144000" cy="914400"/>
          </a:xfrm>
          <a:prstGeom prst="roundRect">
            <a:avLst>
              <a:gd name="adj" fmla="val 12000"/>
            </a:avLst>
          </a:prstGeom>
          <a:solidFill>
            <a:srgbClr val="0F2742">
              <a:alpha val="80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3" name="Text 44"/>
          <p:cNvSpPr/>
          <p:nvPr/>
        </p:nvSpPr>
        <p:spPr>
          <a:xfrm>
            <a:off x="1523848" y="5212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CC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 -&gt;  Intent  -&gt;  Backend  -&gt;  Docker  -&gt;  Monitor  -&gt;  Dashboard</a:t>
            </a:r>
            <a:endParaRPr lang="en-US" sz="1700" dirty="0"/>
          </a:p>
        </p:txBody>
      </p:sp>
      <p:sp>
        <p:nvSpPr>
          <p:cNvPr id="54" name="Text 45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 |  AI Docker NL Dashboard</a:t>
            </a:r>
            <a:endParaRPr lang="en-US" sz="1100" dirty="0"/>
          </a:p>
        </p:txBody>
      </p:sp>
      <p:sp>
        <p:nvSpPr>
          <p:cNvPr id="55" name="Text 4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images/dark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Working — One Complete Execution Cycle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C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of a single natural language request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70002" y="1783080"/>
            <a:ext cx="1298448" cy="777240"/>
          </a:xfrm>
          <a:prstGeom prst="roundRect">
            <a:avLst>
              <a:gd name="adj" fmla="val 14118"/>
            </a:avLst>
          </a:prstGeom>
          <a:solidFill>
            <a:srgbClr val="16345C">
              <a:alpha val="90000"/>
            </a:srgbClr>
          </a:solidFill>
          <a:ln w="12700">
            <a:solidFill>
              <a:srgbClr val="2496ED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3486" y="1856232"/>
            <a:ext cx="411480" cy="411480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7" name="Image 1" descr="/home/claude/ppt/images/icon_users_docker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069" y="1948815"/>
            <a:ext cx="226314" cy="2263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4282" y="22860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1119226" y="2560320"/>
            <a:ext cx="0" cy="3017520"/>
          </a:xfrm>
          <a:prstGeom prst="line">
            <a:avLst/>
          </a:prstGeom>
          <a:noFill/>
          <a:ln w="12700">
            <a:solidFill>
              <a:srgbClr val="2496ED">
                <a:alpha val="60000"/>
              </a:srgbClr>
            </a:solidFill>
            <a:prstDash val="dash"/>
          </a:ln>
        </p:spPr>
      </p:sp>
      <p:sp>
        <p:nvSpPr>
          <p:cNvPr id="10" name="Shape 6"/>
          <p:cNvSpPr/>
          <p:nvPr/>
        </p:nvSpPr>
        <p:spPr>
          <a:xfrm>
            <a:off x="424282" y="2834640"/>
            <a:ext cx="1389888" cy="548640"/>
          </a:xfrm>
          <a:prstGeom prst="roundRect">
            <a:avLst>
              <a:gd name="adj" fmla="val 10000"/>
            </a:avLst>
          </a:prstGeom>
          <a:solidFill>
            <a:srgbClr val="2496ED">
              <a:alpha val="20000"/>
            </a:srgbClr>
          </a:solidFill>
          <a:ln w="9525">
            <a:solidFill>
              <a:srgbClr val="2496ED">
                <a:alpha val="5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1714" y="28346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prompt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1777594" y="3977640"/>
            <a:ext cx="105156" cy="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1891894" y="1783080"/>
            <a:ext cx="1298448" cy="777240"/>
          </a:xfrm>
          <a:prstGeom prst="roundRect">
            <a:avLst>
              <a:gd name="adj" fmla="val 14118"/>
            </a:avLst>
          </a:prstGeom>
          <a:solidFill>
            <a:srgbClr val="16345C">
              <a:alpha val="90000"/>
            </a:srgbClr>
          </a:solidFill>
          <a:ln w="12700">
            <a:solidFill>
              <a:srgbClr val="2496ED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335378" y="1856232"/>
            <a:ext cx="411480" cy="411480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15" name="Image 2" descr="/home/claude/ppt/images/icon_server_docker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961" y="1948815"/>
            <a:ext cx="226314" cy="22631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46174" y="22860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2541118" y="2560320"/>
            <a:ext cx="0" cy="3017520"/>
          </a:xfrm>
          <a:prstGeom prst="line">
            <a:avLst/>
          </a:prstGeom>
          <a:noFill/>
          <a:ln w="12700">
            <a:solidFill>
              <a:srgbClr val="2496ED">
                <a:alpha val="60000"/>
              </a:srgbClr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1846174" y="2834640"/>
            <a:ext cx="1389888" cy="548640"/>
          </a:xfrm>
          <a:prstGeom prst="roundRect">
            <a:avLst>
              <a:gd name="adj" fmla="val 10000"/>
            </a:avLst>
          </a:prstGeom>
          <a:solidFill>
            <a:srgbClr val="2496ED">
              <a:alpha val="20000"/>
            </a:srgbClr>
          </a:solidFill>
          <a:ln w="9525">
            <a:solidFill>
              <a:srgbClr val="2496ED">
                <a:alpha val="50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873606" y="28346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API request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199486" y="3977640"/>
            <a:ext cx="105156" cy="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3313786" y="1783080"/>
            <a:ext cx="1298448" cy="777240"/>
          </a:xfrm>
          <a:prstGeom prst="roundRect">
            <a:avLst>
              <a:gd name="adj" fmla="val 14118"/>
            </a:avLst>
          </a:prstGeom>
          <a:solidFill>
            <a:srgbClr val="16345C">
              <a:alpha val="90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757270" y="1856232"/>
            <a:ext cx="411480" cy="41148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23" name="Image 3" descr="/home/claude/ppt/images/icon_cogs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853" y="1948815"/>
            <a:ext cx="226314" cy="22631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268066" y="22860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AgentController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963010" y="2560320"/>
            <a:ext cx="0" cy="3017520"/>
          </a:xfrm>
          <a:prstGeom prst="line">
            <a:avLst/>
          </a:prstGeom>
          <a:noFill/>
          <a:ln w="12700">
            <a:solidFill>
              <a:srgbClr val="8B5CF6">
                <a:alpha val="60000"/>
              </a:srgbClr>
            </a:solidFill>
            <a:prstDash val="dash"/>
          </a:ln>
        </p:spPr>
      </p:sp>
      <p:sp>
        <p:nvSpPr>
          <p:cNvPr id="26" name="Shape 20"/>
          <p:cNvSpPr/>
          <p:nvPr/>
        </p:nvSpPr>
        <p:spPr>
          <a:xfrm>
            <a:off x="3268066" y="2834640"/>
            <a:ext cx="1389888" cy="548640"/>
          </a:xfrm>
          <a:prstGeom prst="roundRect">
            <a:avLst>
              <a:gd name="adj" fmla="val 10000"/>
            </a:avLst>
          </a:prstGeom>
          <a:solidFill>
            <a:srgbClr val="8B5CF6">
              <a:alpha val="20000"/>
            </a:srgbClr>
          </a:solidFill>
          <a:ln w="9525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295498" y="28346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runAgent() starts cycle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621378" y="3977640"/>
            <a:ext cx="105156" cy="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4735678" y="1783080"/>
            <a:ext cx="1298448" cy="777240"/>
          </a:xfrm>
          <a:prstGeom prst="roundRect">
            <a:avLst>
              <a:gd name="adj" fmla="val 14118"/>
            </a:avLst>
          </a:prstGeom>
          <a:solidFill>
            <a:srgbClr val="16345C">
              <a:alpha val="90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179162" y="1856232"/>
            <a:ext cx="411480" cy="41148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31" name="Image 4" descr="/home/claude/ppt/images/icon_brain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1745" y="1948815"/>
            <a:ext cx="226314" cy="22631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89958" y="22860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LLMService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5384902" y="2560320"/>
            <a:ext cx="0" cy="3017520"/>
          </a:xfrm>
          <a:prstGeom prst="line">
            <a:avLst/>
          </a:prstGeom>
          <a:noFill/>
          <a:ln w="12700">
            <a:solidFill>
              <a:srgbClr val="8B5CF6">
                <a:alpha val="60000"/>
              </a:srgbClr>
            </a:solidFill>
            <a:prstDash val="dash"/>
          </a:ln>
        </p:spPr>
      </p:sp>
      <p:sp>
        <p:nvSpPr>
          <p:cNvPr id="34" name="Shape 27"/>
          <p:cNvSpPr/>
          <p:nvPr/>
        </p:nvSpPr>
        <p:spPr>
          <a:xfrm>
            <a:off x="4689958" y="2834640"/>
            <a:ext cx="1389888" cy="548640"/>
          </a:xfrm>
          <a:prstGeom prst="roundRect">
            <a:avLst>
              <a:gd name="adj" fmla="val 10000"/>
            </a:avLst>
          </a:prstGeom>
          <a:solidFill>
            <a:srgbClr val="8B5CF6">
              <a:alpha val="20000"/>
            </a:srgbClr>
          </a:solidFill>
          <a:ln w="9525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717390" y="28346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translate() via Ollama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043270" y="3977640"/>
            <a:ext cx="105156" cy="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6157570" y="1783080"/>
            <a:ext cx="1298448" cy="777240"/>
          </a:xfrm>
          <a:prstGeom prst="roundRect">
            <a:avLst>
              <a:gd name="adj" fmla="val 14118"/>
            </a:avLst>
          </a:prstGeom>
          <a:solidFill>
            <a:srgbClr val="16345C">
              <a:alpha val="90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601054" y="1856232"/>
            <a:ext cx="411480" cy="41148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39" name="Image 5" descr="/home/claude/ppt/images/icon_tools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637" y="1948815"/>
            <a:ext cx="226314" cy="22631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111850" y="22860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DockerExecutor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6806794" y="2560320"/>
            <a:ext cx="0" cy="3017520"/>
          </a:xfrm>
          <a:prstGeom prst="line">
            <a:avLst/>
          </a:prstGeom>
          <a:noFill/>
          <a:ln w="12700">
            <a:solidFill>
              <a:srgbClr val="10B981">
                <a:alpha val="60000"/>
              </a:srgbClr>
            </a:solidFill>
            <a:prstDash val="dash"/>
          </a:ln>
        </p:spPr>
      </p:sp>
      <p:sp>
        <p:nvSpPr>
          <p:cNvPr id="42" name="Shape 34"/>
          <p:cNvSpPr/>
          <p:nvPr/>
        </p:nvSpPr>
        <p:spPr>
          <a:xfrm>
            <a:off x="6111850" y="2834640"/>
            <a:ext cx="1389888" cy="548640"/>
          </a:xfrm>
          <a:prstGeom prst="roundRect">
            <a:avLst>
              <a:gd name="adj" fmla="val 10000"/>
            </a:avLst>
          </a:prstGeom>
          <a:solidFill>
            <a:srgbClr val="10B981">
              <a:alpha val="20000"/>
            </a:srgbClr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6139282" y="28346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executeAction() runs op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7465162" y="3977640"/>
            <a:ext cx="105156" cy="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45" name="Shape 37"/>
          <p:cNvSpPr/>
          <p:nvPr/>
        </p:nvSpPr>
        <p:spPr>
          <a:xfrm>
            <a:off x="7579462" y="1783080"/>
            <a:ext cx="1298448" cy="777240"/>
          </a:xfrm>
          <a:prstGeom prst="roundRect">
            <a:avLst>
              <a:gd name="adj" fmla="val 14118"/>
            </a:avLst>
          </a:prstGeom>
          <a:solidFill>
            <a:srgbClr val="16345C">
              <a:alpha val="90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8022946" y="1856232"/>
            <a:ext cx="411480" cy="41148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47" name="Image 6" descr="/home/claude/ppt/images/icon_docker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5529" y="1948815"/>
            <a:ext cx="226314" cy="226314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7533742" y="22860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lang="en-US" sz="950" dirty="0"/>
          </a:p>
        </p:txBody>
      </p:sp>
      <p:sp>
        <p:nvSpPr>
          <p:cNvPr id="49" name="Shape 40"/>
          <p:cNvSpPr/>
          <p:nvPr/>
        </p:nvSpPr>
        <p:spPr>
          <a:xfrm>
            <a:off x="8228686" y="2560320"/>
            <a:ext cx="0" cy="3017520"/>
          </a:xfrm>
          <a:prstGeom prst="line">
            <a:avLst/>
          </a:prstGeom>
          <a:noFill/>
          <a:ln w="12700">
            <a:solidFill>
              <a:srgbClr val="10B981">
                <a:alpha val="60000"/>
              </a:srgbClr>
            </a:solidFill>
            <a:prstDash val="dash"/>
          </a:ln>
        </p:spPr>
      </p:sp>
      <p:sp>
        <p:nvSpPr>
          <p:cNvPr id="50" name="Shape 41"/>
          <p:cNvSpPr/>
          <p:nvPr/>
        </p:nvSpPr>
        <p:spPr>
          <a:xfrm>
            <a:off x="7533742" y="2834640"/>
            <a:ext cx="1389888" cy="548640"/>
          </a:xfrm>
          <a:prstGeom prst="roundRect">
            <a:avLst>
              <a:gd name="adj" fmla="val 10000"/>
            </a:avLst>
          </a:prstGeom>
          <a:solidFill>
            <a:srgbClr val="10B981">
              <a:alpha val="20000"/>
            </a:srgbClr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7561174" y="28346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container action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8887054" y="3977640"/>
            <a:ext cx="105156" cy="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53" name="Shape 44"/>
          <p:cNvSpPr/>
          <p:nvPr/>
        </p:nvSpPr>
        <p:spPr>
          <a:xfrm>
            <a:off x="9001354" y="1783080"/>
            <a:ext cx="1298448" cy="777240"/>
          </a:xfrm>
          <a:prstGeom prst="roundRect">
            <a:avLst>
              <a:gd name="adj" fmla="val 14118"/>
            </a:avLst>
          </a:prstGeom>
          <a:solidFill>
            <a:srgbClr val="16345C">
              <a:alpha val="9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9444838" y="1856232"/>
            <a:ext cx="411480" cy="41148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55" name="Image 7" descr="/home/claude/ppt/images/icon_exchange_oran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7421" y="1948815"/>
            <a:ext cx="226314" cy="226314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8955634" y="22860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Formatter</a:t>
            </a:r>
            <a:endParaRPr lang="en-US" sz="950" dirty="0"/>
          </a:p>
        </p:txBody>
      </p:sp>
      <p:sp>
        <p:nvSpPr>
          <p:cNvPr id="57" name="Shape 47"/>
          <p:cNvSpPr/>
          <p:nvPr/>
        </p:nvSpPr>
        <p:spPr>
          <a:xfrm>
            <a:off x="9650578" y="2560320"/>
            <a:ext cx="0" cy="3017520"/>
          </a:xfrm>
          <a:prstGeom prst="line">
            <a:avLst/>
          </a:prstGeom>
          <a:noFill/>
          <a:ln w="12700">
            <a:solidFill>
              <a:srgbClr val="F59E0B">
                <a:alpha val="60000"/>
              </a:srgbClr>
            </a:solidFill>
            <a:prstDash val="dash"/>
          </a:ln>
        </p:spPr>
      </p:sp>
      <p:sp>
        <p:nvSpPr>
          <p:cNvPr id="58" name="Shape 48"/>
          <p:cNvSpPr/>
          <p:nvPr/>
        </p:nvSpPr>
        <p:spPr>
          <a:xfrm>
            <a:off x="8955634" y="2834640"/>
            <a:ext cx="1389888" cy="548640"/>
          </a:xfrm>
          <a:prstGeom prst="roundRect">
            <a:avLst>
              <a:gd name="adj" fmla="val 10000"/>
            </a:avLst>
          </a:prstGeom>
          <a:solidFill>
            <a:srgbClr val="F59E0B">
              <a:alpha val="20000"/>
            </a:srgbClr>
          </a:solidFill>
          <a:ln w="9525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59" name="Text 49"/>
          <p:cNvSpPr/>
          <p:nvPr/>
        </p:nvSpPr>
        <p:spPr>
          <a:xfrm>
            <a:off x="8983066" y="28346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result payload</a:t>
            </a:r>
            <a:endParaRPr lang="en-US" sz="900" dirty="0"/>
          </a:p>
        </p:txBody>
      </p:sp>
      <p:sp>
        <p:nvSpPr>
          <p:cNvPr id="60" name="Shape 50"/>
          <p:cNvSpPr/>
          <p:nvPr/>
        </p:nvSpPr>
        <p:spPr>
          <a:xfrm>
            <a:off x="10308946" y="3977640"/>
            <a:ext cx="105156" cy="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61" name="Shape 51"/>
          <p:cNvSpPr/>
          <p:nvPr/>
        </p:nvSpPr>
        <p:spPr>
          <a:xfrm>
            <a:off x="10423246" y="1783080"/>
            <a:ext cx="1298448" cy="777240"/>
          </a:xfrm>
          <a:prstGeom prst="roundRect">
            <a:avLst>
              <a:gd name="adj" fmla="val 14118"/>
            </a:avLst>
          </a:prstGeom>
          <a:solidFill>
            <a:srgbClr val="16345C">
              <a:alpha val="9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2" name="Shape 52"/>
          <p:cNvSpPr/>
          <p:nvPr/>
        </p:nvSpPr>
        <p:spPr>
          <a:xfrm>
            <a:off x="10866730" y="1856232"/>
            <a:ext cx="411480" cy="41148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63" name="Image 8" descr="/home/claude/ppt/images/icon_desktop_oran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9313" y="1948815"/>
            <a:ext cx="226314" cy="226314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10377526" y="22860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65" name="Shape 54"/>
          <p:cNvSpPr/>
          <p:nvPr/>
        </p:nvSpPr>
        <p:spPr>
          <a:xfrm>
            <a:off x="11072470" y="2560320"/>
            <a:ext cx="0" cy="3017520"/>
          </a:xfrm>
          <a:prstGeom prst="line">
            <a:avLst/>
          </a:prstGeom>
          <a:noFill/>
          <a:ln w="12700">
            <a:solidFill>
              <a:srgbClr val="F59E0B">
                <a:alpha val="60000"/>
              </a:srgbClr>
            </a:solidFill>
            <a:prstDash val="dash"/>
          </a:ln>
        </p:spPr>
      </p:sp>
      <p:sp>
        <p:nvSpPr>
          <p:cNvPr id="66" name="Shape 55"/>
          <p:cNvSpPr/>
          <p:nvPr/>
        </p:nvSpPr>
        <p:spPr>
          <a:xfrm>
            <a:off x="10377526" y="2834640"/>
            <a:ext cx="1389888" cy="548640"/>
          </a:xfrm>
          <a:prstGeom prst="roundRect">
            <a:avLst>
              <a:gd name="adj" fmla="val 10000"/>
            </a:avLst>
          </a:prstGeom>
          <a:solidFill>
            <a:srgbClr val="F59E0B">
              <a:alpha val="20000"/>
            </a:srgbClr>
          </a:solidFill>
          <a:ln w="9525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67" name="Text 56"/>
          <p:cNvSpPr/>
          <p:nvPr/>
        </p:nvSpPr>
        <p:spPr>
          <a:xfrm>
            <a:off x="10404958" y="28346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final response</a:t>
            </a:r>
            <a:endParaRPr lang="en-US" sz="900" dirty="0"/>
          </a:p>
        </p:txBody>
      </p:sp>
      <p:sp>
        <p:nvSpPr>
          <p:cNvPr id="68" name="Shape 57"/>
          <p:cNvSpPr/>
          <p:nvPr/>
        </p:nvSpPr>
        <p:spPr>
          <a:xfrm>
            <a:off x="1158088" y="4160520"/>
            <a:ext cx="201168" cy="201168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69" name="Text 58"/>
          <p:cNvSpPr/>
          <p:nvPr/>
        </p:nvSpPr>
        <p:spPr>
          <a:xfrm>
            <a:off x="1450696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00" dirty="0"/>
          </a:p>
        </p:txBody>
      </p:sp>
      <p:sp>
        <p:nvSpPr>
          <p:cNvPr id="70" name="Shape 59"/>
          <p:cNvSpPr/>
          <p:nvPr/>
        </p:nvSpPr>
        <p:spPr>
          <a:xfrm>
            <a:off x="3626968" y="4160520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1" name="Text 60"/>
          <p:cNvSpPr/>
          <p:nvPr/>
        </p:nvSpPr>
        <p:spPr>
          <a:xfrm>
            <a:off x="3919576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300" dirty="0"/>
          </a:p>
        </p:txBody>
      </p:sp>
      <p:sp>
        <p:nvSpPr>
          <p:cNvPr id="72" name="Shape 61"/>
          <p:cNvSpPr/>
          <p:nvPr/>
        </p:nvSpPr>
        <p:spPr>
          <a:xfrm>
            <a:off x="6095848" y="416052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3" name="Text 62"/>
          <p:cNvSpPr/>
          <p:nvPr/>
        </p:nvSpPr>
        <p:spPr>
          <a:xfrm>
            <a:off x="6388456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Execution</a:t>
            </a:r>
            <a:endParaRPr lang="en-US" sz="1300" dirty="0"/>
          </a:p>
        </p:txBody>
      </p:sp>
      <p:sp>
        <p:nvSpPr>
          <p:cNvPr id="74" name="Shape 63"/>
          <p:cNvSpPr/>
          <p:nvPr/>
        </p:nvSpPr>
        <p:spPr>
          <a:xfrm>
            <a:off x="8564728" y="416052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5" name="Text 64"/>
          <p:cNvSpPr/>
          <p:nvPr/>
        </p:nvSpPr>
        <p:spPr>
          <a:xfrm>
            <a:off x="8857336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76" name="Shape 65"/>
          <p:cNvSpPr/>
          <p:nvPr/>
        </p:nvSpPr>
        <p:spPr>
          <a:xfrm>
            <a:off x="548640" y="4572000"/>
            <a:ext cx="11064240" cy="1691640"/>
          </a:xfrm>
          <a:prstGeom prst="roundRect">
            <a:avLst>
              <a:gd name="adj" fmla="val 6486"/>
            </a:avLst>
          </a:prstGeom>
          <a:solidFill>
            <a:srgbClr val="0F2742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7" name="Text 66"/>
          <p:cNvSpPr/>
          <p:nvPr/>
        </p:nvSpPr>
        <p:spPr>
          <a:xfrm>
            <a:off x="82296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Cycle Explained</a:t>
            </a:r>
            <a:endParaRPr lang="en-US" sz="1600" dirty="0"/>
          </a:p>
        </p:txBody>
      </p:sp>
      <p:sp>
        <p:nvSpPr>
          <p:cNvPr id="78" name="Text 67"/>
          <p:cNvSpPr/>
          <p:nvPr/>
        </p:nvSpPr>
        <p:spPr>
          <a:xfrm>
            <a:off x="822960" y="51206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 request (e.g. "restart unhealthy containers") on the dashboard.</a:t>
            </a:r>
            <a:endParaRPr lang="en-US" sz="1200" dirty="0"/>
          </a:p>
        </p:txBody>
      </p:sp>
      <p:sp>
        <p:nvSpPr>
          <p:cNvPr id="79" name="Text 68"/>
          <p:cNvSpPr/>
          <p:nvPr/>
        </p:nvSpPr>
        <p:spPr>
          <a:xfrm>
            <a:off x="6355080" y="51206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forwards it to AgentController.runAgent(), which drives the whole cycle.</a:t>
            </a:r>
            <a:endParaRPr lang="en-US" sz="1200" dirty="0"/>
          </a:p>
        </p:txBody>
      </p:sp>
      <p:sp>
        <p:nvSpPr>
          <p:cNvPr id="80" name="Text 69"/>
          <p:cNvSpPr/>
          <p:nvPr/>
        </p:nvSpPr>
        <p:spPr>
          <a:xfrm>
            <a:off x="822960" y="550468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LLMService.translate() asks Ollama to convert the prompt into a structured intent.</a:t>
            </a:r>
            <a:endParaRPr lang="en-US" sz="1200" dirty="0"/>
          </a:p>
        </p:txBody>
      </p:sp>
      <p:sp>
        <p:nvSpPr>
          <p:cNvPr id="81" name="Text 70"/>
          <p:cNvSpPr/>
          <p:nvPr/>
        </p:nvSpPr>
        <p:spPr>
          <a:xfrm>
            <a:off x="6355080" y="550468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DockerExecutor.executeAction() runs the corresponding Docker Engine command.</a:t>
            </a:r>
            <a:endParaRPr lang="en-US" sz="1200" dirty="0"/>
          </a:p>
        </p:txBody>
      </p:sp>
      <p:sp>
        <p:nvSpPr>
          <p:cNvPr id="82" name="Text 71"/>
          <p:cNvSpPr/>
          <p:nvPr/>
        </p:nvSpPr>
        <p:spPr>
          <a:xfrm>
            <a:off x="822960" y="5888736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formatted and pushed back to the dashboard for the user to see.</a:t>
            </a:r>
            <a:endParaRPr lang="en-US" sz="1200" dirty="0"/>
          </a:p>
        </p:txBody>
      </p:sp>
      <p:sp>
        <p:nvSpPr>
          <p:cNvPr id="83" name="Text 7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 |  AI Docker NL Dashboard</a:t>
            </a:r>
            <a:endParaRPr lang="en-US" sz="1100" dirty="0"/>
          </a:p>
        </p:txBody>
      </p:sp>
      <p:sp>
        <p:nvSpPr>
          <p:cNvPr id="84" name="Text 7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Integration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readable documentation powering the project's technical content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93392"/>
            <a:ext cx="658368" cy="658368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6" name="Image 0" descr="/home/claude/ppt/images/icon_code_docker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41525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0136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Markdown?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213055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is a lightweight plain-text formatting language that converts to styled HTML with minimal syntax — making documentation fast to write and easy to read on any platform.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4F8FF"/>
          </a:solidFill>
          <a:ln/>
          <a:effectLst>
            <a:outerShdw sx="100000" sy="100000" kx="0" ky="0" algn="bl" rotWithShape="0" blurRad="76200" dist="25400" dir="27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3465576"/>
            <a:ext cx="658368" cy="658368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11" name="Image 1" descr="/home/claude/ppt/images/icon_bulb_docker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61370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327355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Markdown is Used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554480" y="363016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natively on GitHub, GitLab and most dev platforms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554480" y="390448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editor needed — any text editor works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554480" y="417880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friendly — diffs are human-readable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599432"/>
            <a:ext cx="5486400" cy="1627632"/>
          </a:xfrm>
          <a:prstGeom prst="roundRect">
            <a:avLst>
              <a:gd name="adj" fmla="val 6742"/>
            </a:avLst>
          </a:prstGeom>
          <a:solidFill>
            <a:srgbClr val="F4F8FF"/>
          </a:solidFill>
          <a:ln w="9525">
            <a:solidFill>
              <a:srgbClr val="2496ED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77240" y="47091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Markdown Helps Users &amp; Developers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77240" y="509320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README files explain how to run the dashboard without navigating code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77240" y="54406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Developers: API docs, setup guides and changelogs stay inside the repo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77240" y="578815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Reviewers: Clean, structured documentation speeds up project evaluation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309360" y="1691640"/>
            <a:ext cx="5333695" cy="694944"/>
          </a:xfrm>
          <a:prstGeom prst="roundRect">
            <a:avLst>
              <a:gd name="adj" fmla="val 11842"/>
            </a:avLst>
          </a:prstGeom>
          <a:solidFill>
            <a:srgbClr val="F4F8FF"/>
          </a:solidFill>
          <a:ln/>
          <a:effectLst>
            <a:outerShdw sx="100000" sy="100000" kx="0" ky="0" algn="bl" rotWithShape="0" blurRad="63500" dist="25400" dir="2700000">
              <a:srgbClr val="1E2761">
                <a:alpha val="9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73952" y="1801368"/>
            <a:ext cx="475488" cy="475488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23" name="Image 2" descr="/home/claude/ppt/images/icon_list_docker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937" y="1908353"/>
            <a:ext cx="261518" cy="26151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77456" y="1764792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Documentation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7077456" y="2039112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structured docs using simple #, *, **, [] syntax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309360" y="2455164"/>
            <a:ext cx="5333695" cy="694944"/>
          </a:xfrm>
          <a:prstGeom prst="roundRect">
            <a:avLst>
              <a:gd name="adj" fmla="val 11842"/>
            </a:avLst>
          </a:prstGeom>
          <a:solidFill>
            <a:srgbClr val="F4F8FF"/>
          </a:solidFill>
          <a:ln/>
          <a:effectLst>
            <a:outerShdw sx="100000" sy="100000" kx="0" ky="0" algn="bl" rotWithShape="0" blurRad="63500" dist="25400" dir="2700000">
              <a:srgbClr val="1E2761">
                <a:alpha val="9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73952" y="2564892"/>
            <a:ext cx="475488" cy="475488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28" name="Image 3" descr="/home/claude/ppt/images/icon_search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937" y="2671877"/>
            <a:ext cx="261518" cy="26151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077456" y="2528316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077456" y="2802636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is human-readable even before rendering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309360" y="3218688"/>
            <a:ext cx="5333695" cy="694944"/>
          </a:xfrm>
          <a:prstGeom prst="roundRect">
            <a:avLst>
              <a:gd name="adj" fmla="val 11842"/>
            </a:avLst>
          </a:prstGeom>
          <a:solidFill>
            <a:srgbClr val="F4F8FF"/>
          </a:solidFill>
          <a:ln/>
          <a:effectLst>
            <a:outerShdw sx="100000" sy="100000" kx="0" ky="0" algn="bl" rotWithShape="0" blurRad="63500" dist="25400" dir="2700000">
              <a:srgbClr val="1E2761">
                <a:alpha val="9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473952" y="3328416"/>
            <a:ext cx="475488" cy="475488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33" name="Image 4" descr="/home/claude/ppt/images/icon_bolt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937" y="3435401"/>
            <a:ext cx="261518" cy="26151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077456" y="329184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Format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7077456" y="3566160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bloated editors — just .md files in the repo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309360" y="3982212"/>
            <a:ext cx="5333695" cy="694944"/>
          </a:xfrm>
          <a:prstGeom prst="roundRect">
            <a:avLst>
              <a:gd name="adj" fmla="val 11842"/>
            </a:avLst>
          </a:prstGeom>
          <a:solidFill>
            <a:srgbClr val="F4F8FF"/>
          </a:solidFill>
          <a:ln/>
          <a:effectLst>
            <a:outerShdw sx="100000" sy="100000" kx="0" ky="0" algn="bl" rotWithShape="0" blurRad="63500" dist="25400" dir="2700000">
              <a:srgbClr val="1E2761">
                <a:alpha val="9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473952" y="4091940"/>
            <a:ext cx="475488" cy="475488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38" name="Image 5" descr="/home/claude/ppt/images/icon_code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0937" y="4198925"/>
            <a:ext cx="261518" cy="26151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077456" y="4055364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Doc Support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7077456" y="4329684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blocks, tables, links and headers all natively supported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6309360" y="4745736"/>
            <a:ext cx="5333695" cy="694944"/>
          </a:xfrm>
          <a:prstGeom prst="roundRect">
            <a:avLst>
              <a:gd name="adj" fmla="val 11842"/>
            </a:avLst>
          </a:prstGeom>
          <a:solidFill>
            <a:srgbClr val="F4F8FF"/>
          </a:solidFill>
          <a:ln/>
          <a:effectLst>
            <a:outerShdw sx="100000" sy="100000" kx="0" ky="0" algn="bl" rotWithShape="0" blurRad="63500" dist="25400" dir="2700000">
              <a:srgbClr val="1E2761">
                <a:alpha val="9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6473952" y="4855464"/>
            <a:ext cx="475488" cy="475488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43" name="Image 6" descr="/home/claude/ppt/images/icon_users_docker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0937" y="4962449"/>
            <a:ext cx="261518" cy="26151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7077456" y="4818888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Friendly</a:t>
            </a:r>
            <a:endParaRPr lang="en-US" sz="1300" dirty="0"/>
          </a:p>
        </p:txBody>
      </p:sp>
      <p:sp>
        <p:nvSpPr>
          <p:cNvPr id="45" name="Text 36"/>
          <p:cNvSpPr/>
          <p:nvPr/>
        </p:nvSpPr>
        <p:spPr>
          <a:xfrm>
            <a:off x="7077456" y="5093208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open-source — README.md is universal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6309360" y="5509260"/>
            <a:ext cx="5333695" cy="694944"/>
          </a:xfrm>
          <a:prstGeom prst="roundRect">
            <a:avLst>
              <a:gd name="adj" fmla="val 11842"/>
            </a:avLst>
          </a:prstGeom>
          <a:solidFill>
            <a:srgbClr val="F4F8FF"/>
          </a:solidFill>
          <a:ln/>
          <a:effectLst>
            <a:outerShdw sx="100000" sy="100000" kx="0" ky="0" algn="bl" rotWithShape="0" blurRad="63500" dist="25400" dir="2700000">
              <a:srgbClr val="1E2761">
                <a:alpha val="9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6473952" y="5618988"/>
            <a:ext cx="475488" cy="475488"/>
          </a:xfrm>
          <a:prstGeom prst="ellipse">
            <a:avLst/>
          </a:prstGeom>
          <a:solidFill>
            <a:srgbClr val="60A5FA">
              <a:alpha val="22000"/>
            </a:srgbClr>
          </a:solidFill>
          <a:ln w="12700">
            <a:solidFill>
              <a:srgbClr val="60A5FA">
                <a:alpha val="60000"/>
              </a:srgbClr>
            </a:solidFill>
            <a:prstDash val="solid"/>
          </a:ln>
        </p:spPr>
      </p:sp>
      <p:pic>
        <p:nvPicPr>
          <p:cNvPr id="48" name="Image 7" descr="/home/claude/ppt/images/icon_link_light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0937" y="5725973"/>
            <a:ext cx="261518" cy="261518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7077456" y="5582412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Agnostic</a:t>
            </a:r>
            <a:endParaRPr lang="en-US" sz="1300" dirty="0"/>
          </a:p>
        </p:txBody>
      </p:sp>
      <p:sp>
        <p:nvSpPr>
          <p:cNvPr id="50" name="Text 40"/>
          <p:cNvSpPr/>
          <p:nvPr/>
        </p:nvSpPr>
        <p:spPr>
          <a:xfrm>
            <a:off x="7077456" y="5856732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on GitHub, Notion, VS Code, Confluence and more</a:t>
            </a:r>
            <a:endParaRPr lang="en-US" sz="1100" dirty="0"/>
          </a:p>
        </p:txBody>
      </p:sp>
      <p:sp>
        <p:nvSpPr>
          <p:cNvPr id="51" name="Text 41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 |  AI Docker NL Dashboard</a:t>
            </a:r>
            <a:endParaRPr lang="en-US" sz="1100" dirty="0"/>
          </a:p>
        </p:txBody>
      </p:sp>
      <p:sp>
        <p:nvSpPr>
          <p:cNvPr id="52" name="Text 4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images/dark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This For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C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of the AI Docker Dashboard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394460" y="2057400"/>
            <a:ext cx="914400" cy="914400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7" name="Image 1" descr="/home/claude/ppt/images/icon_code_docker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26314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1097280" y="3703320"/>
            <a:ext cx="1508760" cy="0"/>
          </a:xfrm>
          <a:prstGeom prst="line">
            <a:avLst/>
          </a:prstGeom>
          <a:noFill/>
          <a:ln w="19050">
            <a:solidFill>
              <a:srgbClr val="2496ED">
                <a:alpha val="6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393192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manage containers without leaving the dashboard during development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383280" y="16916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29100" y="2057400"/>
            <a:ext cx="914400" cy="91440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13" name="Image 2" descr="/home/claude/ppt/images/icon_usercog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2631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83280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3931920" y="3703320"/>
            <a:ext cx="1508760" cy="0"/>
          </a:xfrm>
          <a:prstGeom prst="line">
            <a:avLst/>
          </a:prstGeom>
          <a:noFill/>
          <a:ln w="1905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611880" y="393192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check container health &amp; resource usage using natural language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17920" y="16916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063740" y="2057400"/>
            <a:ext cx="914400" cy="91440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19" name="Image 3" descr="/home/claude/ppt/images/icon_grad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6314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17920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6766560" y="3703320"/>
            <a:ext cx="1508760" cy="0"/>
          </a:xfrm>
          <a:prstGeom prst="line">
            <a:avLst/>
          </a:prstGeom>
          <a:noFill/>
          <a:ln w="1905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446520" y="393192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Docker concepts interactively without memorizing CLI commands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9052560" y="16916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898380" y="2057400"/>
            <a:ext cx="914400" cy="91440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25" name="Image 4" descr="/home/claude/ppt/images/icon_rocket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4120" y="2263140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52560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Team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9601200" y="3703320"/>
            <a:ext cx="1508760" cy="0"/>
          </a:xfrm>
          <a:prstGeom prst="line">
            <a:avLst/>
          </a:prstGeom>
          <a:noFill/>
          <a:ln w="1905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9281160" y="393192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container oversight without setting up complex tooling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 |  AI Docker NL Dashboard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images/dark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 Proposition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C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commands vs Prompt + Dashboard experience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0F2742">
              <a:alpha val="9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</p:sp>
      <p:pic>
        <p:nvPicPr>
          <p:cNvPr id="7" name="Image 1" descr="/home/claude/ppt/images/icon_terminal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85" y="2120265"/>
            <a:ext cx="377190" cy="3771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Commands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868680" y="29260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exact docker CLI syntax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68680" y="3474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 flags and subcommands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68680" y="4023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many terminal windows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68680" y="45720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visual feedback - text output only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868680" y="5120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for non-experts and beginners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217920" y="169164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2496ED">
              <a:alpha val="18000"/>
            </a:srgbClr>
          </a:solidFill>
          <a:ln w="12700">
            <a:solidFill>
              <a:srgbClr val="2496ED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37960" y="1965960"/>
            <a:ext cx="685800" cy="685800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16" name="Image 2" descr="/home/claude/ppt/images/icon_commentDots_docker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265" y="212026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6092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Dashboard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6537960" y="29260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you want in plain English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537960" y="3474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(Ollama) translates intent automatically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537960" y="4023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AgentController + DockerExecutor act for you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537960" y="45720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visual results on one screen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537960" y="5120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developers of all skill levels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 |  AI Docker NL Dashboard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faced during implementation and how we solved them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F4F8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6" name="Image 0" descr="/home/claude/ppt/images/icon_brain_purp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971" y="205397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562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508760" y="21031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varied natural language phrasing into precise Docker actions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2880360"/>
            <a:ext cx="5029200" cy="0"/>
          </a:xfrm>
          <a:prstGeom prst="line">
            <a:avLst/>
          </a:prstGeom>
          <a:noFill/>
          <a:ln w="12700">
            <a:solidFill>
              <a:srgbClr val="D6E4F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971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32278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structured prompt templates for LLMService.translate() to constrain Ollama output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17920" y="169164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F4F8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1920240"/>
            <a:ext cx="594360" cy="594360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14" name="Image 1" descr="/home/claude/ppt/images/icon_shield_docker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251" y="2053971"/>
            <a:ext cx="326898" cy="32689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18562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78040" y="21031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DockerExecutor only runs safe, valid container operations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46520" y="2880360"/>
            <a:ext cx="5029200" cy="0"/>
          </a:xfrm>
          <a:prstGeom prst="line">
            <a:avLst/>
          </a:prstGeom>
          <a:noFill/>
          <a:ln w="12700">
            <a:solidFill>
              <a:srgbClr val="D6E4F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46520" y="2971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446520" y="32278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AgentController validates intent before DockerExecutor.executeAction() runs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640" y="397764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F4F8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" y="4206240"/>
            <a:ext cx="594360" cy="59436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22" name="Image 2" descr="/home/claude/ppt/images/icon_bolt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71" y="4339971"/>
            <a:ext cx="326898" cy="32689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08760" y="41422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508760" y="43891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dashboard responsive during long-running Docker operations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777240" y="5166360"/>
            <a:ext cx="5029200" cy="0"/>
          </a:xfrm>
          <a:prstGeom prst="line">
            <a:avLst/>
          </a:prstGeom>
          <a:noFill/>
          <a:ln w="12700">
            <a:solidFill>
              <a:srgbClr val="D6E4F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77240" y="5257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777240" y="55138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execution with clear loading and status states in the React UI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6217920" y="397764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F4F8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446520" y="4206240"/>
            <a:ext cx="594360" cy="59436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30" name="Image 3" descr="/home/claude/ppt/images/icon_exchange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251" y="4339971"/>
            <a:ext cx="326898" cy="32689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178040" y="41422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178040" y="43891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inconsistent or partial Docker Engine responses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6446520" y="5166360"/>
            <a:ext cx="5029200" cy="0"/>
          </a:xfrm>
          <a:prstGeom prst="line">
            <a:avLst/>
          </a:prstGeom>
          <a:noFill/>
          <a:ln w="12700">
            <a:solidFill>
              <a:srgbClr val="D6E4FB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446520" y="5257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6446520" y="55138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response formatting before sending data to the dashboard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 |  AI Docker NL Dashboard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images/dark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C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 beyond the current implementation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08864" y="169164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94664" y="2011680"/>
            <a:ext cx="731520" cy="731520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7" name="Image 1" descr="/home/claude/ppt/images/icon_cubes_docker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56" y="2176272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8592" y="292608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Support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46024" y="37033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orchestration beyond single-host Docker Engine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2776576" y="169164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62376" y="2011680"/>
            <a:ext cx="731520" cy="73152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12" name="Image 2" descr="/home/claude/ppt/images/icon_cloud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968" y="217627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86304" y="292608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2913736" y="37033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the dashboard and agent on cloud infrastructure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044288" y="169164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730088" y="2011680"/>
            <a:ext cx="731520" cy="73152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17" name="Image 3" descr="/home/claude/ppt/images/icon_mic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680" y="217627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54016" y="292608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5181448" y="37033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Voice-driven prompts for hands-free container management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312000" y="169164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997800" y="2011680"/>
            <a:ext cx="731520" cy="73152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22" name="Image 4" descr="/home/claude/ppt/images/icon_mobile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2392" y="2176272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21728" y="292608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7449160" y="37033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mobile app for monitoring on the go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9579712" y="169164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10265512" y="2011680"/>
            <a:ext cx="731520" cy="731520"/>
          </a:xfrm>
          <a:prstGeom prst="ellipse">
            <a:avLst/>
          </a:prstGeom>
          <a:solidFill>
            <a:srgbClr val="60A5FA">
              <a:alpha val="22000"/>
            </a:srgbClr>
          </a:solidFill>
          <a:ln w="12700">
            <a:solidFill>
              <a:srgbClr val="60A5FA">
                <a:alpha val="60000"/>
              </a:srgbClr>
            </a:solidFill>
            <a:prstDash val="solid"/>
          </a:ln>
        </p:spPr>
      </p:sp>
      <p:pic>
        <p:nvPicPr>
          <p:cNvPr id="27" name="Image 5" descr="/home/claude/ppt/images/icon_bulb_light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0104" y="2176272"/>
            <a:ext cx="402336" cy="40233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689440" y="292608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9716872" y="37033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AI-suggested optimizations based on usage patterns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 |  AI Docker NL Dashboard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improvements over traditional Docker workflows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86588" y="17830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4F8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35328" y="2103120"/>
            <a:ext cx="822960" cy="822960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6" name="Image 0" descr="/home/claude/ppt/images/icon_hands_docker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0494" y="228828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6588" y="30632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86588" y="37033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0908" y="41605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replaces multi-step CLI sequences for common tasks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35628" y="17830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4F8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84368" y="2103120"/>
            <a:ext cx="822960" cy="82296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12" name="Image 1" descr="/home/claude/ppt/images/icon_chart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534" y="2288286"/>
            <a:ext cx="452628" cy="4526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35628" y="30632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4335628" y="37033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09948" y="41605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container stats, logs and health in a single unified view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84668" y="17830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4F8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33408" y="2103120"/>
            <a:ext cx="822960" cy="82296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18" name="Image 2" descr="/home/claude/ppt/images/icon_commentDots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8574" y="2288286"/>
            <a:ext cx="452628" cy="4526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84668" y="30632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8084668" y="37033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58988" y="41605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Prompt-driven actions accessible to users of any experience level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48640" y="52578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 streamlined, AI-assisted Docker monitoring and execution experience built on a fully working pipeline.</a:t>
            </a:r>
            <a:endParaRPr lang="en-US" sz="1350" dirty="0"/>
          </a:p>
        </p:txBody>
      </p:sp>
      <p:sp>
        <p:nvSpPr>
          <p:cNvPr id="23" name="Shape 18">
            <a:hlinkClick r:id="rId4" tooltip="Opens in browser"/>
          </p:cNvPr>
          <p:cNvSpPr/>
          <p:nvPr/>
        </p:nvSpPr>
        <p:spPr>
          <a:xfrm>
            <a:off x="4632808" y="5788152"/>
            <a:ext cx="2926080" cy="530352"/>
          </a:xfrm>
          <a:prstGeom prst="roundRect">
            <a:avLst>
              <a:gd name="adj" fmla="val 86207"/>
            </a:avLst>
          </a:prstGeom>
          <a:solidFill>
            <a:srgbClr val="2496ED"/>
          </a:solidFill>
          <a:ln/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4" name="Text 19">
            <a:hlinkClick r:id="rId5" tooltip="Opens in browser"/>
          </p:cNvPr>
          <p:cNvSpPr/>
          <p:nvPr/>
        </p:nvSpPr>
        <p:spPr>
          <a:xfrm>
            <a:off x="4632808" y="57881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Opens in brows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Launch Dashboard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 |  AI Docker NL Dashboard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images/dark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C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problem to working AI-powered Docker management system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0868" y="16916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55268" y="2011680"/>
            <a:ext cx="777240" cy="777240"/>
          </a:xfrm>
          <a:prstGeom prst="ellipse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pic>
        <p:nvPicPr>
          <p:cNvPr id="7" name="Image 1" descr="/home/claude/ppt/images/icon_warning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147" y="2186559"/>
            <a:ext cx="427482" cy="4274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0868" y="2926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05460" y="3429000"/>
            <a:ext cx="22768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management was manual, command-heavy and error-prone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165196" y="3337560"/>
            <a:ext cx="192024" cy="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3375508" y="16916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89908" y="2011680"/>
            <a:ext cx="777240" cy="777240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13" name="Image 2" descr="/home/claude/ppt/images/icon_sitemap_docker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787" y="2186559"/>
            <a:ext cx="427482" cy="4274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75508" y="2926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3540100" y="3429000"/>
            <a:ext cx="22768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dashboard, Express backend, Ollama AI and Docker Engine integrated end to end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999836" y="3337560"/>
            <a:ext cx="192024" cy="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6210148" y="16916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124548" y="2011680"/>
            <a:ext cx="777240" cy="77724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pic>
        <p:nvPicPr>
          <p:cNvPr id="19" name="Image 3" descr="/home/claude/ppt/images/icon_cogs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9427" y="2186559"/>
            <a:ext cx="427482" cy="4274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10148" y="2926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374740" y="3429000"/>
            <a:ext cx="22768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AgentController, LLMService and DockerExecutor form one reliable pipeline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834476" y="3337560"/>
            <a:ext cx="192024" cy="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9044788" y="16916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959188" y="2011680"/>
            <a:ext cx="777240" cy="77724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25" name="Image 4" descr="/home/claude/ppt/images/icon_flag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4067" y="2186559"/>
            <a:ext cx="427482" cy="42748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44788" y="2926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9209380" y="3429000"/>
            <a:ext cx="22768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AI-powered dashboard for natural language Docker monitoring &amp; control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1981048" y="5303520"/>
            <a:ext cx="8229600" cy="777240"/>
          </a:xfrm>
          <a:prstGeom prst="roundRect">
            <a:avLst>
              <a:gd name="adj" fmla="val 47059"/>
            </a:avLst>
          </a:prstGeom>
          <a:solidFill>
            <a:srgbClr val="0F2742">
              <a:alpha val="90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981048" y="5303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— Simplifying Docker Management using AI</a:t>
            </a:r>
            <a:endParaRPr lang="en-US" sz="1900" dirty="0"/>
          </a:p>
        </p:txBody>
      </p:sp>
      <p:sp>
        <p:nvSpPr>
          <p:cNvPr id="30" name="Text 2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 |  AI Docker NL Dashboard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images/hero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92928" y="1097280"/>
            <a:ext cx="1005840" cy="1005840"/>
          </a:xfrm>
          <a:prstGeom prst="ellipse">
            <a:avLst/>
          </a:prstGeom>
          <a:solidFill>
            <a:srgbClr val="2496ED">
              <a:alpha val="22000"/>
            </a:srgbClr>
          </a:solidFill>
          <a:ln w="12700">
            <a:solidFill>
              <a:srgbClr val="2496ED">
                <a:alpha val="60000"/>
              </a:srgbClr>
            </a:solidFill>
            <a:prstDash val="solid"/>
          </a:ln>
        </p:spPr>
      </p:sp>
      <p:pic>
        <p:nvPicPr>
          <p:cNvPr id="4" name="Image 1" descr="/home/claude/ppt/images/icon_docker_docker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242" y="1323594"/>
            <a:ext cx="553212" cy="5532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2"/>
          <p:cNvSpPr/>
          <p:nvPr/>
        </p:nvSpPr>
        <p:spPr>
          <a:xfrm>
            <a:off x="0" y="32461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F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2847442" y="4114800"/>
            <a:ext cx="1751076" cy="457200"/>
          </a:xfrm>
          <a:prstGeom prst="roundRect">
            <a:avLst>
              <a:gd name="adj" fmla="val 50000"/>
            </a:avLst>
          </a:prstGeom>
          <a:solidFill>
            <a:srgbClr val="0F2742">
              <a:alpha val="85000"/>
            </a:srgbClr>
          </a:solidFill>
          <a:ln w="9525">
            <a:solidFill>
              <a:srgbClr val="2496ED">
                <a:alpha val="5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847442" y="4114800"/>
            <a:ext cx="1751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Kumar M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781398" y="4114800"/>
            <a:ext cx="1175004" cy="457200"/>
          </a:xfrm>
          <a:prstGeom prst="roundRect">
            <a:avLst>
              <a:gd name="adj" fmla="val 50000"/>
            </a:avLst>
          </a:prstGeom>
          <a:solidFill>
            <a:srgbClr val="0F2742">
              <a:alpha val="85000"/>
            </a:srgbClr>
          </a:solidFill>
          <a:ln w="9525">
            <a:solidFill>
              <a:srgbClr val="2496ED">
                <a:alpha val="5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81398" y="4114800"/>
            <a:ext cx="117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K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39282" y="4114800"/>
            <a:ext cx="1751076" cy="457200"/>
          </a:xfrm>
          <a:prstGeom prst="roundRect">
            <a:avLst>
              <a:gd name="adj" fmla="val 50000"/>
            </a:avLst>
          </a:prstGeom>
          <a:solidFill>
            <a:srgbClr val="0F2742">
              <a:alpha val="85000"/>
            </a:srgbClr>
          </a:solidFill>
          <a:ln w="9525">
            <a:solidFill>
              <a:srgbClr val="2496ED">
                <a:alpha val="5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39282" y="4114800"/>
            <a:ext cx="1751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Salman Khan 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73238" y="4114800"/>
            <a:ext cx="1271016" cy="457200"/>
          </a:xfrm>
          <a:prstGeom prst="roundRect">
            <a:avLst>
              <a:gd name="adj" fmla="val 50000"/>
            </a:avLst>
          </a:prstGeom>
          <a:solidFill>
            <a:srgbClr val="0F2742">
              <a:alpha val="85000"/>
            </a:srgbClr>
          </a:solidFill>
          <a:ln w="9525">
            <a:solidFill>
              <a:srgbClr val="2496ED">
                <a:alpha val="5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073238" y="4114800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Yogesh 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0" y="63093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TechNova  |  AI-Powered Docker Natural Language Dashboard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images/dark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BannerBox"/>
          <p:cNvSpPr/>
          <p:nvPr/>
        </p:nvSpPr>
        <p:spPr>
          <a:xfrm>
            <a:off x="548640" y="1280000"/>
            <a:ext cx="11094415" cy="850000"/>
          </a:xfrm>
          <a:prstGeom prst="roundRect">
            <a:avLst>
              <a:gd name="adj" fmla="val 7000"/>
            </a:avLst>
          </a:prstGeom>
          <a:solidFill>
            <a:srgbClr val="3B4B63">
              <a:alpha val="75000"/>
            </a:srgbClr>
          </a:solidFill>
          <a:ln w="9525">
            <a:solidFill>
              <a:srgbClr val="8FA6C7">
                <a:alpha val="35000"/>
              </a:srgbClr>
            </a:solidFill>
            <a:prstDash val="solid"/>
          </a:ln>
        </p:spPr>
      </p:sp>
      <p:sp>
        <p:nvSpPr>
          <p:cNvPr id="5" name="StarBadge"/>
          <p:cNvSpPr/>
          <p:nvPr/>
        </p:nvSpPr>
        <p:spPr>
          <a:xfrm>
            <a:off x="640080" y="1378000"/>
            <a:ext cx="1568000" cy="380000"/>
          </a:xfrm>
          <a:prstGeom prst="roundRect">
            <a:avLst>
              <a:gd name="adj" fmla="val 50000"/>
            </a:avLst>
          </a:prstGeom>
          <a:solidFill>
            <a:srgbClr val="1B2D45">
              <a:alpha val="9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STAR FEATURE</a:t>
            </a:r>
            <a:endParaRPr lang="en-US" sz="1200" dirty="0"/>
          </a:p>
        </p:txBody>
      </p:sp>
      <p:sp>
        <p:nvSpPr>
          <p:cNvPr id="6" name="BannerTitle"/>
          <p:cNvSpPr/>
          <p:nvPr/>
        </p:nvSpPr>
        <p:spPr>
          <a:xfrm>
            <a:off x="2380000" y="1378000"/>
            <a:ext cx="9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CC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Globally Deployed Live Demo — Connect Any Docker Device Instantly</a:t>
            </a:r>
            <a:endParaRPr lang="en-US" sz="1700" dirty="0"/>
          </a:p>
        </p:txBody>
      </p:sp>
      <p:sp>
        <p:nvSpPr>
          <p:cNvPr id="7" name="BannerDesc"/>
          <p:cNvSpPr/>
          <p:nvPr/>
        </p:nvSpPr>
        <p:spPr>
          <a:xfrm>
            <a:off x="640080" y="1780000"/>
            <a:ext cx="1084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the hosted website → connect your Docker → copy ONE command → paste in terminal → your containers appear live. Works on any OS, any device, anywhere in the world.</a:t>
            </a:r>
            <a:endParaRPr lang="en-US" sz="1200" dirty="0"/>
          </a:p>
        </p:txBody>
      </p:sp>
      <p:sp>
        <p:nvSpPr>
          <p:cNvPr id="100" name="Card0"/>
          <p:cNvSpPr/>
          <p:nvPr/>
        </p:nvSpPr>
        <p:spPr>
          <a:xfrm>
            <a:off x="548640" y="2300000"/>
            <a:ext cx="2670810" cy="1500000"/>
          </a:xfrm>
          <a:prstGeom prst="roundRect">
            <a:avLst>
              <a:gd name="adj" fmla="val 5714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496ED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1" name="Circle0"/>
          <p:cNvSpPr/>
          <p:nvPr/>
        </p:nvSpPr>
        <p:spPr>
          <a:xfrm>
            <a:off x="1564005" y="2409960"/>
            <a:ext cx="640080" cy="640080"/>
          </a:xfrm>
          <a:prstGeom prst="ellipse">
            <a:avLst/>
          </a:prstGeom>
          <a:solidFill>
            <a:srgbClr val="2496ED">
              <a:alpha val="20000"/>
            </a:srgbClr>
          </a:solidFill>
          <a:ln w="12700">
            <a:solidFill>
              <a:srgbClr val="2496ED">
                <a:alpha val="55000"/>
              </a:srgbClr>
            </a:solidFill>
            <a:prstDash val="solid"/>
          </a:ln>
        </p:spPr>
      </p:sp>
      <p:pic>
        <p:nvPicPr>
          <p:cNvPr id="102" name="Icon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045" y="2600000"/>
            <a:ext cx="300000" cy="260000"/>
          </a:xfrm>
          <a:prstGeom prst="rect">
            <a:avLst/>
          </a:prstGeom>
        </p:spPr>
      </p:pic>
      <p:sp>
        <p:nvSpPr>
          <p:cNvPr id="103" name="CardTitle0"/>
          <p:cNvSpPr/>
          <p:nvPr/>
        </p:nvSpPr>
        <p:spPr>
          <a:xfrm>
            <a:off x="608640" y="3180000"/>
            <a:ext cx="255081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Command Execution</a:t>
            </a:r>
            <a:endParaRPr lang="en-US" sz="1400" dirty="0"/>
          </a:p>
        </p:txBody>
      </p:sp>
      <p:sp>
        <p:nvSpPr>
          <p:cNvPr id="104" name="CardDesc0"/>
          <p:cNvSpPr/>
          <p:nvPr/>
        </p:nvSpPr>
        <p:spPr>
          <a:xfrm>
            <a:off x="608640" y="3520000"/>
            <a:ext cx="255081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Docker action in milliseconds</a:t>
            </a:r>
            <a:endParaRPr lang="en-US" sz="1100" dirty="0"/>
          </a:p>
        </p:txBody>
      </p:sp>
      <p:sp>
        <p:nvSpPr>
          <p:cNvPr id="105" name="Card1"/>
          <p:cNvSpPr/>
          <p:nvPr/>
        </p:nvSpPr>
        <p:spPr>
          <a:xfrm>
            <a:off x="3356610" y="2300000"/>
            <a:ext cx="2670810" cy="1500000"/>
          </a:xfrm>
          <a:prstGeom prst="roundRect">
            <a:avLst>
              <a:gd name="adj" fmla="val 5714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6A8CB4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6" name="Circle1"/>
          <p:cNvSpPr/>
          <p:nvPr/>
        </p:nvSpPr>
        <p:spPr>
          <a:xfrm>
            <a:off x="4371975" y="2409960"/>
            <a:ext cx="640080" cy="640080"/>
          </a:xfrm>
          <a:prstGeom prst="ellipse">
            <a:avLst/>
          </a:prstGeom>
          <a:solidFill>
            <a:srgbClr val="6A8CB4">
              <a:alpha val="20000"/>
            </a:srgbClr>
          </a:solidFill>
          <a:ln w="12700">
            <a:solidFill>
              <a:srgbClr val="6A8CB4">
                <a:alpha val="55000"/>
              </a:srgbClr>
            </a:solidFill>
            <a:prstDash val="solid"/>
          </a:ln>
        </p:spPr>
      </p:sp>
      <p:pic>
        <p:nvPicPr>
          <p:cNvPr id="107" name="Icon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015" y="2615000"/>
            <a:ext cx="300000" cy="230000"/>
          </a:xfrm>
          <a:prstGeom prst="rect">
            <a:avLst/>
          </a:prstGeom>
        </p:spPr>
      </p:pic>
      <p:sp>
        <p:nvSpPr>
          <p:cNvPr id="108" name="CardTitle1"/>
          <p:cNvSpPr/>
          <p:nvPr/>
        </p:nvSpPr>
        <p:spPr>
          <a:xfrm>
            <a:off x="3416610" y="3180000"/>
            <a:ext cx="255081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8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400" dirty="0"/>
          </a:p>
        </p:txBody>
      </p:sp>
      <p:sp>
        <p:nvSpPr>
          <p:cNvPr id="109" name="CardDesc1"/>
          <p:cNvSpPr/>
          <p:nvPr/>
        </p:nvSpPr>
        <p:spPr>
          <a:xfrm>
            <a:off x="3416610" y="3520000"/>
            <a:ext cx="255081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updates every 3 seconds, no refresh needed</a:t>
            </a:r>
            <a:endParaRPr lang="en-US" sz="1100" dirty="0"/>
          </a:p>
        </p:txBody>
      </p:sp>
      <p:sp>
        <p:nvSpPr>
          <p:cNvPr id="110" name="Card2"/>
          <p:cNvSpPr/>
          <p:nvPr/>
        </p:nvSpPr>
        <p:spPr>
          <a:xfrm>
            <a:off x="6164580" y="2300000"/>
            <a:ext cx="2670810" cy="1500000"/>
          </a:xfrm>
          <a:prstGeom prst="roundRect">
            <a:avLst>
              <a:gd name="adj" fmla="val 5714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3B82F6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1" name="Circle2"/>
          <p:cNvSpPr/>
          <p:nvPr/>
        </p:nvSpPr>
        <p:spPr>
          <a:xfrm>
            <a:off x="7179945" y="2409960"/>
            <a:ext cx="640080" cy="64008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55000"/>
              </a:srgbClr>
            </a:solidFill>
            <a:prstDash val="solid"/>
          </a:ln>
        </p:spPr>
      </p:sp>
      <p:pic>
        <p:nvPicPr>
          <p:cNvPr id="112" name="Icon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985" y="2615000"/>
            <a:ext cx="300000" cy="230000"/>
          </a:xfrm>
          <a:prstGeom prst="rect">
            <a:avLst/>
          </a:prstGeom>
        </p:spPr>
      </p:pic>
      <p:sp>
        <p:nvSpPr>
          <p:cNvPr id="113" name="CardTitle2"/>
          <p:cNvSpPr/>
          <p:nvPr/>
        </p:nvSpPr>
        <p:spPr>
          <a:xfrm>
            <a:off x="6224580" y="3180000"/>
            <a:ext cx="255081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Controls</a:t>
            </a:r>
            <a:endParaRPr lang="en-US" sz="1400" dirty="0"/>
          </a:p>
        </p:txBody>
      </p:sp>
      <p:sp>
        <p:nvSpPr>
          <p:cNvPr id="114" name="CardDesc2"/>
          <p:cNvSpPr/>
          <p:nvPr/>
        </p:nvSpPr>
        <p:spPr>
          <a:xfrm>
            <a:off x="6224580" y="3520000"/>
            <a:ext cx="255081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Stop, Restart containers from the UI</a:t>
            </a:r>
            <a:endParaRPr lang="en-US" sz="1100" dirty="0"/>
          </a:p>
        </p:txBody>
      </p:sp>
      <p:sp>
        <p:nvSpPr>
          <p:cNvPr id="115" name="Card3"/>
          <p:cNvSpPr/>
          <p:nvPr/>
        </p:nvSpPr>
        <p:spPr>
          <a:xfrm>
            <a:off x="8972550" y="2300000"/>
            <a:ext cx="2670810" cy="1500000"/>
          </a:xfrm>
          <a:prstGeom prst="roundRect">
            <a:avLst>
              <a:gd name="adj" fmla="val 5714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E74C3C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6" name="Circle3"/>
          <p:cNvSpPr/>
          <p:nvPr/>
        </p:nvSpPr>
        <p:spPr>
          <a:xfrm>
            <a:off x="9987915" y="2409960"/>
            <a:ext cx="640080" cy="640080"/>
          </a:xfrm>
          <a:prstGeom prst="ellipse">
            <a:avLst/>
          </a:prstGeom>
          <a:solidFill>
            <a:srgbClr val="E74C3C">
              <a:alpha val="20000"/>
            </a:srgbClr>
          </a:solidFill>
          <a:ln w="12700">
            <a:solidFill>
              <a:srgbClr val="E74C3C">
                <a:alpha val="55000"/>
              </a:srgbClr>
            </a:solidFill>
            <a:prstDash val="solid"/>
          </a:ln>
        </p:spPr>
      </p:sp>
      <p:pic>
        <p:nvPicPr>
          <p:cNvPr id="117" name="Icon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7955" y="2615000"/>
            <a:ext cx="280000" cy="230000"/>
          </a:xfrm>
          <a:prstGeom prst="rect">
            <a:avLst/>
          </a:prstGeom>
        </p:spPr>
      </p:pic>
      <p:sp>
        <p:nvSpPr>
          <p:cNvPr id="118" name="CardTitle3"/>
          <p:cNvSpPr/>
          <p:nvPr/>
        </p:nvSpPr>
        <p:spPr>
          <a:xfrm>
            <a:off x="9032550" y="3180000"/>
            <a:ext cx="255081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Tracking</a:t>
            </a:r>
            <a:endParaRPr lang="en-US" sz="1400" dirty="0"/>
          </a:p>
        </p:txBody>
      </p:sp>
      <p:sp>
        <p:nvSpPr>
          <p:cNvPr id="119" name="CardDesc3"/>
          <p:cNvSpPr/>
          <p:nvPr/>
        </p:nvSpPr>
        <p:spPr>
          <a:xfrm>
            <a:off x="9032550" y="3520000"/>
            <a:ext cx="255081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Memory, Uptime, Health status per container</a:t>
            </a:r>
            <a:endParaRPr lang="en-US" sz="1100" dirty="0"/>
          </a:p>
        </p:txBody>
      </p:sp>
      <p:sp>
        <p:nvSpPr>
          <p:cNvPr id="120" name="Card4"/>
          <p:cNvSpPr/>
          <p:nvPr/>
        </p:nvSpPr>
        <p:spPr>
          <a:xfrm>
            <a:off x="548640" y="4020000"/>
            <a:ext cx="2670810" cy="1500000"/>
          </a:xfrm>
          <a:prstGeom prst="roundRect">
            <a:avLst>
              <a:gd name="adj" fmla="val 5714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D97706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1" name="Circle4"/>
          <p:cNvSpPr/>
          <p:nvPr/>
        </p:nvSpPr>
        <p:spPr>
          <a:xfrm>
            <a:off x="1564005" y="4129960"/>
            <a:ext cx="640080" cy="640080"/>
          </a:xfrm>
          <a:prstGeom prst="ellipse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>
                <a:alpha val="55000"/>
              </a:srgbClr>
            </a:solidFill>
            <a:prstDash val="solid"/>
          </a:ln>
        </p:spPr>
      </p:sp>
      <p:pic>
        <p:nvPicPr>
          <p:cNvPr id="122" name="Icon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4045" y="4315000"/>
            <a:ext cx="260000" cy="270000"/>
          </a:xfrm>
          <a:prstGeom prst="rect">
            <a:avLst/>
          </a:prstGeom>
        </p:spPr>
      </p:pic>
      <p:sp>
        <p:nvSpPr>
          <p:cNvPr id="123" name="CardTitle4"/>
          <p:cNvSpPr/>
          <p:nvPr/>
        </p:nvSpPr>
        <p:spPr>
          <a:xfrm>
            <a:off x="608640" y="4900000"/>
            <a:ext cx="255081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Log Viewer</a:t>
            </a:r>
            <a:endParaRPr lang="en-US" sz="1400" dirty="0"/>
          </a:p>
        </p:txBody>
      </p:sp>
      <p:sp>
        <p:nvSpPr>
          <p:cNvPr id="124" name="CardDesc4"/>
          <p:cNvSpPr/>
          <p:nvPr/>
        </p:nvSpPr>
        <p:spPr>
          <a:xfrm>
            <a:off x="608640" y="5240000"/>
            <a:ext cx="255081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stdout/stderr log streaming per container</a:t>
            </a:r>
            <a:endParaRPr lang="en-US" sz="1100" dirty="0"/>
          </a:p>
        </p:txBody>
      </p:sp>
      <p:sp>
        <p:nvSpPr>
          <p:cNvPr id="125" name="Card5"/>
          <p:cNvSpPr/>
          <p:nvPr/>
        </p:nvSpPr>
        <p:spPr>
          <a:xfrm>
            <a:off x="3356610" y="4020000"/>
            <a:ext cx="2670810" cy="1500000"/>
          </a:xfrm>
          <a:prstGeom prst="roundRect">
            <a:avLst>
              <a:gd name="adj" fmla="val 5714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B45309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6" name="Circle5"/>
          <p:cNvSpPr/>
          <p:nvPr/>
        </p:nvSpPr>
        <p:spPr>
          <a:xfrm>
            <a:off x="4371975" y="4129960"/>
            <a:ext cx="640080" cy="640080"/>
          </a:xfrm>
          <a:prstGeom prst="ellipse">
            <a:avLst/>
          </a:prstGeom>
          <a:solidFill>
            <a:srgbClr val="B45309">
              <a:alpha val="20000"/>
            </a:srgbClr>
          </a:solidFill>
          <a:ln w="12700">
            <a:solidFill>
              <a:srgbClr val="B45309">
                <a:alpha val="55000"/>
              </a:srgbClr>
            </a:solidFill>
            <a:prstDash val="solid"/>
          </a:ln>
        </p:spPr>
      </p:sp>
      <p:pic>
        <p:nvPicPr>
          <p:cNvPr id="127" name="Icon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7015" y="4320000"/>
            <a:ext cx="290000" cy="260000"/>
          </a:xfrm>
          <a:prstGeom prst="rect">
            <a:avLst/>
          </a:prstGeom>
        </p:spPr>
      </p:pic>
      <p:sp>
        <p:nvSpPr>
          <p:cNvPr id="128" name="CardTitle5"/>
          <p:cNvSpPr/>
          <p:nvPr/>
        </p:nvSpPr>
        <p:spPr>
          <a:xfrm>
            <a:off x="3416610" y="4900000"/>
            <a:ext cx="255081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Detection</a:t>
            </a:r>
            <a:endParaRPr lang="en-US" sz="1400" dirty="0"/>
          </a:p>
        </p:txBody>
      </p:sp>
      <p:sp>
        <p:nvSpPr>
          <p:cNvPr id="129" name="CardDesc5"/>
          <p:cNvSpPr/>
          <p:nvPr/>
        </p:nvSpPr>
        <p:spPr>
          <a:xfrm>
            <a:off x="3416610" y="5240000"/>
            <a:ext cx="255081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crashes and suggests fixes automatically</a:t>
            </a:r>
            <a:endParaRPr lang="en-US" sz="1100" dirty="0"/>
          </a:p>
        </p:txBody>
      </p:sp>
      <p:sp>
        <p:nvSpPr>
          <p:cNvPr id="130" name="Card6"/>
          <p:cNvSpPr/>
          <p:nvPr/>
        </p:nvSpPr>
        <p:spPr>
          <a:xfrm>
            <a:off x="6164580" y="4020000"/>
            <a:ext cx="2670810" cy="1500000"/>
          </a:xfrm>
          <a:prstGeom prst="roundRect">
            <a:avLst>
              <a:gd name="adj" fmla="val 5714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2563EB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1" name="Circle6"/>
          <p:cNvSpPr/>
          <p:nvPr/>
        </p:nvSpPr>
        <p:spPr>
          <a:xfrm>
            <a:off x="7179945" y="4129960"/>
            <a:ext cx="640080" cy="64008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55000"/>
              </a:srgbClr>
            </a:solidFill>
            <a:prstDash val="solid"/>
          </a:ln>
        </p:spPr>
      </p:sp>
      <p:pic>
        <p:nvPicPr>
          <p:cNvPr id="132" name="Icon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9985" y="4320000"/>
            <a:ext cx="260000" cy="260000"/>
          </a:xfrm>
          <a:prstGeom prst="rect">
            <a:avLst/>
          </a:prstGeom>
        </p:spPr>
      </p:pic>
      <p:sp>
        <p:nvSpPr>
          <p:cNvPr id="133" name="CardTitle6"/>
          <p:cNvSpPr/>
          <p:nvPr/>
        </p:nvSpPr>
        <p:spPr>
          <a:xfrm>
            <a:off x="6224580" y="4900000"/>
            <a:ext cx="255081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Reports</a:t>
            </a:r>
            <a:endParaRPr lang="en-US" sz="1400" dirty="0"/>
          </a:p>
        </p:txBody>
      </p:sp>
      <p:sp>
        <p:nvSpPr>
          <p:cNvPr id="134" name="CardDesc6"/>
          <p:cNvSpPr/>
          <p:nvPr/>
        </p:nvSpPr>
        <p:spPr>
          <a:xfrm>
            <a:off x="6224580" y="5240000"/>
            <a:ext cx="255081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colored, formatted diagnostic reports</a:t>
            </a:r>
            <a:endParaRPr lang="en-US" sz="1100" dirty="0"/>
          </a:p>
        </p:txBody>
      </p:sp>
      <p:sp>
        <p:nvSpPr>
          <p:cNvPr id="135" name="Card7"/>
          <p:cNvSpPr/>
          <p:nvPr/>
        </p:nvSpPr>
        <p:spPr>
          <a:xfrm>
            <a:off x="8972550" y="4020000"/>
            <a:ext cx="2670810" cy="1500000"/>
          </a:xfrm>
          <a:prstGeom prst="roundRect">
            <a:avLst>
              <a:gd name="adj" fmla="val 5714"/>
            </a:avLst>
          </a:prstGeom>
          <a:solidFill>
            <a:srgbClr val="16345C">
              <a:alpha val="85000"/>
            </a:srgbClr>
          </a:solidFill>
          <a:ln w="9525">
            <a:solidFill>
              <a:srgbClr val="CA8A04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6" name="Circle7"/>
          <p:cNvSpPr/>
          <p:nvPr/>
        </p:nvSpPr>
        <p:spPr>
          <a:xfrm>
            <a:off x="9987915" y="4129960"/>
            <a:ext cx="640080" cy="640080"/>
          </a:xfrm>
          <a:prstGeom prst="ellipse">
            <a:avLst/>
          </a:prstGeom>
          <a:solidFill>
            <a:srgbClr val="CA8A04">
              <a:alpha val="20000"/>
            </a:srgbClr>
          </a:solidFill>
          <a:ln w="12700">
            <a:solidFill>
              <a:srgbClr val="CA8A04">
                <a:alpha val="55000"/>
              </a:srgbClr>
            </a:solidFill>
            <a:prstDash val="solid"/>
          </a:ln>
        </p:spPr>
      </p:sp>
      <p:pic>
        <p:nvPicPr>
          <p:cNvPr id="137" name="Icon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77955" y="4320000"/>
            <a:ext cx="260000" cy="260000"/>
          </a:xfrm>
          <a:prstGeom prst="rect">
            <a:avLst/>
          </a:prstGeom>
        </p:spPr>
      </p:pic>
      <p:sp>
        <p:nvSpPr>
          <p:cNvPr id="138" name="CardTitle7"/>
          <p:cNvSpPr/>
          <p:nvPr/>
        </p:nvSpPr>
        <p:spPr>
          <a:xfrm>
            <a:off x="9032550" y="4900000"/>
            <a:ext cx="255081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Auth Security</a:t>
            </a:r>
            <a:endParaRPr lang="en-US" sz="1400" dirty="0"/>
          </a:p>
        </p:txBody>
      </p:sp>
      <p:sp>
        <p:nvSpPr>
          <p:cNvPr id="139" name="CardDesc7"/>
          <p:cNvSpPr/>
          <p:nvPr/>
        </p:nvSpPr>
        <p:spPr>
          <a:xfrm>
            <a:off x="9032550" y="5240000"/>
            <a:ext cx="255081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token protects write operations in production</a:t>
            </a:r>
            <a:endParaRPr lang="en-US" sz="1100" dirty="0"/>
          </a:p>
        </p:txBody>
      </p:sp>
      <p:sp>
        <p:nvSpPr>
          <p:cNvPr id="46" name="FooterLeft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 |  AI Docker NL Dashboard</a:t>
            </a:r>
            <a:endParaRPr lang="en-US" sz="1100" dirty="0"/>
          </a:p>
        </p:txBody>
      </p:sp>
      <p:sp>
        <p:nvSpPr>
          <p:cNvPr id="47" name="FooterRight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Docker Natural Language Dashboard</dc:title>
  <dc:subject>PptxGenJS Presentation</dc:subject>
  <dc:creator>TechNova</dc:creator>
  <cp:lastModifiedBy>TechNova</cp:lastModifiedBy>
  <cp:revision>1</cp:revision>
  <dcterms:created xsi:type="dcterms:W3CDTF">2026-06-15T23:57:56Z</dcterms:created>
  <dcterms:modified xsi:type="dcterms:W3CDTF">2026-06-15T23:57:56Z</dcterms:modified>
</cp:coreProperties>
</file>